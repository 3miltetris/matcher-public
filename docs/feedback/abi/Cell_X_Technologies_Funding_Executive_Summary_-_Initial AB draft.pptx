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774"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3600" b="0" i="0">
                <a:solidFill>
                  <a:srgbClr val="162739"/>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62739"/>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62739"/>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62739"/>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50540" y="727963"/>
            <a:ext cx="6508115" cy="1598295"/>
          </a:xfrm>
          <a:prstGeom prst="rect">
            <a:avLst/>
          </a:prstGeom>
        </p:spPr>
        <p:txBody>
          <a:bodyPr wrap="square" lIns="0" tIns="0" rIns="0" bIns="0">
            <a:spAutoFit/>
          </a:bodyPr>
          <a:lstStyle>
            <a:lvl1pPr>
              <a:defRPr sz="3600" b="0" i="0">
                <a:solidFill>
                  <a:srgbClr val="162739"/>
                </a:solidFill>
                <a:latin typeface="Arial Black"/>
                <a:cs typeface="Arial Black"/>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9/28/2026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bwcoconsulting.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oi.org/10.1177/2211068216676587" TargetMode="External"/><Relationship Id="rId13" Type="http://schemas.openxmlformats.org/officeDocument/2006/relationships/hyperlink" Target="https://www.bwcoconsulting.com/" TargetMode="External"/><Relationship Id="rId3" Type="http://schemas.openxmlformats.org/officeDocument/2006/relationships/hyperlink" Target="https://grants.nih.gov/grants/guide/notice-files/NOT-OD-26-006.html" TargetMode="External"/><Relationship Id="rId7" Type="http://schemas.openxmlformats.org/officeDocument/2006/relationships/hyperlink" Target="https://doi.org/10.1186/s12967-023-03966-2" TargetMode="External"/><Relationship Id="rId12" Type="http://schemas.openxmlformats.org/officeDocument/2006/relationships/hyperlink" Target="https://grants.nih.gov/grants/guide/notice-files/NOT-OD-26-090.html" TargetMode="External"/><Relationship Id="rId2" Type="http://schemas.openxmlformats.org/officeDocument/2006/relationships/hyperlink" Target="https://www.govinfo.gov/content/pkg/PLAW-119publ83/html/PLAW-119publ83.htm" TargetMode="External"/><Relationship Id="rId1" Type="http://schemas.openxmlformats.org/officeDocument/2006/relationships/slideLayout" Target="../slideLayouts/slideLayout2.xml"/><Relationship Id="rId6" Type="http://schemas.openxmlformats.org/officeDocument/2006/relationships/hyperlink" Target="https://seed.nih.gov/sites/default/files/2025-03/HHS_Topics_for_Budget_WaiversREV.pdf" TargetMode="External"/><Relationship Id="rId11" Type="http://schemas.openxmlformats.org/officeDocument/2006/relationships/hyperlink" Target="https://public.era.nih.gov/commons/" TargetMode="External"/><Relationship Id="rId5" Type="http://schemas.openxmlformats.org/officeDocument/2006/relationships/hyperlink" Target="https://files.simpler.grants.gov/opportunities/d1ba49e5-3684-4420-849a-ab2330ec493e/attachments/743ad4bd-fc28-450e-9249-1008f37490af/PA-27-100-Revised-Full-Announcement.html" TargetMode="External"/><Relationship Id="rId10" Type="http://schemas.openxmlformats.org/officeDocument/2006/relationships/hyperlink" Target="https://sam.gov/" TargetMode="External"/><Relationship Id="rId4" Type="http://schemas.openxmlformats.org/officeDocument/2006/relationships/hyperlink" Target="https://cellxtechnologies.com/" TargetMode="External"/><Relationship Id="rId9" Type="http://schemas.openxmlformats.org/officeDocument/2006/relationships/hyperlink" Target="https://doi.org/10.1007/s10616-020-00403-w"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rants.nih.gov/grants/guide/notice-files/NOT-OD-25-132.html" TargetMode="External"/><Relationship Id="rId7" Type="http://schemas.openxmlformats.org/officeDocument/2006/relationships/hyperlink" Target="https://www.bwcoconsulting.com/" TargetMode="External"/><Relationship Id="rId2" Type="http://schemas.openxmlformats.org/officeDocument/2006/relationships/hyperlink" Target="https://grants.nih.gov/grants/guide/notice-files/NOT-OD-26-090.html" TargetMode="External"/><Relationship Id="rId1" Type="http://schemas.openxmlformats.org/officeDocument/2006/relationships/slideLayout" Target="../slideLayouts/slideLayout2.xml"/><Relationship Id="rId6" Type="http://schemas.openxmlformats.org/officeDocument/2006/relationships/hyperlink" Target="https://www.sbir.gov/registration" TargetMode="External"/><Relationship Id="rId5" Type="http://schemas.openxmlformats.org/officeDocument/2006/relationships/hyperlink" Target="https://public.era.nih.gov/commons/" TargetMode="External"/><Relationship Id="rId4" Type="http://schemas.openxmlformats.org/officeDocument/2006/relationships/hyperlink" Target="https://sam.gov/"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files.simpler.grants.gov/opportunities/ee37f2de-b959-4b45-86a9-43d06c944f24/attachments/5295c0e4-bffd-4a53-911e-4cfdd9567e71/PA-27-102-Revised-Full-Announcement.html" TargetMode="External"/><Relationship Id="rId7" Type="http://schemas.openxmlformats.org/officeDocument/2006/relationships/hyperlink" Target="https://www.bwcoconsulting.com/"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2.xml"/><Relationship Id="rId6" Type="http://schemas.openxmlformats.org/officeDocument/2006/relationships/hyperlink" Target="https://cdmrp.health.mil/prmrp/" TargetMode="External"/><Relationship Id="rId5" Type="http://schemas.openxmlformats.org/officeDocument/2006/relationships/hyperlink" Target="https://www.armiusa.org/biofabusa/" TargetMode="External"/><Relationship Id="rId4" Type="http://schemas.openxmlformats.org/officeDocument/2006/relationships/hyperlink" Target="https://seedfund.nsf.gov/"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2.xml"/><Relationship Id="rId4" Type="http://schemas.openxmlformats.org/officeDocument/2006/relationships/hyperlink" Target="https://www.bwcoconsulting.c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ee37f2de-b959-4b45-86a9-43d06c944f24/attachments/5295c0e4-bffd-4a53-911e-4cfdd9567e71/PA-27-102-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ee37f2de-b959-4b45-86a9-43d06c944f24/attachments/5295c0e4-bffd-4a53-911e-4cfdd9567e71/PA-27-102-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seed.nih.gov/sites/default/files/2025-03/HHS_Topics_for_Budget_WaiversREV.pdf"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sbir.cancer.gov/small-business-funding/grants/omnibus-solicitation" TargetMode="External"/><Relationship Id="rId2" Type="http://schemas.openxmlformats.org/officeDocument/2006/relationships/hyperlink" Target="https://files.simpler.grants.gov/opportunities/d1ba49e5-3684-4420-849a-ab2330ec493e/attachments/743ad4bd-fc28-450e-9249-1008f37490af/PA-27-100-Revised-Full-Announcement.html" TargetMode="External"/><Relationship Id="rId1" Type="http://schemas.openxmlformats.org/officeDocument/2006/relationships/slideLayout" Target="../slideLayouts/slideLayout5.xml"/><Relationship Id="rId4" Type="http://schemas.openxmlformats.org/officeDocument/2006/relationships/hyperlink" Target="https://www.bwcoconsulting.com/"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seedfund.nsf.gov/project-pitch/" TargetMode="External"/><Relationship Id="rId2" Type="http://schemas.openxmlformats.org/officeDocument/2006/relationships/hyperlink" Target="https://seedfund.nsf.gov/" TargetMode="External"/><Relationship Id="rId1" Type="http://schemas.openxmlformats.org/officeDocument/2006/relationships/slideLayout" Target="../slideLayouts/slideLayout2.xml"/><Relationship Id="rId4" Type="http://schemas.openxmlformats.org/officeDocument/2006/relationships/hyperlink" Target="https://www.bwcoconsulting.com/"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bwcoconsulting.com/" TargetMode="External"/><Relationship Id="rId2" Type="http://schemas.openxmlformats.org/officeDocument/2006/relationships/hyperlink" Target="https://www.armiusa.org/biofabusa/"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bwcoconsulting.com/" TargetMode="External"/><Relationship Id="rId2" Type="http://schemas.openxmlformats.org/officeDocument/2006/relationships/hyperlink" Target="https://cdmrp.health.mil/prmr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descr="$PPTXTitle"/>
          <p:cNvSpPr txBox="1">
            <a:spLocks noGrp="1"/>
          </p:cNvSpPr>
          <p:nvPr>
            <p:ph type="title"/>
          </p:nvPr>
        </p:nvSpPr>
        <p:spPr>
          <a:xfrm>
            <a:off x="908524" y="2400300"/>
            <a:ext cx="10653395" cy="1183640"/>
          </a:xfrm>
          <a:prstGeom prst="rect">
            <a:avLst/>
          </a:prstGeom>
        </p:spPr>
        <p:txBody>
          <a:bodyPr vert="horz" wrap="square" lIns="0" tIns="12700" rIns="0" bIns="0" rtlCol="0">
            <a:spAutoFit/>
          </a:bodyPr>
          <a:lstStyle/>
          <a:p>
            <a:pPr marL="12700">
              <a:lnSpc>
                <a:spcPct val="100000"/>
              </a:lnSpc>
              <a:spcBef>
                <a:spcPts val="100"/>
              </a:spcBef>
            </a:pPr>
            <a:r>
              <a:rPr sz="7600" spc="-85" dirty="0"/>
              <a:t>Non-Dilutive Funding</a:t>
            </a:r>
            <a:endParaRPr sz="7600" dirty="0"/>
          </a:p>
        </p:txBody>
      </p:sp>
      <p:sp>
        <p:nvSpPr>
          <p:cNvPr id="4" name="object 4"/>
          <p:cNvSpPr txBox="1"/>
          <p:nvPr/>
        </p:nvSpPr>
        <p:spPr>
          <a:xfrm>
            <a:off x="901700" y="4953000"/>
            <a:ext cx="7889240" cy="1756410"/>
          </a:xfrm>
          <a:prstGeom prst="rect">
            <a:avLst/>
          </a:prstGeom>
        </p:spPr>
        <p:txBody>
          <a:bodyPr vert="horz" wrap="square" lIns="0" tIns="12700" rIns="0" bIns="0" rtlCol="0">
            <a:spAutoFit/>
          </a:bodyPr>
          <a:lstStyle/>
          <a:p>
            <a:pPr marL="12700">
              <a:lnSpc>
                <a:spcPct val="100000"/>
              </a:lnSpc>
              <a:spcBef>
                <a:spcPts val="100"/>
              </a:spcBef>
            </a:pPr>
            <a:r>
              <a:rPr sz="5000" spc="65" dirty="0">
                <a:solidFill>
                  <a:srgbClr val="022C5E"/>
                </a:solidFill>
                <a:latin typeface="Lucida Sans Unicode"/>
                <a:cs typeface="Lucida Sans Unicode"/>
              </a:rPr>
              <a:t>For Cell X Technologies</a:t>
            </a:r>
            <a:endParaRPr sz="5000">
              <a:latin typeface="Lucida Sans Unicode"/>
              <a:cs typeface="Lucida Sans Unicode"/>
            </a:endParaRPr>
          </a:p>
          <a:p>
            <a:pPr marL="12700">
              <a:lnSpc>
                <a:spcPct val="100000"/>
              </a:lnSpc>
              <a:spcBef>
                <a:spcPts val="5105"/>
              </a:spcBef>
            </a:pPr>
            <a:r>
              <a:rPr sz="2100" spc="-10" dirty="0">
                <a:solidFill>
                  <a:srgbClr val="5A6B80"/>
                </a:solidFill>
                <a:latin typeface="Calibri"/>
                <a:cs typeface="Calibri"/>
              </a:rPr>
              <a:t>Executive Summary | September 2026</a:t>
            </a:r>
            <a:endParaRPr sz="2100">
              <a:latin typeface="Calibri"/>
              <a:cs typeface="Calibri"/>
            </a:endParaRPr>
          </a:p>
        </p:txBody>
      </p:sp>
      <p:sp>
        <p:nvSpPr>
          <p:cNvPr id="5" name="object 5"/>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2"/>
              </a:rPr>
              <a:t>www.bwcoconsulting.com</a:t>
            </a:r>
            <a:endParaRPr sz="1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descr="$PPTXTitle"/>
          <p:cNvSpPr txBox="1">
            <a:spLocks noGrp="1"/>
          </p:cNvSpPr>
          <p:nvPr>
            <p:ph type="title"/>
          </p:nvPr>
        </p:nvSpPr>
        <p:spPr>
          <a:xfrm>
            <a:off x="901700" y="777240"/>
            <a:ext cx="10896600" cy="695960"/>
          </a:xfrm>
          <a:prstGeom prst="rect">
            <a:avLst/>
          </a:prstGeom>
        </p:spPr>
        <p:txBody>
          <a:bodyPr vert="horz" wrap="square" lIns="0" tIns="12700" rIns="0" bIns="0" rtlCol="0">
            <a:spAutoFit/>
          </a:bodyPr>
          <a:lstStyle/>
          <a:p>
            <a:pPr marL="12700">
              <a:lnSpc>
                <a:spcPct val="100000"/>
              </a:lnSpc>
              <a:spcBef>
                <a:spcPts val="100"/>
              </a:spcBef>
            </a:pPr>
            <a:r>
              <a:rPr sz="4400" spc="-245" dirty="0"/>
              <a:t>Why Now for Cell Automation</a:t>
            </a:r>
            <a:endParaRPr sz="4400"/>
          </a:p>
        </p:txBody>
      </p:sp>
      <p:sp>
        <p:nvSpPr>
          <p:cNvPr id="4" name="object 4"/>
          <p:cNvSpPr txBox="1"/>
          <p:nvPr/>
        </p:nvSpPr>
        <p:spPr>
          <a:xfrm>
            <a:off x="901700" y="1754632"/>
            <a:ext cx="15438119" cy="604520"/>
          </a:xfrm>
          <a:prstGeom prst="rect">
            <a:avLst/>
          </a:prstGeom>
        </p:spPr>
        <p:txBody>
          <a:bodyPr vert="horz" wrap="square" lIns="0" tIns="12700" rIns="0" bIns="0" rtlCol="0">
            <a:spAutoFit/>
          </a:bodyPr>
          <a:lstStyle/>
          <a:p>
            <a:pPr marL="12700" marR="5080">
              <a:lnSpc>
                <a:spcPct val="100000"/>
              </a:lnSpc>
              <a:spcBef>
                <a:spcPts val="100"/>
              </a:spcBef>
            </a:pPr>
            <a:r>
              <a:rPr sz="1900" spc="-10" dirty="0">
                <a:solidFill>
                  <a:srgbClr val="36404F"/>
                </a:solidFill>
                <a:latin typeface="Calibri"/>
                <a:cs typeface="Calibri"/>
              </a:rPr>
              <a:t>Reproducibility and scale-out of GMP cell processing is a named priority at the institutes that matter, the platform’s validation is peer reviewed and third party, and commercial pull is already documented. The clock that binds this plan is administrative, not scientific.</a:t>
            </a:r>
            <a:endParaRPr sz="1900">
              <a:latin typeface="Calibri"/>
              <a:cs typeface="Calibri"/>
            </a:endParaRPr>
          </a:p>
        </p:txBody>
      </p:sp>
      <p:sp>
        <p:nvSpPr>
          <p:cNvPr id="5" name="object 5"/>
          <p:cNvSpPr txBox="1"/>
          <p:nvPr/>
        </p:nvSpPr>
        <p:spPr>
          <a:xfrm>
            <a:off x="1724660" y="2639059"/>
            <a:ext cx="6619875" cy="1704975"/>
          </a:xfrm>
          <a:prstGeom prst="rect">
            <a:avLst/>
          </a:prstGeom>
        </p:spPr>
        <p:txBody>
          <a:bodyPr vert="horz" wrap="square" lIns="0" tIns="12700" rIns="0" bIns="0" rtlCol="0">
            <a:spAutoFit/>
          </a:bodyPr>
          <a:lstStyle/>
          <a:p>
            <a:pPr marL="12700" marR="477520">
              <a:lnSpc>
                <a:spcPct val="100000"/>
              </a:lnSpc>
              <a:spcBef>
                <a:spcPts val="100"/>
              </a:spcBef>
            </a:pPr>
            <a:r>
              <a:rPr sz="1800" spc="-50" dirty="0">
                <a:solidFill>
                  <a:srgbClr val="162739"/>
                </a:solidFill>
                <a:latin typeface="Arial Black"/>
                <a:cs typeface="Arial Black"/>
              </a:rPr>
              <a:t>The small business program was legally dead for six months. It is now authorized to 2031.</a:t>
            </a:r>
            <a:endParaRPr sz="1800">
              <a:latin typeface="Arial Black"/>
              <a:cs typeface="Arial Black"/>
            </a:endParaRPr>
          </a:p>
          <a:p>
            <a:pPr marL="12700" marR="5080">
              <a:lnSpc>
                <a:spcPct val="105000"/>
              </a:lnSpc>
              <a:spcBef>
                <a:spcPts val="1845"/>
              </a:spcBef>
            </a:pPr>
            <a:r>
              <a:rPr sz="1400" spc="-10" dirty="0">
                <a:solidFill>
                  <a:srgbClr val="36404F"/>
                </a:solidFill>
                <a:latin typeface="Calibri"/>
                <a:cs typeface="Calibri"/>
              </a:rPr>
              <a:t>Authority expired 1 October 2025 and NIH expired all 24 of its SBIR/STTR funding announcements, suspending even noncompeting continuations. P.L. 119-83 was signed 13 April 2026 and authorizes the program through 30 September 2031, the longest statutory runway since 2022.</a:t>
            </a:r>
            <a:endParaRPr sz="1400">
              <a:latin typeface="Calibri"/>
              <a:cs typeface="Calibri"/>
            </a:endParaRPr>
          </a:p>
        </p:txBody>
      </p:sp>
      <p:sp>
        <p:nvSpPr>
          <p:cNvPr id="6" name="object 6"/>
          <p:cNvSpPr txBox="1"/>
          <p:nvPr/>
        </p:nvSpPr>
        <p:spPr>
          <a:xfrm>
            <a:off x="901700" y="2609595"/>
            <a:ext cx="9050655" cy="543560"/>
          </a:xfrm>
          <a:prstGeom prst="rect">
            <a:avLst/>
          </a:prstGeom>
        </p:spPr>
        <p:txBody>
          <a:bodyPr vert="horz" wrap="square" lIns="0" tIns="12700" rIns="0" bIns="0" rtlCol="0">
            <a:spAutoFit/>
          </a:bodyPr>
          <a:lstStyle/>
          <a:p>
            <a:pPr marL="12700">
              <a:lnSpc>
                <a:spcPct val="100000"/>
              </a:lnSpc>
              <a:spcBef>
                <a:spcPts val="100"/>
              </a:spcBef>
              <a:tabLst>
                <a:tab pos="8744585" algn="l"/>
              </a:tabLst>
            </a:pPr>
            <a:r>
              <a:rPr sz="3400" spc="-1050" dirty="0">
                <a:solidFill>
                  <a:srgbClr val="022C5E"/>
                </a:solidFill>
                <a:latin typeface="Arial Black"/>
                <a:cs typeface="Arial Black"/>
              </a:rPr>
              <a:t>1	4</a:t>
            </a:r>
            <a:endParaRPr sz="3400">
              <a:latin typeface="Arial Black"/>
              <a:cs typeface="Arial Black"/>
            </a:endParaRPr>
          </a:p>
        </p:txBody>
      </p:sp>
      <p:sp>
        <p:nvSpPr>
          <p:cNvPr id="15" name="object 15"/>
          <p:cNvSpPr txBox="1"/>
          <p:nvPr/>
        </p:nvSpPr>
        <p:spPr>
          <a:xfrm>
            <a:off x="10463779" y="2584704"/>
            <a:ext cx="5226050"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162739"/>
                </a:solidFill>
                <a:latin typeface="Arial Black"/>
                <a:cs typeface="Arial Black"/>
              </a:rPr>
              <a:t>Commercial pull is documented, and reviewers read it as commercialization evidence.</a:t>
            </a:r>
            <a:endParaRPr sz="1800" dirty="0">
              <a:latin typeface="Arial Black"/>
              <a:cs typeface="Arial Black"/>
            </a:endParaRPr>
          </a:p>
        </p:txBody>
      </p:sp>
      <p:sp>
        <p:nvSpPr>
          <p:cNvPr id="16" name="object 16"/>
          <p:cNvSpPr txBox="1"/>
          <p:nvPr/>
        </p:nvSpPr>
        <p:spPr>
          <a:xfrm>
            <a:off x="10457180" y="3422141"/>
            <a:ext cx="6699884" cy="922019"/>
          </a:xfrm>
          <a:prstGeom prst="rect">
            <a:avLst/>
          </a:prstGeom>
        </p:spPr>
        <p:txBody>
          <a:bodyPr vert="horz" wrap="square" lIns="0" tIns="12700" rIns="0" bIns="0" rtlCol="0">
            <a:spAutoFit/>
          </a:bodyPr>
          <a:lstStyle/>
          <a:p>
            <a:pPr marL="12700" marR="5080">
              <a:lnSpc>
                <a:spcPct val="105000"/>
              </a:lnSpc>
              <a:spcBef>
                <a:spcPts val="100"/>
              </a:spcBef>
            </a:pPr>
            <a:r>
              <a:rPr sz="1400" spc="-10" dirty="0">
                <a:solidFill>
                  <a:srgbClr val="36404F"/>
                </a:solidFill>
                <a:latin typeface="Calibri"/>
                <a:cs typeface="Calibri"/>
              </a:rPr>
              <a:t>Aspen Neuroscience licensed the platform in October 2024 and pays Cell X to automate GMP manufacturing of its autologous iPSC-derived Parkinson’s therapy. BioLamina signed a reagent-integration collaboration in September 2025, and Cell X is an ARMI BioFabUSA member. Letters of support from Aspen, BioLamina and Iowa are the first asks.</a:t>
            </a:r>
            <a:endParaRPr sz="1400">
              <a:latin typeface="Calibri"/>
              <a:cs typeface="Calibri"/>
            </a:endParaRPr>
          </a:p>
        </p:txBody>
      </p:sp>
      <p:sp>
        <p:nvSpPr>
          <p:cNvPr id="7" name="object 7"/>
          <p:cNvSpPr txBox="1"/>
          <p:nvPr/>
        </p:nvSpPr>
        <p:spPr>
          <a:xfrm>
            <a:off x="1724660" y="4539996"/>
            <a:ext cx="2065655" cy="215900"/>
          </a:xfrm>
          <a:prstGeom prst="rect">
            <a:avLst/>
          </a:prstGeom>
        </p:spPr>
        <p:txBody>
          <a:bodyPr vert="horz" wrap="square" lIns="0" tIns="12700" rIns="0" bIns="0" rtlCol="0">
            <a:spAutoFit/>
          </a:bodyPr>
          <a:lstStyle/>
          <a:p>
            <a:pPr marL="12700">
              <a:lnSpc>
                <a:spcPct val="100000"/>
              </a:lnSpc>
              <a:spcBef>
                <a:spcPts val="100"/>
              </a:spcBef>
              <a:tabLst>
                <a:tab pos="850900" algn="l"/>
                <a:tab pos="1034415" algn="l"/>
              </a:tabLst>
            </a:pPr>
            <a:r>
              <a:rPr sz="1250" u="heavy" spc="-45" dirty="0">
                <a:solidFill>
                  <a:srgbClr val="0563C1"/>
                </a:solidFill>
                <a:uFill>
                  <a:solidFill>
                    <a:srgbClr val="0563C1"/>
                  </a:solidFill>
                </a:uFill>
                <a:latin typeface="Calibri"/>
                <a:cs typeface="Calibri"/>
                <a:hlinkClick r:id="rId2"/>
              </a:rPr>
              <a:t>P.L. 119-83</a:t>
            </a:r>
            <a:r>
              <a:rPr sz="1250" dirty="0">
                <a:solidFill>
                  <a:srgbClr val="0563C1"/>
                </a:solidFill>
                <a:latin typeface="Calibri"/>
                <a:cs typeface="Calibri"/>
              </a:rPr>
              <a:t>	</a:t>
            </a:r>
            <a:r>
              <a:rPr sz="1250" spc="-50" dirty="0">
                <a:solidFill>
                  <a:srgbClr val="5A6B80"/>
                </a:solidFill>
                <a:latin typeface="Calibri"/>
                <a:cs typeface="Calibri"/>
              </a:rPr>
              <a:t>·	</a:t>
            </a:r>
            <a:r>
              <a:rPr sz="1250" u="heavy" spc="-20" dirty="0">
                <a:solidFill>
                  <a:srgbClr val="0563C1"/>
                </a:solidFill>
                <a:uFill>
                  <a:solidFill>
                    <a:srgbClr val="0563C1"/>
                  </a:solidFill>
                </a:uFill>
                <a:latin typeface="Calibri"/>
                <a:cs typeface="Calibri"/>
                <a:hlinkClick r:id="rId3"/>
              </a:rPr>
              <a:t>NOT-OD-26-006</a:t>
            </a:r>
            <a:endParaRPr sz="1250">
              <a:latin typeface="Calibri"/>
              <a:cs typeface="Calibri"/>
            </a:endParaRPr>
          </a:p>
        </p:txBody>
      </p:sp>
      <p:sp>
        <p:nvSpPr>
          <p:cNvPr id="17" name="object 17"/>
          <p:cNvSpPr txBox="1"/>
          <p:nvPr/>
        </p:nvSpPr>
        <p:spPr>
          <a:xfrm>
            <a:off x="10457180" y="4539996"/>
            <a:ext cx="2232025" cy="215900"/>
          </a:xfrm>
          <a:prstGeom prst="rect">
            <a:avLst/>
          </a:prstGeom>
        </p:spPr>
        <p:txBody>
          <a:bodyPr vert="horz" wrap="square" lIns="0" tIns="12700" rIns="0" bIns="0" rtlCol="0">
            <a:spAutoFit/>
          </a:bodyPr>
          <a:lstStyle/>
          <a:p>
            <a:pPr marL="12700">
              <a:lnSpc>
                <a:spcPct val="100000"/>
              </a:lnSpc>
              <a:spcBef>
                <a:spcPts val="100"/>
              </a:spcBef>
            </a:pPr>
            <a:r>
              <a:rPr sz="1250" u="heavy" spc="-10" dirty="0">
                <a:solidFill>
                  <a:srgbClr val="0563C1"/>
                </a:solidFill>
                <a:uFill>
                  <a:solidFill>
                    <a:srgbClr val="0563C1"/>
                  </a:solidFill>
                </a:uFill>
                <a:latin typeface="Calibri"/>
                <a:cs typeface="Calibri"/>
                <a:hlinkClick r:id="rId4"/>
              </a:rPr>
              <a:t>cellxtechnologies.com · October 2024, September 2025</a:t>
            </a:r>
            <a:endParaRPr sz="1250">
              <a:latin typeface="Calibri"/>
              <a:cs typeface="Calibri"/>
            </a:endParaRPr>
          </a:p>
        </p:txBody>
      </p:sp>
      <p:sp>
        <p:nvSpPr>
          <p:cNvPr id="8" name="object 8"/>
          <p:cNvSpPr txBox="1"/>
          <p:nvPr/>
        </p:nvSpPr>
        <p:spPr>
          <a:xfrm>
            <a:off x="901700" y="4913884"/>
            <a:ext cx="272415" cy="543560"/>
          </a:xfrm>
          <a:prstGeom prst="rect">
            <a:avLst/>
          </a:prstGeom>
        </p:spPr>
        <p:txBody>
          <a:bodyPr vert="horz" wrap="square" lIns="0" tIns="12700" rIns="0" bIns="0" rtlCol="0">
            <a:spAutoFit/>
          </a:bodyPr>
          <a:lstStyle/>
          <a:p>
            <a:pPr marL="12700">
              <a:lnSpc>
                <a:spcPct val="100000"/>
              </a:lnSpc>
              <a:spcBef>
                <a:spcPts val="100"/>
              </a:spcBef>
            </a:pPr>
            <a:r>
              <a:rPr sz="3400" spc="-390" dirty="0">
                <a:solidFill>
                  <a:srgbClr val="022C5E"/>
                </a:solidFill>
                <a:latin typeface="Arial Black"/>
                <a:cs typeface="Arial Black"/>
              </a:rPr>
              <a:t>2</a:t>
            </a:r>
            <a:endParaRPr sz="3400">
              <a:latin typeface="Arial Black"/>
              <a:cs typeface="Arial Black"/>
            </a:endParaRPr>
          </a:p>
        </p:txBody>
      </p:sp>
      <p:sp>
        <p:nvSpPr>
          <p:cNvPr id="9" name="object 9"/>
          <p:cNvSpPr txBox="1"/>
          <p:nvPr/>
        </p:nvSpPr>
        <p:spPr>
          <a:xfrm>
            <a:off x="1724660" y="4943348"/>
            <a:ext cx="6141085" cy="574040"/>
          </a:xfrm>
          <a:prstGeom prst="rect">
            <a:avLst/>
          </a:prstGeom>
        </p:spPr>
        <p:txBody>
          <a:bodyPr vert="horz" wrap="square" lIns="0" tIns="12700" rIns="0" bIns="0" rtlCol="0">
            <a:spAutoFit/>
          </a:bodyPr>
          <a:lstStyle/>
          <a:p>
            <a:pPr marL="12700" marR="5080">
              <a:lnSpc>
                <a:spcPct val="100000"/>
              </a:lnSpc>
              <a:spcBef>
                <a:spcPts val="100"/>
              </a:spcBef>
            </a:pPr>
            <a:r>
              <a:rPr sz="1800" spc="-40" dirty="0">
                <a:solidFill>
                  <a:srgbClr val="162739"/>
                </a:solidFill>
                <a:latin typeface="Arial Black"/>
                <a:cs typeface="Arial Black"/>
              </a:rPr>
              <a:t>The bottleneck Cell X solves is a named small business priority.</a:t>
            </a:r>
            <a:endParaRPr sz="1800">
              <a:latin typeface="Arial Black"/>
              <a:cs typeface="Arial Black"/>
            </a:endParaRPr>
          </a:p>
        </p:txBody>
      </p:sp>
      <p:sp>
        <p:nvSpPr>
          <p:cNvPr id="18" name="object 18"/>
          <p:cNvSpPr txBox="1"/>
          <p:nvPr/>
        </p:nvSpPr>
        <p:spPr>
          <a:xfrm>
            <a:off x="9634220" y="4913884"/>
            <a:ext cx="306070" cy="543560"/>
          </a:xfrm>
          <a:prstGeom prst="rect">
            <a:avLst/>
          </a:prstGeom>
        </p:spPr>
        <p:txBody>
          <a:bodyPr vert="horz" wrap="square" lIns="0" tIns="12700" rIns="0" bIns="0" rtlCol="0">
            <a:spAutoFit/>
          </a:bodyPr>
          <a:lstStyle/>
          <a:p>
            <a:pPr marL="12700">
              <a:lnSpc>
                <a:spcPct val="100000"/>
              </a:lnSpc>
              <a:spcBef>
                <a:spcPts val="100"/>
              </a:spcBef>
            </a:pPr>
            <a:r>
              <a:rPr sz="3400" spc="-50" dirty="0">
                <a:solidFill>
                  <a:srgbClr val="022C5E"/>
                </a:solidFill>
                <a:latin typeface="Arial Black"/>
                <a:cs typeface="Arial Black"/>
              </a:rPr>
              <a:t>5</a:t>
            </a:r>
            <a:endParaRPr sz="3400">
              <a:latin typeface="Arial Black"/>
              <a:cs typeface="Arial Black"/>
            </a:endParaRPr>
          </a:p>
        </p:txBody>
      </p:sp>
      <p:sp>
        <p:nvSpPr>
          <p:cNvPr id="10" name="object 10"/>
          <p:cNvSpPr txBox="1"/>
          <p:nvPr/>
        </p:nvSpPr>
        <p:spPr>
          <a:xfrm>
            <a:off x="1724660" y="5849112"/>
            <a:ext cx="6678295" cy="687070"/>
          </a:xfrm>
          <a:prstGeom prst="rect">
            <a:avLst/>
          </a:prstGeom>
        </p:spPr>
        <p:txBody>
          <a:bodyPr vert="horz" wrap="square" lIns="0" tIns="1905" rIns="0" bIns="0" rtlCol="0">
            <a:spAutoFit/>
          </a:bodyPr>
          <a:lstStyle/>
          <a:p>
            <a:pPr marL="12700" marR="5080">
              <a:lnSpc>
                <a:spcPct val="105000"/>
              </a:lnSpc>
              <a:spcBef>
                <a:spcPts val="15"/>
              </a:spcBef>
            </a:pPr>
            <a:r>
              <a:rPr sz="1400" spc="-10" dirty="0">
                <a:solidFill>
                  <a:srgbClr val="36404F"/>
                </a:solidFill>
                <a:latin typeface="Calibri"/>
                <a:cs typeface="Calibri"/>
              </a:rPr>
              <a:t>NCATS small business priorities name iPSC technologies, cell-based platforms and manufacturing/bioengineering, and NCATS takes no clinical trials, so the company’s lack of</a:t>
            </a:r>
            <a:endParaRPr sz="1400">
              <a:latin typeface="Calibri"/>
              <a:cs typeface="Calibri"/>
            </a:endParaRPr>
          </a:p>
          <a:p>
            <a:pPr marL="12700">
              <a:lnSpc>
                <a:spcPct val="100000"/>
              </a:lnSpc>
              <a:spcBef>
                <a:spcPts val="85"/>
              </a:spcBef>
            </a:pPr>
            <a:r>
              <a:rPr sz="1400" spc="-10" dirty="0">
                <a:solidFill>
                  <a:srgbClr val="36404F"/>
                </a:solidFill>
                <a:latin typeface="Calibri"/>
                <a:cs typeface="Calibri"/>
              </a:rPr>
              <a:t>clinical capability costs nothing. NIBIB’s whole mission is enabling technology for regenerative medicine manufacturing, AI and ML in engineering included.</a:t>
            </a:r>
            <a:endParaRPr sz="1400">
              <a:latin typeface="Calibri"/>
              <a:cs typeface="Calibri"/>
            </a:endParaRPr>
          </a:p>
        </p:txBody>
      </p:sp>
      <p:sp>
        <p:nvSpPr>
          <p:cNvPr id="19" name="object 19"/>
          <p:cNvSpPr txBox="1"/>
          <p:nvPr/>
        </p:nvSpPr>
        <p:spPr>
          <a:xfrm>
            <a:off x="10457180" y="4943348"/>
            <a:ext cx="6833234" cy="1704975"/>
          </a:xfrm>
          <a:prstGeom prst="rect">
            <a:avLst/>
          </a:prstGeom>
        </p:spPr>
        <p:txBody>
          <a:bodyPr vert="horz" wrap="square" lIns="0" tIns="12700" rIns="0" bIns="0" rtlCol="0">
            <a:spAutoFit/>
          </a:bodyPr>
          <a:lstStyle/>
          <a:p>
            <a:pPr marL="12700" marR="763270">
              <a:lnSpc>
                <a:spcPct val="100000"/>
              </a:lnSpc>
              <a:spcBef>
                <a:spcPts val="100"/>
              </a:spcBef>
            </a:pPr>
            <a:r>
              <a:rPr sz="1800" spc="-60" dirty="0">
                <a:solidFill>
                  <a:srgbClr val="162739"/>
                </a:solidFill>
                <a:latin typeface="Arial Black"/>
                <a:cs typeface="Arial Black"/>
              </a:rPr>
              <a:t>Third-party clinical-grade validation is already in print.</a:t>
            </a:r>
            <a:endParaRPr sz="1800">
              <a:latin typeface="Arial Black"/>
              <a:cs typeface="Arial Black"/>
            </a:endParaRPr>
          </a:p>
          <a:p>
            <a:pPr marL="12700" marR="5080">
              <a:lnSpc>
                <a:spcPct val="105000"/>
              </a:lnSpc>
              <a:spcBef>
                <a:spcPts val="1845"/>
              </a:spcBef>
            </a:pPr>
            <a:r>
              <a:rPr sz="1400" spc="-10" dirty="0">
                <a:solidFill>
                  <a:srgbClr val="36404F"/>
                </a:solidFill>
                <a:latin typeface="Calibri"/>
                <a:cs typeface="Calibri"/>
              </a:rPr>
              <a:t>The platform produced 21 patient-specific iPSC lines at the University of Iowa, all pluripotent and karyotypically stable, with retinal organoids indistinguishable from manual production (Bohrer et al., J Transl Med 2023). The engineering lineage runs through Cleveland Clinic device papers published in 2017 and 2020.</a:t>
            </a:r>
            <a:endParaRPr sz="1400">
              <a:latin typeface="Calibri"/>
              <a:cs typeface="Calibri"/>
            </a:endParaRPr>
          </a:p>
        </p:txBody>
      </p:sp>
      <p:sp>
        <p:nvSpPr>
          <p:cNvPr id="11" name="object 11"/>
          <p:cNvSpPr txBox="1"/>
          <p:nvPr/>
        </p:nvSpPr>
        <p:spPr>
          <a:xfrm>
            <a:off x="1724660" y="6844284"/>
            <a:ext cx="2394585" cy="215900"/>
          </a:xfrm>
          <a:prstGeom prst="rect">
            <a:avLst/>
          </a:prstGeom>
        </p:spPr>
        <p:txBody>
          <a:bodyPr vert="horz" wrap="square" lIns="0" tIns="12700" rIns="0" bIns="0" rtlCol="0">
            <a:spAutoFit/>
          </a:bodyPr>
          <a:lstStyle/>
          <a:p>
            <a:pPr marL="12700">
              <a:lnSpc>
                <a:spcPct val="100000"/>
              </a:lnSpc>
              <a:spcBef>
                <a:spcPts val="100"/>
              </a:spcBef>
              <a:tabLst>
                <a:tab pos="815975" algn="l"/>
                <a:tab pos="999490" algn="l"/>
              </a:tabLst>
            </a:pPr>
            <a:r>
              <a:rPr sz="1250" u="heavy" spc="-50" dirty="0">
                <a:solidFill>
                  <a:srgbClr val="0563C1"/>
                </a:solidFill>
                <a:uFill>
                  <a:solidFill>
                    <a:srgbClr val="0563C1"/>
                  </a:solidFill>
                </a:uFill>
                <a:latin typeface="Calibri"/>
                <a:cs typeface="Calibri"/>
                <a:hlinkClick r:id="rId5"/>
              </a:rPr>
              <a:t>PA-27-100</a:t>
            </a:r>
            <a:r>
              <a:rPr sz="1250" dirty="0">
                <a:solidFill>
                  <a:srgbClr val="0563C1"/>
                </a:solidFill>
                <a:latin typeface="Calibri"/>
                <a:cs typeface="Calibri"/>
              </a:rPr>
              <a:t>	</a:t>
            </a:r>
            <a:r>
              <a:rPr sz="1250" spc="-50" dirty="0">
                <a:solidFill>
                  <a:srgbClr val="5A6B80"/>
                </a:solidFill>
                <a:latin typeface="Calibri"/>
                <a:cs typeface="Calibri"/>
              </a:rPr>
              <a:t>·	</a:t>
            </a:r>
            <a:r>
              <a:rPr sz="1250" u="heavy" spc="-10" dirty="0">
                <a:solidFill>
                  <a:srgbClr val="0563C1"/>
                </a:solidFill>
                <a:uFill>
                  <a:solidFill>
                    <a:srgbClr val="0563C1"/>
                  </a:solidFill>
                </a:uFill>
                <a:latin typeface="Calibri"/>
                <a:cs typeface="Calibri"/>
                <a:hlinkClick r:id="rId6"/>
              </a:rPr>
              <a:t>HHS approved topics</a:t>
            </a:r>
            <a:endParaRPr sz="1250">
              <a:latin typeface="Calibri"/>
              <a:cs typeface="Calibri"/>
            </a:endParaRPr>
          </a:p>
        </p:txBody>
      </p:sp>
      <p:sp>
        <p:nvSpPr>
          <p:cNvPr id="20" name="object 20"/>
          <p:cNvSpPr txBox="1"/>
          <p:nvPr/>
        </p:nvSpPr>
        <p:spPr>
          <a:xfrm>
            <a:off x="10457180" y="6844284"/>
            <a:ext cx="2846070" cy="215900"/>
          </a:xfrm>
          <a:prstGeom prst="rect">
            <a:avLst/>
          </a:prstGeom>
        </p:spPr>
        <p:txBody>
          <a:bodyPr vert="horz" wrap="square" lIns="0" tIns="12700" rIns="0" bIns="0" rtlCol="0">
            <a:spAutoFit/>
          </a:bodyPr>
          <a:lstStyle/>
          <a:p>
            <a:pPr marL="12700">
              <a:lnSpc>
                <a:spcPct val="100000"/>
              </a:lnSpc>
              <a:spcBef>
                <a:spcPts val="100"/>
              </a:spcBef>
              <a:tabLst>
                <a:tab pos="942340" algn="l"/>
                <a:tab pos="1125855" algn="l"/>
                <a:tab pos="1925955" algn="l"/>
                <a:tab pos="2109470" algn="l"/>
              </a:tabLst>
            </a:pPr>
            <a:r>
              <a:rPr sz="1250" u="heavy" spc="-10" dirty="0">
                <a:solidFill>
                  <a:srgbClr val="0563C1"/>
                </a:solidFill>
                <a:uFill>
                  <a:solidFill>
                    <a:srgbClr val="0563C1"/>
                  </a:solidFill>
                </a:uFill>
                <a:latin typeface="Calibri"/>
                <a:cs typeface="Calibri"/>
                <a:hlinkClick r:id="rId7"/>
              </a:rPr>
              <a:t>Bohrer 2023</a:t>
            </a:r>
            <a:r>
              <a:rPr sz="1250" dirty="0">
                <a:solidFill>
                  <a:srgbClr val="0563C1"/>
                </a:solidFill>
                <a:latin typeface="Calibri"/>
                <a:cs typeface="Calibri"/>
              </a:rPr>
              <a:t>	</a:t>
            </a:r>
            <a:r>
              <a:rPr sz="1250" spc="-50" dirty="0">
                <a:solidFill>
                  <a:srgbClr val="5A6B80"/>
                </a:solidFill>
                <a:latin typeface="Calibri"/>
                <a:cs typeface="Calibri"/>
              </a:rPr>
              <a:t>·	</a:t>
            </a:r>
            <a:r>
              <a:rPr sz="1250" u="heavy" spc="-10" dirty="0">
                <a:solidFill>
                  <a:srgbClr val="0563C1"/>
                </a:solidFill>
                <a:uFill>
                  <a:solidFill>
                    <a:srgbClr val="0563C1"/>
                  </a:solidFill>
                </a:uFill>
                <a:latin typeface="Calibri"/>
                <a:cs typeface="Calibri"/>
                <a:hlinkClick r:id="rId8"/>
              </a:rPr>
              <a:t>Kwee 2017</a:t>
            </a:r>
            <a:r>
              <a:rPr sz="1250" dirty="0">
                <a:solidFill>
                  <a:srgbClr val="0563C1"/>
                </a:solidFill>
                <a:latin typeface="Calibri"/>
                <a:cs typeface="Calibri"/>
              </a:rPr>
              <a:t>	</a:t>
            </a:r>
            <a:r>
              <a:rPr sz="1250" spc="-50" dirty="0">
                <a:solidFill>
                  <a:srgbClr val="5A6B80"/>
                </a:solidFill>
                <a:latin typeface="Calibri"/>
                <a:cs typeface="Calibri"/>
              </a:rPr>
              <a:t>·	</a:t>
            </a:r>
            <a:r>
              <a:rPr sz="1250" u="heavy" spc="-20" dirty="0">
                <a:solidFill>
                  <a:srgbClr val="0563C1"/>
                </a:solidFill>
                <a:uFill>
                  <a:solidFill>
                    <a:srgbClr val="0563C1"/>
                  </a:solidFill>
                </a:uFill>
                <a:latin typeface="Calibri"/>
                <a:cs typeface="Calibri"/>
                <a:hlinkClick r:id="rId9"/>
              </a:rPr>
              <a:t>Mantripragada 2020</a:t>
            </a:r>
            <a:endParaRPr sz="1250">
              <a:latin typeface="Calibri"/>
              <a:cs typeface="Calibri"/>
            </a:endParaRPr>
          </a:p>
        </p:txBody>
      </p:sp>
      <p:sp>
        <p:nvSpPr>
          <p:cNvPr id="12" name="object 12"/>
          <p:cNvSpPr txBox="1"/>
          <p:nvPr/>
        </p:nvSpPr>
        <p:spPr>
          <a:xfrm>
            <a:off x="901700" y="7218171"/>
            <a:ext cx="287020" cy="543560"/>
          </a:xfrm>
          <a:prstGeom prst="rect">
            <a:avLst/>
          </a:prstGeom>
        </p:spPr>
        <p:txBody>
          <a:bodyPr vert="horz" wrap="square" lIns="0" tIns="12700" rIns="0" bIns="0" rtlCol="0">
            <a:spAutoFit/>
          </a:bodyPr>
          <a:lstStyle/>
          <a:p>
            <a:pPr marL="12700">
              <a:lnSpc>
                <a:spcPct val="100000"/>
              </a:lnSpc>
              <a:spcBef>
                <a:spcPts val="100"/>
              </a:spcBef>
            </a:pPr>
            <a:r>
              <a:rPr sz="3400" spc="-160" dirty="0">
                <a:solidFill>
                  <a:srgbClr val="022C5E"/>
                </a:solidFill>
                <a:latin typeface="Arial Black"/>
                <a:cs typeface="Arial Black"/>
              </a:rPr>
              <a:t>3</a:t>
            </a:r>
            <a:endParaRPr sz="3400">
              <a:latin typeface="Arial Black"/>
              <a:cs typeface="Arial Black"/>
            </a:endParaRPr>
          </a:p>
        </p:txBody>
      </p:sp>
      <p:sp>
        <p:nvSpPr>
          <p:cNvPr id="13" name="object 13"/>
          <p:cNvSpPr txBox="1"/>
          <p:nvPr/>
        </p:nvSpPr>
        <p:spPr>
          <a:xfrm>
            <a:off x="1724660" y="7247635"/>
            <a:ext cx="6614159" cy="574040"/>
          </a:xfrm>
          <a:prstGeom prst="rect">
            <a:avLst/>
          </a:prstGeom>
        </p:spPr>
        <p:txBody>
          <a:bodyPr vert="horz" wrap="square" lIns="0" tIns="12700" rIns="0" bIns="0" rtlCol="0">
            <a:spAutoFit/>
          </a:bodyPr>
          <a:lstStyle/>
          <a:p>
            <a:pPr marL="12700" marR="5080">
              <a:lnSpc>
                <a:spcPct val="100000"/>
              </a:lnSpc>
              <a:spcBef>
                <a:spcPts val="100"/>
              </a:spcBef>
            </a:pPr>
            <a:r>
              <a:rPr sz="1800" spc="-50" dirty="0">
                <a:solidFill>
                  <a:srgbClr val="162739"/>
                </a:solidFill>
                <a:latin typeface="Arial Black"/>
                <a:cs typeface="Arial Black"/>
              </a:rPr>
              <a:t>The binding constraint is administrative, and it starts now.</a:t>
            </a:r>
            <a:endParaRPr sz="1800">
              <a:latin typeface="Arial Black"/>
              <a:cs typeface="Arial Black"/>
            </a:endParaRPr>
          </a:p>
        </p:txBody>
      </p:sp>
      <p:sp>
        <p:nvSpPr>
          <p:cNvPr id="14" name="object 14"/>
          <p:cNvSpPr txBox="1"/>
          <p:nvPr/>
        </p:nvSpPr>
        <p:spPr>
          <a:xfrm>
            <a:off x="1724660" y="8153400"/>
            <a:ext cx="6644005" cy="1211580"/>
          </a:xfrm>
          <a:prstGeom prst="rect">
            <a:avLst/>
          </a:prstGeom>
        </p:spPr>
        <p:txBody>
          <a:bodyPr vert="horz" wrap="square" lIns="0" tIns="1905" rIns="0" bIns="0" rtlCol="0">
            <a:spAutoFit/>
          </a:bodyPr>
          <a:lstStyle/>
          <a:p>
            <a:pPr marL="12700" marR="5080">
              <a:lnSpc>
                <a:spcPct val="105000"/>
              </a:lnSpc>
              <a:spcBef>
                <a:spcPts val="15"/>
              </a:spcBef>
            </a:pPr>
            <a:r>
              <a:rPr sz="1400" spc="-10" dirty="0">
                <a:solidFill>
                  <a:srgbClr val="36404F"/>
                </a:solidFill>
                <a:latin typeface="Calibri"/>
                <a:cs typeface="Calibri"/>
              </a:rPr>
              <a:t>SAM.gov and UEI status is unverified, and a cold registration start runs 4-8 weeks against the January 5, 2027 receipt date. The FY27 parent announcements expire April 6, 2027, and HHS caps small business applications at nine per company per fiscal year.</a:t>
            </a:r>
            <a:endParaRPr sz="1400">
              <a:latin typeface="Calibri"/>
              <a:cs typeface="Calibri"/>
            </a:endParaRPr>
          </a:p>
          <a:p>
            <a:pPr>
              <a:lnSpc>
                <a:spcPct val="100000"/>
              </a:lnSpc>
              <a:spcBef>
                <a:spcPts val="919"/>
              </a:spcBef>
            </a:pPr>
            <a:endParaRPr sz="1400">
              <a:latin typeface="Calibri"/>
              <a:cs typeface="Calibri"/>
            </a:endParaRPr>
          </a:p>
          <a:p>
            <a:pPr marL="12700">
              <a:lnSpc>
                <a:spcPct val="100000"/>
              </a:lnSpc>
              <a:tabLst>
                <a:tab pos="561340" algn="l"/>
                <a:tab pos="744855" algn="l"/>
                <a:tab pos="1668780" algn="l"/>
                <a:tab pos="1852295" algn="l"/>
              </a:tabLst>
            </a:pPr>
            <a:r>
              <a:rPr sz="1250" u="heavy" spc="-10" dirty="0">
                <a:solidFill>
                  <a:srgbClr val="0563C1"/>
                </a:solidFill>
                <a:uFill>
                  <a:solidFill>
                    <a:srgbClr val="0563C1"/>
                  </a:solidFill>
                </a:uFill>
                <a:latin typeface="Calibri"/>
                <a:cs typeface="Calibri"/>
                <a:hlinkClick r:id="rId10"/>
              </a:rPr>
              <a:t>SAM.gov</a:t>
            </a:r>
            <a:r>
              <a:rPr sz="1250" dirty="0">
                <a:solidFill>
                  <a:srgbClr val="0563C1"/>
                </a:solidFill>
                <a:latin typeface="Calibri"/>
                <a:cs typeface="Calibri"/>
              </a:rPr>
              <a:t>	</a:t>
            </a:r>
            <a:r>
              <a:rPr sz="1250" spc="-50" dirty="0">
                <a:solidFill>
                  <a:srgbClr val="5A6B80"/>
                </a:solidFill>
                <a:latin typeface="Calibri"/>
                <a:cs typeface="Calibri"/>
              </a:rPr>
              <a:t>·	</a:t>
            </a:r>
            <a:r>
              <a:rPr sz="1250" u="heavy" spc="-10" dirty="0">
                <a:solidFill>
                  <a:srgbClr val="0563C1"/>
                </a:solidFill>
                <a:uFill>
                  <a:solidFill>
                    <a:srgbClr val="0563C1"/>
                  </a:solidFill>
                </a:uFill>
                <a:latin typeface="Calibri"/>
                <a:cs typeface="Calibri"/>
                <a:hlinkClick r:id="rId11"/>
              </a:rPr>
              <a:t>eRA Commons</a:t>
            </a:r>
            <a:r>
              <a:rPr sz="1250" dirty="0">
                <a:solidFill>
                  <a:srgbClr val="0563C1"/>
                </a:solidFill>
                <a:latin typeface="Calibri"/>
                <a:cs typeface="Calibri"/>
              </a:rPr>
              <a:t>	</a:t>
            </a:r>
            <a:r>
              <a:rPr sz="1250" spc="-50" dirty="0">
                <a:solidFill>
                  <a:srgbClr val="5A6B80"/>
                </a:solidFill>
                <a:latin typeface="Calibri"/>
                <a:cs typeface="Calibri"/>
              </a:rPr>
              <a:t>·	</a:t>
            </a:r>
            <a:r>
              <a:rPr sz="1250" u="heavy" spc="-20" dirty="0">
                <a:solidFill>
                  <a:srgbClr val="0563C1"/>
                </a:solidFill>
                <a:uFill>
                  <a:solidFill>
                    <a:srgbClr val="0563C1"/>
                  </a:solidFill>
                </a:uFill>
                <a:latin typeface="Calibri"/>
                <a:cs typeface="Calibri"/>
                <a:hlinkClick r:id="rId12"/>
              </a:rPr>
              <a:t>NOT-OD-26-090</a:t>
            </a:r>
            <a:endParaRPr sz="1250">
              <a:latin typeface="Calibri"/>
              <a:cs typeface="Calibri"/>
            </a:endParaRPr>
          </a:p>
        </p:txBody>
      </p:sp>
      <p:sp>
        <p:nvSpPr>
          <p:cNvPr id="21" name="object 2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13"/>
              </a:rPr>
              <a:t>www.bwcoconsulting.com</a:t>
            </a:r>
            <a:endParaRPr sz="1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descr="$PPTXTitle"/>
          <p:cNvSpPr txBox="1">
            <a:spLocks noGrp="1"/>
          </p:cNvSpPr>
          <p:nvPr>
            <p:ph type="title"/>
          </p:nvPr>
        </p:nvSpPr>
        <p:spPr>
          <a:xfrm>
            <a:off x="901700" y="777240"/>
            <a:ext cx="10591800" cy="695960"/>
          </a:xfrm>
          <a:prstGeom prst="rect">
            <a:avLst/>
          </a:prstGeom>
        </p:spPr>
        <p:txBody>
          <a:bodyPr vert="horz" wrap="square" lIns="0" tIns="12700" rIns="0" bIns="0" rtlCol="0">
            <a:spAutoFit/>
          </a:bodyPr>
          <a:lstStyle/>
          <a:p>
            <a:pPr marL="12700">
              <a:lnSpc>
                <a:spcPct val="100000"/>
              </a:lnSpc>
              <a:spcBef>
                <a:spcPts val="100"/>
              </a:spcBef>
            </a:pPr>
            <a:r>
              <a:rPr sz="4400" spc="-135" dirty="0"/>
              <a:t>Four Programs From One Platform</a:t>
            </a:r>
            <a:endParaRPr sz="4400"/>
          </a:p>
        </p:txBody>
      </p:sp>
      <p:grpSp>
        <p:nvGrpSpPr>
          <p:cNvPr id="4" name="object 4"/>
          <p:cNvGrpSpPr/>
          <p:nvPr/>
        </p:nvGrpSpPr>
        <p:grpSpPr>
          <a:xfrm>
            <a:off x="908050" y="2553970"/>
            <a:ext cx="799465" cy="799465"/>
            <a:chOff x="908050" y="2553970"/>
            <a:chExt cx="799465" cy="799465"/>
          </a:xfrm>
        </p:grpSpPr>
        <p:sp>
          <p:nvSpPr>
            <p:cNvPr id="5" name="object 5"/>
            <p:cNvSpPr/>
            <p:nvPr/>
          </p:nvSpPr>
          <p:spPr>
            <a:xfrm>
              <a:off x="914400" y="2560320"/>
              <a:ext cx="786765" cy="786765"/>
            </a:xfrm>
            <a:custGeom>
              <a:avLst/>
              <a:gdLst/>
              <a:ahLst/>
              <a:cxnLst/>
              <a:rect l="l" t="t" r="r" b="b"/>
              <a:pathLst>
                <a:path w="786764" h="786764">
                  <a:moveTo>
                    <a:pt x="658368" y="786383"/>
                  </a:moveTo>
                  <a:lnTo>
                    <a:pt x="128015" y="786383"/>
                  </a:lnTo>
                  <a:lnTo>
                    <a:pt x="78186" y="776323"/>
                  </a:lnTo>
                  <a:lnTo>
                    <a:pt x="37494" y="748889"/>
                  </a:lnTo>
                  <a:lnTo>
                    <a:pt x="10060" y="708197"/>
                  </a:lnTo>
                  <a:lnTo>
                    <a:pt x="0" y="658368"/>
                  </a:lnTo>
                  <a:lnTo>
                    <a:pt x="0" y="128015"/>
                  </a:lnTo>
                  <a:lnTo>
                    <a:pt x="10060" y="78186"/>
                  </a:lnTo>
                  <a:lnTo>
                    <a:pt x="37494" y="37494"/>
                  </a:lnTo>
                  <a:lnTo>
                    <a:pt x="78186" y="10060"/>
                  </a:lnTo>
                  <a:lnTo>
                    <a:pt x="128015" y="0"/>
                  </a:lnTo>
                  <a:lnTo>
                    <a:pt x="658368" y="0"/>
                  </a:lnTo>
                  <a:lnTo>
                    <a:pt x="707357" y="9744"/>
                  </a:lnTo>
                  <a:lnTo>
                    <a:pt x="748888" y="37494"/>
                  </a:lnTo>
                  <a:lnTo>
                    <a:pt x="776639" y="79026"/>
                  </a:lnTo>
                  <a:lnTo>
                    <a:pt x="786383" y="128015"/>
                  </a:lnTo>
                  <a:lnTo>
                    <a:pt x="786383" y="658368"/>
                  </a:lnTo>
                  <a:lnTo>
                    <a:pt x="776323" y="708197"/>
                  </a:lnTo>
                  <a:lnTo>
                    <a:pt x="748889" y="748889"/>
                  </a:lnTo>
                  <a:lnTo>
                    <a:pt x="708197" y="776323"/>
                  </a:lnTo>
                  <a:lnTo>
                    <a:pt x="658368" y="786383"/>
                  </a:lnTo>
                  <a:close/>
                </a:path>
              </a:pathLst>
            </a:custGeom>
            <a:solidFill>
              <a:srgbClr val="022C5E"/>
            </a:solidFill>
          </p:spPr>
          <p:txBody>
            <a:bodyPr wrap="square" lIns="0" tIns="0" rIns="0" bIns="0" rtlCol="0"/>
            <a:lstStyle/>
            <a:p>
              <a:endParaRPr/>
            </a:p>
          </p:txBody>
        </p:sp>
        <p:sp>
          <p:nvSpPr>
            <p:cNvPr id="6" name="object 6"/>
            <p:cNvSpPr/>
            <p:nvPr/>
          </p:nvSpPr>
          <p:spPr>
            <a:xfrm>
              <a:off x="914400" y="2560320"/>
              <a:ext cx="786765" cy="786765"/>
            </a:xfrm>
            <a:custGeom>
              <a:avLst/>
              <a:gdLst/>
              <a:ahLst/>
              <a:cxnLst/>
              <a:rect l="l" t="t" r="r" b="b"/>
              <a:pathLst>
                <a:path w="786764" h="786764">
                  <a:moveTo>
                    <a:pt x="0" y="128015"/>
                  </a:moveTo>
                  <a:lnTo>
                    <a:pt x="10060" y="78186"/>
                  </a:lnTo>
                  <a:lnTo>
                    <a:pt x="37494" y="37494"/>
                  </a:lnTo>
                  <a:lnTo>
                    <a:pt x="78186" y="10060"/>
                  </a:lnTo>
                  <a:lnTo>
                    <a:pt x="128015" y="0"/>
                  </a:lnTo>
                  <a:lnTo>
                    <a:pt x="658368" y="0"/>
                  </a:lnTo>
                  <a:lnTo>
                    <a:pt x="707357" y="9744"/>
                  </a:lnTo>
                  <a:lnTo>
                    <a:pt x="748888" y="37494"/>
                  </a:lnTo>
                  <a:lnTo>
                    <a:pt x="776639" y="79026"/>
                  </a:lnTo>
                  <a:lnTo>
                    <a:pt x="786383" y="128015"/>
                  </a:lnTo>
                  <a:lnTo>
                    <a:pt x="786383" y="658368"/>
                  </a:lnTo>
                  <a:lnTo>
                    <a:pt x="776323" y="708197"/>
                  </a:lnTo>
                  <a:lnTo>
                    <a:pt x="748889" y="748889"/>
                  </a:lnTo>
                  <a:lnTo>
                    <a:pt x="708197" y="776323"/>
                  </a:lnTo>
                  <a:lnTo>
                    <a:pt x="658368" y="786383"/>
                  </a:lnTo>
                  <a:lnTo>
                    <a:pt x="128015" y="786383"/>
                  </a:lnTo>
                  <a:lnTo>
                    <a:pt x="78186" y="776323"/>
                  </a:lnTo>
                  <a:lnTo>
                    <a:pt x="37494" y="748889"/>
                  </a:lnTo>
                  <a:lnTo>
                    <a:pt x="10060" y="708197"/>
                  </a:lnTo>
                  <a:lnTo>
                    <a:pt x="0" y="658368"/>
                  </a:lnTo>
                  <a:lnTo>
                    <a:pt x="0" y="128015"/>
                  </a:lnTo>
                  <a:close/>
                </a:path>
              </a:pathLst>
            </a:custGeom>
            <a:ln w="12699">
              <a:solidFill>
                <a:srgbClr val="333333"/>
              </a:solidFill>
            </a:ln>
          </p:spPr>
          <p:txBody>
            <a:bodyPr wrap="square" lIns="0" tIns="0" rIns="0" bIns="0" rtlCol="0"/>
            <a:lstStyle/>
            <a:p>
              <a:endParaRPr/>
            </a:p>
          </p:txBody>
        </p:sp>
      </p:grpSp>
      <p:grpSp>
        <p:nvGrpSpPr>
          <p:cNvPr id="10" name="object 10"/>
          <p:cNvGrpSpPr/>
          <p:nvPr/>
        </p:nvGrpSpPr>
        <p:grpSpPr>
          <a:xfrm>
            <a:off x="9640569" y="2553970"/>
            <a:ext cx="799465" cy="799465"/>
            <a:chOff x="9640569" y="2553970"/>
            <a:chExt cx="799465" cy="799465"/>
          </a:xfrm>
        </p:grpSpPr>
        <p:sp>
          <p:nvSpPr>
            <p:cNvPr id="11" name="object 11"/>
            <p:cNvSpPr/>
            <p:nvPr/>
          </p:nvSpPr>
          <p:spPr>
            <a:xfrm>
              <a:off x="9646919" y="2560320"/>
              <a:ext cx="786765" cy="786765"/>
            </a:xfrm>
            <a:custGeom>
              <a:avLst/>
              <a:gdLst/>
              <a:ahLst/>
              <a:cxnLst/>
              <a:rect l="l" t="t" r="r" b="b"/>
              <a:pathLst>
                <a:path w="786765" h="786764">
                  <a:moveTo>
                    <a:pt x="658368" y="786383"/>
                  </a:moveTo>
                  <a:lnTo>
                    <a:pt x="128014" y="786383"/>
                  </a:lnTo>
                  <a:lnTo>
                    <a:pt x="78185" y="776323"/>
                  </a:lnTo>
                  <a:lnTo>
                    <a:pt x="37494" y="748889"/>
                  </a:lnTo>
                  <a:lnTo>
                    <a:pt x="10060" y="708197"/>
                  </a:lnTo>
                  <a:lnTo>
                    <a:pt x="0" y="658368"/>
                  </a:lnTo>
                  <a:lnTo>
                    <a:pt x="0" y="128015"/>
                  </a:lnTo>
                  <a:lnTo>
                    <a:pt x="10060" y="78186"/>
                  </a:lnTo>
                  <a:lnTo>
                    <a:pt x="37494" y="37494"/>
                  </a:lnTo>
                  <a:lnTo>
                    <a:pt x="78185" y="10060"/>
                  </a:lnTo>
                  <a:lnTo>
                    <a:pt x="128014" y="0"/>
                  </a:lnTo>
                  <a:lnTo>
                    <a:pt x="658368" y="0"/>
                  </a:lnTo>
                  <a:lnTo>
                    <a:pt x="707357" y="9744"/>
                  </a:lnTo>
                  <a:lnTo>
                    <a:pt x="748889" y="37494"/>
                  </a:lnTo>
                  <a:lnTo>
                    <a:pt x="776639" y="79026"/>
                  </a:lnTo>
                  <a:lnTo>
                    <a:pt x="786383" y="128015"/>
                  </a:lnTo>
                  <a:lnTo>
                    <a:pt x="786383" y="658368"/>
                  </a:lnTo>
                  <a:lnTo>
                    <a:pt x="776323" y="708197"/>
                  </a:lnTo>
                  <a:lnTo>
                    <a:pt x="748889" y="748889"/>
                  </a:lnTo>
                  <a:lnTo>
                    <a:pt x="708198" y="776323"/>
                  </a:lnTo>
                  <a:lnTo>
                    <a:pt x="658368" y="786383"/>
                  </a:lnTo>
                  <a:close/>
                </a:path>
              </a:pathLst>
            </a:custGeom>
            <a:solidFill>
              <a:srgbClr val="022C5E"/>
            </a:solidFill>
          </p:spPr>
          <p:txBody>
            <a:bodyPr wrap="square" lIns="0" tIns="0" rIns="0" bIns="0" rtlCol="0"/>
            <a:lstStyle/>
            <a:p>
              <a:endParaRPr/>
            </a:p>
          </p:txBody>
        </p:sp>
        <p:sp>
          <p:nvSpPr>
            <p:cNvPr id="12" name="object 12"/>
            <p:cNvSpPr/>
            <p:nvPr/>
          </p:nvSpPr>
          <p:spPr>
            <a:xfrm>
              <a:off x="9646919" y="2560320"/>
              <a:ext cx="786765" cy="786765"/>
            </a:xfrm>
            <a:custGeom>
              <a:avLst/>
              <a:gdLst/>
              <a:ahLst/>
              <a:cxnLst/>
              <a:rect l="l" t="t" r="r" b="b"/>
              <a:pathLst>
                <a:path w="786765" h="786764">
                  <a:moveTo>
                    <a:pt x="0" y="128015"/>
                  </a:moveTo>
                  <a:lnTo>
                    <a:pt x="10060" y="78186"/>
                  </a:lnTo>
                  <a:lnTo>
                    <a:pt x="37494" y="37494"/>
                  </a:lnTo>
                  <a:lnTo>
                    <a:pt x="78185" y="10060"/>
                  </a:lnTo>
                  <a:lnTo>
                    <a:pt x="128014" y="0"/>
                  </a:lnTo>
                  <a:lnTo>
                    <a:pt x="658368" y="0"/>
                  </a:lnTo>
                  <a:lnTo>
                    <a:pt x="707357" y="9744"/>
                  </a:lnTo>
                  <a:lnTo>
                    <a:pt x="748889" y="37494"/>
                  </a:lnTo>
                  <a:lnTo>
                    <a:pt x="776639" y="79026"/>
                  </a:lnTo>
                  <a:lnTo>
                    <a:pt x="786383" y="128015"/>
                  </a:lnTo>
                  <a:lnTo>
                    <a:pt x="786383" y="658368"/>
                  </a:lnTo>
                  <a:lnTo>
                    <a:pt x="776323" y="708197"/>
                  </a:lnTo>
                  <a:lnTo>
                    <a:pt x="748889" y="748889"/>
                  </a:lnTo>
                  <a:lnTo>
                    <a:pt x="708198" y="776323"/>
                  </a:lnTo>
                  <a:lnTo>
                    <a:pt x="658368" y="786383"/>
                  </a:lnTo>
                  <a:lnTo>
                    <a:pt x="128014" y="786383"/>
                  </a:lnTo>
                  <a:lnTo>
                    <a:pt x="78185" y="776323"/>
                  </a:lnTo>
                  <a:lnTo>
                    <a:pt x="37494" y="748889"/>
                  </a:lnTo>
                  <a:lnTo>
                    <a:pt x="10060" y="708197"/>
                  </a:lnTo>
                  <a:lnTo>
                    <a:pt x="0" y="658368"/>
                  </a:lnTo>
                  <a:lnTo>
                    <a:pt x="0" y="128015"/>
                  </a:lnTo>
                  <a:close/>
                </a:path>
              </a:pathLst>
            </a:custGeom>
            <a:ln w="12699">
              <a:solidFill>
                <a:srgbClr val="333333"/>
              </a:solidFill>
            </a:ln>
          </p:spPr>
          <p:txBody>
            <a:bodyPr wrap="square" lIns="0" tIns="0" rIns="0" bIns="0" rtlCol="0"/>
            <a:lstStyle/>
            <a:p>
              <a:endParaRPr/>
            </a:p>
          </p:txBody>
        </p:sp>
      </p:grpSp>
      <p:sp>
        <p:nvSpPr>
          <p:cNvPr id="13" name="object 13"/>
          <p:cNvSpPr txBox="1"/>
          <p:nvPr/>
        </p:nvSpPr>
        <p:spPr>
          <a:xfrm>
            <a:off x="889000" y="1718056"/>
            <a:ext cx="15744190" cy="1333500"/>
          </a:xfrm>
          <a:prstGeom prst="rect">
            <a:avLst/>
          </a:prstGeom>
        </p:spPr>
        <p:txBody>
          <a:bodyPr vert="horz" wrap="square" lIns="0" tIns="12700" rIns="0" bIns="0" rtlCol="0">
            <a:spAutoFit/>
          </a:bodyPr>
          <a:lstStyle/>
          <a:p>
            <a:pPr marL="25400" marR="17780">
              <a:lnSpc>
                <a:spcPct val="100000"/>
              </a:lnSpc>
              <a:spcBef>
                <a:spcPts val="100"/>
              </a:spcBef>
            </a:pPr>
            <a:r>
              <a:rPr sz="1900" spc="-10" dirty="0">
                <a:solidFill>
                  <a:srgbClr val="36404F"/>
                </a:solidFill>
                <a:latin typeface="Calibri"/>
                <a:cs typeface="Calibri"/>
              </a:rPr>
              <a:t>Celligent answers four different scientific questions, so it is four different applications to four different review panels. Federal application limits are set per company and per investigator, never per technology.</a:t>
            </a:r>
            <a:endParaRPr sz="1900">
              <a:latin typeface="Calibri"/>
              <a:cs typeface="Calibri"/>
            </a:endParaRPr>
          </a:p>
          <a:p>
            <a:pPr marL="278130">
              <a:lnSpc>
                <a:spcPct val="100000"/>
              </a:lnSpc>
              <a:spcBef>
                <a:spcPts val="2140"/>
              </a:spcBef>
              <a:tabLst>
                <a:tab pos="984885" algn="l"/>
                <a:tab pos="9025255" algn="l"/>
                <a:tab pos="9717405" algn="l"/>
              </a:tabLst>
            </a:pPr>
            <a:r>
              <a:rPr sz="4500" spc="-75" baseline="-18518" dirty="0">
                <a:solidFill>
                  <a:srgbClr val="FFFFFF"/>
                </a:solidFill>
                <a:latin typeface="Arial Black"/>
                <a:cs typeface="Arial Black"/>
              </a:rPr>
              <a:t>A	</a:t>
            </a:r>
            <a:r>
              <a:rPr sz="2000" spc="-70" dirty="0">
                <a:solidFill>
                  <a:srgbClr val="162739"/>
                </a:solidFill>
                <a:latin typeface="Arial Black"/>
                <a:cs typeface="Arial Black"/>
              </a:rPr>
              <a:t>The clinical-grade autologous iPSC workflow	</a:t>
            </a:r>
            <a:r>
              <a:rPr sz="4500" spc="-637" baseline="-18518" dirty="0">
                <a:solidFill>
                  <a:srgbClr val="FFFFFF"/>
                </a:solidFill>
                <a:latin typeface="Arial Black"/>
                <a:cs typeface="Arial Black"/>
              </a:rPr>
              <a:t>B	</a:t>
            </a:r>
            <a:r>
              <a:rPr sz="2000" spc="-65" dirty="0">
                <a:solidFill>
                  <a:srgbClr val="162739"/>
                </a:solidFill>
                <a:latin typeface="Arial Black"/>
                <a:cs typeface="Arial Black"/>
              </a:rPr>
              <a:t>The reproducibility instrument</a:t>
            </a:r>
            <a:endParaRPr sz="2000">
              <a:latin typeface="Arial Black"/>
              <a:cs typeface="Arial Black"/>
            </a:endParaRPr>
          </a:p>
        </p:txBody>
      </p:sp>
      <p:sp>
        <p:nvSpPr>
          <p:cNvPr id="7" name="object 7"/>
          <p:cNvSpPr txBox="1"/>
          <p:nvPr/>
        </p:nvSpPr>
        <p:spPr>
          <a:xfrm>
            <a:off x="1861820" y="3487039"/>
            <a:ext cx="6243955" cy="710565"/>
          </a:xfrm>
          <a:prstGeom prst="rect">
            <a:avLst/>
          </a:prstGeom>
        </p:spPr>
        <p:txBody>
          <a:bodyPr vert="horz" wrap="square" lIns="0" tIns="1270" rIns="0" bIns="0" rtlCol="0">
            <a:spAutoFit/>
          </a:bodyPr>
          <a:lstStyle/>
          <a:p>
            <a:pPr marL="12700" marR="5080" algn="just">
              <a:lnSpc>
                <a:spcPct val="105000"/>
              </a:lnSpc>
              <a:spcBef>
                <a:spcPts val="10"/>
              </a:spcBef>
            </a:pPr>
            <a:r>
              <a:rPr sz="1450" spc="-10" dirty="0">
                <a:solidFill>
                  <a:srgbClr val="36404F"/>
                </a:solidFill>
                <a:latin typeface="Calibri"/>
                <a:cs typeface="Calibri"/>
              </a:rPr>
              <a:t>Reviews as published feasibility: 21 patient-specific iPSC lines produced at clinical grade with the University of Iowa, fibroblast to retinal organoid, with the organoids indistinguishable from manual production.</a:t>
            </a:r>
            <a:endParaRPr sz="1450">
              <a:latin typeface="Calibri"/>
              <a:cs typeface="Calibri"/>
            </a:endParaRPr>
          </a:p>
        </p:txBody>
      </p:sp>
      <p:sp>
        <p:nvSpPr>
          <p:cNvPr id="14" name="object 14"/>
          <p:cNvSpPr txBox="1"/>
          <p:nvPr/>
        </p:nvSpPr>
        <p:spPr>
          <a:xfrm>
            <a:off x="10594340" y="3487039"/>
            <a:ext cx="6478270" cy="710565"/>
          </a:xfrm>
          <a:prstGeom prst="rect">
            <a:avLst/>
          </a:prstGeom>
        </p:spPr>
        <p:txBody>
          <a:bodyPr vert="horz" wrap="square" lIns="0" tIns="1270" rIns="0" bIns="0" rtlCol="0">
            <a:spAutoFit/>
          </a:bodyPr>
          <a:lstStyle/>
          <a:p>
            <a:pPr marL="12700" marR="5080">
              <a:lnSpc>
                <a:spcPct val="105000"/>
              </a:lnSpc>
              <a:spcBef>
                <a:spcPts val="10"/>
              </a:spcBef>
            </a:pPr>
            <a:r>
              <a:rPr sz="1450" spc="-10" dirty="0">
                <a:solidFill>
                  <a:srgbClr val="36404F"/>
                </a:solidFill>
                <a:latin typeface="Calibri"/>
                <a:cs typeface="Calibri"/>
              </a:rPr>
              <a:t>Reviews as measurement science: full-well longitudinal imaging, BioAdaptive automation and ML prediction of quality attributes, with the in-progress continuous-manufacturing hardware as a ready-made aim structure.</a:t>
            </a:r>
            <a:endParaRPr sz="1450">
              <a:latin typeface="Calibri"/>
              <a:cs typeface="Calibri"/>
            </a:endParaRPr>
          </a:p>
        </p:txBody>
      </p:sp>
      <p:sp>
        <p:nvSpPr>
          <p:cNvPr id="8" name="object 8"/>
          <p:cNvSpPr txBox="1"/>
          <p:nvPr/>
        </p:nvSpPr>
        <p:spPr>
          <a:xfrm>
            <a:off x="1861820" y="4554220"/>
            <a:ext cx="3510279"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022C5E"/>
                </a:solidFill>
                <a:latin typeface="Calibri"/>
                <a:cs typeface="Calibri"/>
              </a:rPr>
              <a:t>Goes to: NEI · NINDS · NIA</a:t>
            </a:r>
            <a:endParaRPr sz="1300">
              <a:latin typeface="Calibri"/>
              <a:cs typeface="Calibri"/>
            </a:endParaRPr>
          </a:p>
        </p:txBody>
      </p:sp>
      <p:sp>
        <p:nvSpPr>
          <p:cNvPr id="9" name="object 9"/>
          <p:cNvSpPr txBox="1"/>
          <p:nvPr/>
        </p:nvSpPr>
        <p:spPr>
          <a:xfrm>
            <a:off x="5571666" y="4554220"/>
            <a:ext cx="1713864" cy="223520"/>
          </a:xfrm>
          <a:prstGeom prst="rect">
            <a:avLst/>
          </a:prstGeom>
        </p:spPr>
        <p:txBody>
          <a:bodyPr vert="horz" wrap="square" lIns="0" tIns="12700" rIns="0" bIns="0" rtlCol="0">
            <a:spAutoFit/>
          </a:bodyPr>
          <a:lstStyle/>
          <a:p>
            <a:pPr marL="12700">
              <a:lnSpc>
                <a:spcPct val="100000"/>
              </a:lnSpc>
              <a:spcBef>
                <a:spcPts val="100"/>
              </a:spcBef>
            </a:pPr>
            <a:r>
              <a:rPr sz="1300" b="1" dirty="0">
                <a:solidFill>
                  <a:srgbClr val="022C5E"/>
                </a:solidFill>
                <a:latin typeface="Arial"/>
                <a:cs typeface="Arial"/>
              </a:rPr>
              <a:t>→ </a:t>
            </a:r>
            <a:r>
              <a:rPr sz="1300" b="1" spc="-10" dirty="0">
                <a:solidFill>
                  <a:srgbClr val="022C5E"/>
                </a:solidFill>
                <a:latin typeface="Calibri"/>
                <a:cs typeface="Calibri"/>
              </a:rPr>
              <a:t>applications 3, 4 and 8</a:t>
            </a:r>
            <a:endParaRPr sz="1300">
              <a:latin typeface="Calibri"/>
              <a:cs typeface="Calibri"/>
            </a:endParaRPr>
          </a:p>
        </p:txBody>
      </p:sp>
      <p:sp>
        <p:nvSpPr>
          <p:cNvPr id="15" name="object 15"/>
          <p:cNvSpPr txBox="1"/>
          <p:nvPr/>
        </p:nvSpPr>
        <p:spPr>
          <a:xfrm>
            <a:off x="10594340" y="4554220"/>
            <a:ext cx="5814695" cy="223520"/>
          </a:xfrm>
          <a:prstGeom prst="rect">
            <a:avLst/>
          </a:prstGeom>
        </p:spPr>
        <p:txBody>
          <a:bodyPr vert="horz" wrap="square" lIns="0" tIns="12700" rIns="0" bIns="0" rtlCol="0">
            <a:spAutoFit/>
          </a:bodyPr>
          <a:lstStyle/>
          <a:p>
            <a:pPr marL="12700">
              <a:lnSpc>
                <a:spcPct val="100000"/>
              </a:lnSpc>
              <a:spcBef>
                <a:spcPts val="100"/>
              </a:spcBef>
              <a:tabLst>
                <a:tab pos="3865879" algn="l"/>
              </a:tabLst>
            </a:pPr>
            <a:r>
              <a:rPr sz="1300" b="1" spc="-10" dirty="0">
                <a:solidFill>
                  <a:srgbClr val="022C5E"/>
                </a:solidFill>
                <a:latin typeface="Calibri"/>
                <a:cs typeface="Calibri"/>
              </a:rPr>
              <a:t>Goes to: NCATS · NIBIB · NIGMS · NSF · ARMI	</a:t>
            </a:r>
            <a:r>
              <a:rPr sz="1300" b="1" dirty="0">
                <a:solidFill>
                  <a:srgbClr val="022C5E"/>
                </a:solidFill>
                <a:latin typeface="Arial"/>
                <a:cs typeface="Arial"/>
              </a:rPr>
              <a:t>→ </a:t>
            </a:r>
            <a:r>
              <a:rPr sz="1300" b="1" spc="-10" dirty="0">
                <a:solidFill>
                  <a:srgbClr val="022C5E"/>
                </a:solidFill>
                <a:latin typeface="Calibri"/>
                <a:cs typeface="Calibri"/>
              </a:rPr>
              <a:t>applications 1, 2, 7, 10 and 11</a:t>
            </a:r>
            <a:endParaRPr sz="1300">
              <a:latin typeface="Calibri"/>
              <a:cs typeface="Calibri"/>
            </a:endParaRPr>
          </a:p>
        </p:txBody>
      </p:sp>
      <p:grpSp>
        <p:nvGrpSpPr>
          <p:cNvPr id="16" name="object 16"/>
          <p:cNvGrpSpPr/>
          <p:nvPr/>
        </p:nvGrpSpPr>
        <p:grpSpPr>
          <a:xfrm>
            <a:off x="908050" y="5297170"/>
            <a:ext cx="799465" cy="799465"/>
            <a:chOff x="908050" y="5297170"/>
            <a:chExt cx="799465" cy="799465"/>
          </a:xfrm>
        </p:grpSpPr>
        <p:sp>
          <p:nvSpPr>
            <p:cNvPr id="17" name="object 17"/>
            <p:cNvSpPr/>
            <p:nvPr/>
          </p:nvSpPr>
          <p:spPr>
            <a:xfrm>
              <a:off x="914400" y="5303520"/>
              <a:ext cx="786765" cy="786765"/>
            </a:xfrm>
            <a:custGeom>
              <a:avLst/>
              <a:gdLst/>
              <a:ahLst/>
              <a:cxnLst/>
              <a:rect l="l" t="t" r="r" b="b"/>
              <a:pathLst>
                <a:path w="786764" h="786764">
                  <a:moveTo>
                    <a:pt x="658368" y="786383"/>
                  </a:moveTo>
                  <a:lnTo>
                    <a:pt x="128015" y="786383"/>
                  </a:lnTo>
                  <a:lnTo>
                    <a:pt x="78186" y="776323"/>
                  </a:lnTo>
                  <a:lnTo>
                    <a:pt x="37494" y="748889"/>
                  </a:lnTo>
                  <a:lnTo>
                    <a:pt x="10060" y="708198"/>
                  </a:lnTo>
                  <a:lnTo>
                    <a:pt x="0" y="658368"/>
                  </a:lnTo>
                  <a:lnTo>
                    <a:pt x="0" y="128015"/>
                  </a:lnTo>
                  <a:lnTo>
                    <a:pt x="10060" y="78186"/>
                  </a:lnTo>
                  <a:lnTo>
                    <a:pt x="37494" y="37494"/>
                  </a:lnTo>
                  <a:lnTo>
                    <a:pt x="78186" y="10060"/>
                  </a:lnTo>
                  <a:lnTo>
                    <a:pt x="128015" y="0"/>
                  </a:lnTo>
                  <a:lnTo>
                    <a:pt x="658368" y="0"/>
                  </a:lnTo>
                  <a:lnTo>
                    <a:pt x="707357" y="9744"/>
                  </a:lnTo>
                  <a:lnTo>
                    <a:pt x="748888" y="37494"/>
                  </a:lnTo>
                  <a:lnTo>
                    <a:pt x="776639" y="79025"/>
                  </a:lnTo>
                  <a:lnTo>
                    <a:pt x="786383" y="128015"/>
                  </a:lnTo>
                  <a:lnTo>
                    <a:pt x="786383" y="658368"/>
                  </a:lnTo>
                  <a:lnTo>
                    <a:pt x="776323" y="708198"/>
                  </a:lnTo>
                  <a:lnTo>
                    <a:pt x="748889" y="748889"/>
                  </a:lnTo>
                  <a:lnTo>
                    <a:pt x="708197" y="776323"/>
                  </a:lnTo>
                  <a:lnTo>
                    <a:pt x="658368" y="786383"/>
                  </a:lnTo>
                  <a:close/>
                </a:path>
              </a:pathLst>
            </a:custGeom>
            <a:solidFill>
              <a:srgbClr val="022C5E"/>
            </a:solidFill>
          </p:spPr>
          <p:txBody>
            <a:bodyPr wrap="square" lIns="0" tIns="0" rIns="0" bIns="0" rtlCol="0"/>
            <a:lstStyle/>
            <a:p>
              <a:endParaRPr/>
            </a:p>
          </p:txBody>
        </p:sp>
        <p:sp>
          <p:nvSpPr>
            <p:cNvPr id="18" name="object 18"/>
            <p:cNvSpPr/>
            <p:nvPr/>
          </p:nvSpPr>
          <p:spPr>
            <a:xfrm>
              <a:off x="914400" y="5303520"/>
              <a:ext cx="786765" cy="786765"/>
            </a:xfrm>
            <a:custGeom>
              <a:avLst/>
              <a:gdLst/>
              <a:ahLst/>
              <a:cxnLst/>
              <a:rect l="l" t="t" r="r" b="b"/>
              <a:pathLst>
                <a:path w="786764" h="786764">
                  <a:moveTo>
                    <a:pt x="0" y="128015"/>
                  </a:moveTo>
                  <a:lnTo>
                    <a:pt x="10060" y="78186"/>
                  </a:lnTo>
                  <a:lnTo>
                    <a:pt x="37494" y="37494"/>
                  </a:lnTo>
                  <a:lnTo>
                    <a:pt x="78186" y="10060"/>
                  </a:lnTo>
                  <a:lnTo>
                    <a:pt x="128015" y="0"/>
                  </a:lnTo>
                  <a:lnTo>
                    <a:pt x="658368" y="0"/>
                  </a:lnTo>
                  <a:lnTo>
                    <a:pt x="707357" y="9744"/>
                  </a:lnTo>
                  <a:lnTo>
                    <a:pt x="748888" y="37494"/>
                  </a:lnTo>
                  <a:lnTo>
                    <a:pt x="776639" y="79025"/>
                  </a:lnTo>
                  <a:lnTo>
                    <a:pt x="786383" y="128015"/>
                  </a:lnTo>
                  <a:lnTo>
                    <a:pt x="786383" y="658368"/>
                  </a:lnTo>
                  <a:lnTo>
                    <a:pt x="776323" y="708198"/>
                  </a:lnTo>
                  <a:lnTo>
                    <a:pt x="748889" y="748889"/>
                  </a:lnTo>
                  <a:lnTo>
                    <a:pt x="708197" y="776323"/>
                  </a:lnTo>
                  <a:lnTo>
                    <a:pt x="658368" y="786383"/>
                  </a:lnTo>
                  <a:lnTo>
                    <a:pt x="128015" y="786383"/>
                  </a:lnTo>
                  <a:lnTo>
                    <a:pt x="78186" y="776323"/>
                  </a:lnTo>
                  <a:lnTo>
                    <a:pt x="37494" y="748889"/>
                  </a:lnTo>
                  <a:lnTo>
                    <a:pt x="10060" y="708198"/>
                  </a:lnTo>
                  <a:lnTo>
                    <a:pt x="0" y="658368"/>
                  </a:lnTo>
                  <a:lnTo>
                    <a:pt x="0" y="128015"/>
                  </a:lnTo>
                  <a:close/>
                </a:path>
              </a:pathLst>
            </a:custGeom>
            <a:ln w="12699">
              <a:solidFill>
                <a:srgbClr val="333333"/>
              </a:solidFill>
            </a:ln>
          </p:spPr>
          <p:txBody>
            <a:bodyPr wrap="square" lIns="0" tIns="0" rIns="0" bIns="0" rtlCol="0"/>
            <a:lstStyle/>
            <a:p>
              <a:endParaRPr/>
            </a:p>
          </p:txBody>
        </p:sp>
      </p:grpSp>
      <p:sp>
        <p:nvSpPr>
          <p:cNvPr id="19" name="object 19"/>
          <p:cNvSpPr txBox="1"/>
          <p:nvPr/>
        </p:nvSpPr>
        <p:spPr>
          <a:xfrm>
            <a:off x="1149731" y="5440172"/>
            <a:ext cx="316230" cy="482600"/>
          </a:xfrm>
          <a:prstGeom prst="rect">
            <a:avLst/>
          </a:prstGeom>
        </p:spPr>
        <p:txBody>
          <a:bodyPr vert="horz" wrap="square" lIns="0" tIns="12700" rIns="0" bIns="0" rtlCol="0">
            <a:spAutoFit/>
          </a:bodyPr>
          <a:lstStyle/>
          <a:p>
            <a:pPr marL="12700">
              <a:lnSpc>
                <a:spcPct val="100000"/>
              </a:lnSpc>
              <a:spcBef>
                <a:spcPts val="100"/>
              </a:spcBef>
            </a:pPr>
            <a:r>
              <a:rPr sz="3000" spc="-50" dirty="0">
                <a:solidFill>
                  <a:srgbClr val="FFFFFF"/>
                </a:solidFill>
                <a:latin typeface="Arial Black"/>
                <a:cs typeface="Arial Black"/>
              </a:rPr>
              <a:t>C</a:t>
            </a:r>
            <a:endParaRPr sz="3000">
              <a:latin typeface="Arial Black"/>
              <a:cs typeface="Arial Black"/>
            </a:endParaRPr>
          </a:p>
        </p:txBody>
      </p:sp>
      <p:sp>
        <p:nvSpPr>
          <p:cNvPr id="20" name="object 20"/>
          <p:cNvSpPr txBox="1"/>
          <p:nvPr/>
        </p:nvSpPr>
        <p:spPr>
          <a:xfrm>
            <a:off x="1861820" y="5439156"/>
            <a:ext cx="5486400"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162739"/>
                </a:solidFill>
                <a:latin typeface="Arial Black"/>
                <a:cs typeface="Arial Black"/>
              </a:rPr>
              <a:t>The quantitative colony and potency assay</a:t>
            </a:r>
            <a:endParaRPr sz="2000">
              <a:latin typeface="Arial Black"/>
              <a:cs typeface="Arial Black"/>
            </a:endParaRPr>
          </a:p>
        </p:txBody>
      </p:sp>
      <p:grpSp>
        <p:nvGrpSpPr>
          <p:cNvPr id="23" name="object 23"/>
          <p:cNvGrpSpPr/>
          <p:nvPr/>
        </p:nvGrpSpPr>
        <p:grpSpPr>
          <a:xfrm>
            <a:off x="9640569" y="5297170"/>
            <a:ext cx="799465" cy="799465"/>
            <a:chOff x="9640569" y="5297170"/>
            <a:chExt cx="799465" cy="799465"/>
          </a:xfrm>
        </p:grpSpPr>
        <p:sp>
          <p:nvSpPr>
            <p:cNvPr id="24" name="object 24"/>
            <p:cNvSpPr/>
            <p:nvPr/>
          </p:nvSpPr>
          <p:spPr>
            <a:xfrm>
              <a:off x="9646919" y="5303520"/>
              <a:ext cx="786765" cy="786765"/>
            </a:xfrm>
            <a:custGeom>
              <a:avLst/>
              <a:gdLst/>
              <a:ahLst/>
              <a:cxnLst/>
              <a:rect l="l" t="t" r="r" b="b"/>
              <a:pathLst>
                <a:path w="786765" h="786764">
                  <a:moveTo>
                    <a:pt x="658368" y="786383"/>
                  </a:moveTo>
                  <a:lnTo>
                    <a:pt x="128014" y="786383"/>
                  </a:lnTo>
                  <a:lnTo>
                    <a:pt x="78185" y="776323"/>
                  </a:lnTo>
                  <a:lnTo>
                    <a:pt x="37494" y="748889"/>
                  </a:lnTo>
                  <a:lnTo>
                    <a:pt x="10060" y="708198"/>
                  </a:lnTo>
                  <a:lnTo>
                    <a:pt x="0" y="658368"/>
                  </a:lnTo>
                  <a:lnTo>
                    <a:pt x="0" y="128015"/>
                  </a:lnTo>
                  <a:lnTo>
                    <a:pt x="10060" y="78186"/>
                  </a:lnTo>
                  <a:lnTo>
                    <a:pt x="37494" y="37494"/>
                  </a:lnTo>
                  <a:lnTo>
                    <a:pt x="78185" y="10060"/>
                  </a:lnTo>
                  <a:lnTo>
                    <a:pt x="128014" y="0"/>
                  </a:lnTo>
                  <a:lnTo>
                    <a:pt x="658368" y="0"/>
                  </a:lnTo>
                  <a:lnTo>
                    <a:pt x="707357" y="9744"/>
                  </a:lnTo>
                  <a:lnTo>
                    <a:pt x="748889" y="37494"/>
                  </a:lnTo>
                  <a:lnTo>
                    <a:pt x="776639" y="79025"/>
                  </a:lnTo>
                  <a:lnTo>
                    <a:pt x="786383" y="128015"/>
                  </a:lnTo>
                  <a:lnTo>
                    <a:pt x="786383" y="658368"/>
                  </a:lnTo>
                  <a:lnTo>
                    <a:pt x="776323" y="708198"/>
                  </a:lnTo>
                  <a:lnTo>
                    <a:pt x="748889" y="748889"/>
                  </a:lnTo>
                  <a:lnTo>
                    <a:pt x="708198" y="776323"/>
                  </a:lnTo>
                  <a:lnTo>
                    <a:pt x="658368" y="786383"/>
                  </a:lnTo>
                  <a:close/>
                </a:path>
              </a:pathLst>
            </a:custGeom>
            <a:solidFill>
              <a:srgbClr val="DDE4ED"/>
            </a:solidFill>
          </p:spPr>
          <p:txBody>
            <a:bodyPr wrap="square" lIns="0" tIns="0" rIns="0" bIns="0" rtlCol="0"/>
            <a:lstStyle/>
            <a:p>
              <a:endParaRPr/>
            </a:p>
          </p:txBody>
        </p:sp>
        <p:sp>
          <p:nvSpPr>
            <p:cNvPr id="25" name="object 25"/>
            <p:cNvSpPr/>
            <p:nvPr/>
          </p:nvSpPr>
          <p:spPr>
            <a:xfrm>
              <a:off x="9646919" y="5303520"/>
              <a:ext cx="786765" cy="786765"/>
            </a:xfrm>
            <a:custGeom>
              <a:avLst/>
              <a:gdLst/>
              <a:ahLst/>
              <a:cxnLst/>
              <a:rect l="l" t="t" r="r" b="b"/>
              <a:pathLst>
                <a:path w="786765" h="786764">
                  <a:moveTo>
                    <a:pt x="0" y="128015"/>
                  </a:moveTo>
                  <a:lnTo>
                    <a:pt x="10060" y="78186"/>
                  </a:lnTo>
                  <a:lnTo>
                    <a:pt x="37494" y="37494"/>
                  </a:lnTo>
                  <a:lnTo>
                    <a:pt x="78185" y="10060"/>
                  </a:lnTo>
                  <a:lnTo>
                    <a:pt x="128014" y="0"/>
                  </a:lnTo>
                  <a:lnTo>
                    <a:pt x="658368" y="0"/>
                  </a:lnTo>
                  <a:lnTo>
                    <a:pt x="707357" y="9744"/>
                  </a:lnTo>
                  <a:lnTo>
                    <a:pt x="748889" y="37494"/>
                  </a:lnTo>
                  <a:lnTo>
                    <a:pt x="776639" y="79025"/>
                  </a:lnTo>
                  <a:lnTo>
                    <a:pt x="786383" y="128015"/>
                  </a:lnTo>
                  <a:lnTo>
                    <a:pt x="786383" y="658368"/>
                  </a:lnTo>
                  <a:lnTo>
                    <a:pt x="776323" y="708198"/>
                  </a:lnTo>
                  <a:lnTo>
                    <a:pt x="748889" y="748889"/>
                  </a:lnTo>
                  <a:lnTo>
                    <a:pt x="708198" y="776323"/>
                  </a:lnTo>
                  <a:lnTo>
                    <a:pt x="658368" y="786383"/>
                  </a:lnTo>
                  <a:lnTo>
                    <a:pt x="128014" y="786383"/>
                  </a:lnTo>
                  <a:lnTo>
                    <a:pt x="78185" y="776323"/>
                  </a:lnTo>
                  <a:lnTo>
                    <a:pt x="37494" y="748889"/>
                  </a:lnTo>
                  <a:lnTo>
                    <a:pt x="10060" y="708198"/>
                  </a:lnTo>
                  <a:lnTo>
                    <a:pt x="0" y="658368"/>
                  </a:lnTo>
                  <a:lnTo>
                    <a:pt x="0" y="128015"/>
                  </a:lnTo>
                  <a:close/>
                </a:path>
              </a:pathLst>
            </a:custGeom>
            <a:ln w="12699">
              <a:solidFill>
                <a:srgbClr val="333333"/>
              </a:solidFill>
            </a:ln>
          </p:spPr>
          <p:txBody>
            <a:bodyPr wrap="square" lIns="0" tIns="0" rIns="0" bIns="0" rtlCol="0"/>
            <a:lstStyle/>
            <a:p>
              <a:endParaRPr/>
            </a:p>
          </p:txBody>
        </p:sp>
      </p:grpSp>
      <p:sp>
        <p:nvSpPr>
          <p:cNvPr id="26" name="object 26"/>
          <p:cNvSpPr txBox="1"/>
          <p:nvPr/>
        </p:nvSpPr>
        <p:spPr>
          <a:xfrm>
            <a:off x="9888918" y="5440172"/>
            <a:ext cx="302895" cy="482600"/>
          </a:xfrm>
          <a:prstGeom prst="rect">
            <a:avLst/>
          </a:prstGeom>
        </p:spPr>
        <p:txBody>
          <a:bodyPr vert="horz" wrap="square" lIns="0" tIns="12700" rIns="0" bIns="0" rtlCol="0">
            <a:spAutoFit/>
          </a:bodyPr>
          <a:lstStyle/>
          <a:p>
            <a:pPr marL="12700">
              <a:lnSpc>
                <a:spcPct val="100000"/>
              </a:lnSpc>
              <a:spcBef>
                <a:spcPts val="100"/>
              </a:spcBef>
            </a:pPr>
            <a:r>
              <a:rPr sz="3000" spc="-110" dirty="0">
                <a:solidFill>
                  <a:srgbClr val="5A6B80"/>
                </a:solidFill>
                <a:latin typeface="Arial Black"/>
                <a:cs typeface="Arial Black"/>
              </a:rPr>
              <a:t>D</a:t>
            </a:r>
            <a:endParaRPr sz="3000">
              <a:latin typeface="Arial Black"/>
              <a:cs typeface="Arial Black"/>
            </a:endParaRPr>
          </a:p>
        </p:txBody>
      </p:sp>
      <p:sp>
        <p:nvSpPr>
          <p:cNvPr id="27" name="object 27"/>
          <p:cNvSpPr txBox="1"/>
          <p:nvPr/>
        </p:nvSpPr>
        <p:spPr>
          <a:xfrm>
            <a:off x="10594340" y="5439156"/>
            <a:ext cx="5611495" cy="330200"/>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162739"/>
                </a:solidFill>
                <a:latin typeface="Arial Black"/>
                <a:cs typeface="Arial Black"/>
              </a:rPr>
              <a:t>The cell types that wait for data</a:t>
            </a:r>
            <a:endParaRPr sz="2000">
              <a:latin typeface="Arial Black"/>
              <a:cs typeface="Arial Black"/>
            </a:endParaRPr>
          </a:p>
        </p:txBody>
      </p:sp>
      <p:sp>
        <p:nvSpPr>
          <p:cNvPr id="21" name="object 21"/>
          <p:cNvSpPr txBox="1"/>
          <p:nvPr/>
        </p:nvSpPr>
        <p:spPr>
          <a:xfrm>
            <a:off x="1861820" y="6219189"/>
            <a:ext cx="6681470" cy="721995"/>
          </a:xfrm>
          <a:prstGeom prst="rect">
            <a:avLst/>
          </a:prstGeom>
        </p:spPr>
        <p:txBody>
          <a:bodyPr vert="horz" wrap="square" lIns="0" tIns="12700" rIns="0" bIns="0" rtlCol="0">
            <a:spAutoFit/>
          </a:bodyPr>
          <a:lstStyle/>
          <a:p>
            <a:pPr marL="12700" marR="5080">
              <a:lnSpc>
                <a:spcPct val="105000"/>
              </a:lnSpc>
              <a:spcBef>
                <a:spcPts val="100"/>
              </a:spcBef>
            </a:pPr>
            <a:r>
              <a:rPr sz="1450" spc="-10" dirty="0">
                <a:solidFill>
                  <a:srgbClr val="36404F"/>
                </a:solidFill>
                <a:latin typeface="Calibri"/>
                <a:cs typeface="Calibri"/>
              </a:rPr>
              <a:t>The Colonyze lineage: quantitative colony-forming-unit analysis of connective tissue progenitors and MSCs, the founders’ own measurement science and the direct subject of the 2017 and 2020 papers.</a:t>
            </a:r>
            <a:endParaRPr sz="1450">
              <a:latin typeface="Calibri"/>
              <a:cs typeface="Calibri"/>
            </a:endParaRPr>
          </a:p>
        </p:txBody>
      </p:sp>
      <p:sp>
        <p:nvSpPr>
          <p:cNvPr id="28" name="object 28"/>
          <p:cNvSpPr txBox="1"/>
          <p:nvPr/>
        </p:nvSpPr>
        <p:spPr>
          <a:xfrm>
            <a:off x="10594340" y="6219189"/>
            <a:ext cx="6509384" cy="721995"/>
          </a:xfrm>
          <a:prstGeom prst="rect">
            <a:avLst/>
          </a:prstGeom>
        </p:spPr>
        <p:txBody>
          <a:bodyPr vert="horz" wrap="square" lIns="0" tIns="12700" rIns="0" bIns="0" rtlCol="0">
            <a:spAutoFit/>
          </a:bodyPr>
          <a:lstStyle/>
          <a:p>
            <a:pPr marL="12700" marR="5080">
              <a:lnSpc>
                <a:spcPct val="105000"/>
              </a:lnSpc>
              <a:spcBef>
                <a:spcPts val="100"/>
              </a:spcBef>
            </a:pPr>
            <a:r>
              <a:rPr sz="1450" spc="-10" dirty="0">
                <a:solidFill>
                  <a:srgbClr val="36404F"/>
                </a:solidFill>
                <a:latin typeface="Calibri"/>
                <a:cs typeface="Calibri"/>
              </a:rPr>
              <a:t>HSC and TIL sit on the company’s cell-type list without published runs. The NHLBI and NCI concepts file only once the company confirms real data exists on the deck; both are flagged as conditional, not assumed.</a:t>
            </a:r>
            <a:endParaRPr sz="1450">
              <a:latin typeface="Calibri"/>
              <a:cs typeface="Calibri"/>
            </a:endParaRPr>
          </a:p>
        </p:txBody>
      </p:sp>
      <p:sp>
        <p:nvSpPr>
          <p:cNvPr id="22" name="object 22"/>
          <p:cNvSpPr txBox="1"/>
          <p:nvPr/>
        </p:nvSpPr>
        <p:spPr>
          <a:xfrm>
            <a:off x="1861820" y="7198359"/>
            <a:ext cx="6612255" cy="421640"/>
          </a:xfrm>
          <a:prstGeom prst="rect">
            <a:avLst/>
          </a:prstGeom>
        </p:spPr>
        <p:txBody>
          <a:bodyPr vert="horz" wrap="square" lIns="0" tIns="12700" rIns="0" bIns="0" rtlCol="0">
            <a:spAutoFit/>
          </a:bodyPr>
          <a:lstStyle/>
          <a:p>
            <a:pPr marL="12700" marR="5080">
              <a:lnSpc>
                <a:spcPct val="100000"/>
              </a:lnSpc>
              <a:spcBef>
                <a:spcPts val="100"/>
              </a:spcBef>
              <a:tabLst>
                <a:tab pos="4878705" algn="l"/>
              </a:tabLst>
            </a:pPr>
            <a:r>
              <a:rPr sz="1300" b="1" dirty="0">
                <a:solidFill>
                  <a:srgbClr val="022C5E"/>
                </a:solidFill>
                <a:latin typeface="Calibri"/>
                <a:cs typeface="Calibri"/>
              </a:rPr>
              <a:t>Goes to: NIAMS · DoD CDMRP PRMRP	</a:t>
            </a:r>
            <a:r>
              <a:rPr sz="1300" b="1" dirty="0">
                <a:solidFill>
                  <a:srgbClr val="022C5E"/>
                </a:solidFill>
                <a:latin typeface="Arial"/>
                <a:cs typeface="Arial"/>
              </a:rPr>
              <a:t>→ </a:t>
            </a:r>
            <a:r>
              <a:rPr sz="1300" b="1" spc="-10" dirty="0">
                <a:solidFill>
                  <a:srgbClr val="022C5E"/>
                </a:solidFill>
                <a:latin typeface="Calibri"/>
                <a:cs typeface="Calibri"/>
              </a:rPr>
              <a:t>applications 5 and 12</a:t>
            </a:r>
            <a:endParaRPr sz="1300">
              <a:latin typeface="Calibri"/>
              <a:cs typeface="Calibri"/>
            </a:endParaRPr>
          </a:p>
        </p:txBody>
      </p:sp>
      <p:sp>
        <p:nvSpPr>
          <p:cNvPr id="29" name="object 29"/>
          <p:cNvSpPr txBox="1"/>
          <p:nvPr/>
        </p:nvSpPr>
        <p:spPr>
          <a:xfrm>
            <a:off x="10594340" y="7297420"/>
            <a:ext cx="4827905" cy="223520"/>
          </a:xfrm>
          <a:prstGeom prst="rect">
            <a:avLst/>
          </a:prstGeom>
        </p:spPr>
        <p:txBody>
          <a:bodyPr vert="horz" wrap="square" lIns="0" tIns="12700" rIns="0" bIns="0" rtlCol="0">
            <a:spAutoFit/>
          </a:bodyPr>
          <a:lstStyle/>
          <a:p>
            <a:pPr marL="12700">
              <a:lnSpc>
                <a:spcPct val="100000"/>
              </a:lnSpc>
              <a:spcBef>
                <a:spcPts val="100"/>
              </a:spcBef>
              <a:tabLst>
                <a:tab pos="2834005" algn="l"/>
              </a:tabLst>
            </a:pPr>
            <a:r>
              <a:rPr sz="1300" b="1" spc="-10" dirty="0">
                <a:solidFill>
                  <a:srgbClr val="022C5E"/>
                </a:solidFill>
                <a:latin typeface="Calibri"/>
                <a:cs typeface="Calibri"/>
              </a:rPr>
              <a:t>Goes to: NHLBI · NCI	</a:t>
            </a:r>
            <a:r>
              <a:rPr sz="1300" b="1" dirty="0">
                <a:solidFill>
                  <a:srgbClr val="022C5E"/>
                </a:solidFill>
                <a:latin typeface="Arial"/>
                <a:cs typeface="Arial"/>
              </a:rPr>
              <a:t>→ </a:t>
            </a:r>
            <a:r>
              <a:rPr sz="1300" b="1" spc="-10" dirty="0">
                <a:solidFill>
                  <a:srgbClr val="022C5E"/>
                </a:solidFill>
                <a:latin typeface="Calibri"/>
                <a:cs typeface="Calibri"/>
              </a:rPr>
              <a:t>applications 6 and 9, conditional</a:t>
            </a:r>
            <a:endParaRPr sz="1300">
              <a:latin typeface="Calibri"/>
              <a:cs typeface="Calibri"/>
            </a:endParaRPr>
          </a:p>
        </p:txBody>
      </p:sp>
      <p:sp>
        <p:nvSpPr>
          <p:cNvPr id="30" name="object 30"/>
          <p:cNvSpPr txBox="1"/>
          <p:nvPr/>
        </p:nvSpPr>
        <p:spPr>
          <a:xfrm>
            <a:off x="914400" y="8211311"/>
            <a:ext cx="16459200" cy="1170940"/>
          </a:xfrm>
          <a:prstGeom prst="rect">
            <a:avLst/>
          </a:prstGeom>
          <a:solidFill>
            <a:srgbClr val="F4F6F9"/>
          </a:solidFill>
          <a:ln w="12699">
            <a:solidFill>
              <a:srgbClr val="333333"/>
            </a:solidFill>
          </a:ln>
        </p:spPr>
        <p:txBody>
          <a:bodyPr vert="horz" wrap="square" lIns="0" tIns="181610" rIns="0" bIns="0" rtlCol="0">
            <a:spAutoFit/>
          </a:bodyPr>
          <a:lstStyle/>
          <a:p>
            <a:pPr marL="365760">
              <a:lnSpc>
                <a:spcPct val="100000"/>
              </a:lnSpc>
              <a:spcBef>
                <a:spcPts val="1430"/>
              </a:spcBef>
            </a:pPr>
            <a:r>
              <a:rPr sz="1700" spc="-45" dirty="0">
                <a:solidFill>
                  <a:srgbClr val="162739"/>
                </a:solidFill>
                <a:latin typeface="Arial Black"/>
                <a:cs typeface="Arial Black"/>
              </a:rPr>
              <a:t>Three applications at each NIH date, nine in all, the annual maximum, plus NSF, ARMI and CDMRP</a:t>
            </a:r>
            <a:endParaRPr sz="1700">
              <a:latin typeface="Arial Black"/>
              <a:cs typeface="Arial Black"/>
            </a:endParaRPr>
          </a:p>
          <a:p>
            <a:pPr marL="365760" marR="440690">
              <a:lnSpc>
                <a:spcPct val="102000"/>
              </a:lnSpc>
              <a:spcBef>
                <a:spcPts val="480"/>
              </a:spcBef>
            </a:pPr>
            <a:r>
              <a:rPr sz="1300" spc="-10" dirty="0">
                <a:solidFill>
                  <a:srgbClr val="36404F"/>
                </a:solidFill>
                <a:latin typeface="Calibri"/>
                <a:cs typeface="Calibri"/>
              </a:rPr>
              <a:t>HHS accepts up to </a:t>
            </a:r>
            <a:r>
              <a:rPr sz="1300" b="1" dirty="0">
                <a:solidFill>
                  <a:srgbClr val="36404F"/>
                </a:solidFill>
                <a:latin typeface="Calibri"/>
                <a:cs typeface="Calibri"/>
              </a:rPr>
              <a:t>nine </a:t>
            </a:r>
            <a:r>
              <a:rPr sz="1300" spc="-10" dirty="0">
                <a:solidFill>
                  <a:srgbClr val="36404F"/>
                </a:solidFill>
                <a:latin typeface="Calibri"/>
                <a:cs typeface="Calibri"/>
              </a:rPr>
              <a:t>new Phase I, Fast-Track and Direct-to-Phase-II small business applications per company per fiscal year (</a:t>
            </a:r>
            <a:r>
              <a:rPr sz="1300" u="heavy" spc="-20" dirty="0">
                <a:solidFill>
                  <a:srgbClr val="0563C1"/>
                </a:solidFill>
                <a:uFill>
                  <a:solidFill>
                    <a:srgbClr val="0563C1"/>
                  </a:solidFill>
                </a:uFill>
                <a:latin typeface="Calibri"/>
                <a:cs typeface="Calibri"/>
                <a:hlinkClick r:id="rId2"/>
              </a:rPr>
              <a:t>NOT-OD-26-090</a:t>
            </a:r>
            <a:r>
              <a:rPr sz="1300" spc="-10" dirty="0">
                <a:solidFill>
                  <a:srgbClr val="36404F"/>
                </a:solidFill>
                <a:latin typeface="Calibri"/>
                <a:cs typeface="Calibri"/>
              </a:rPr>
              <a:t>), counting grants and contracts across NIH, CDC and FDA. NIH separately accepts </a:t>
            </a:r>
            <a:r>
              <a:rPr sz="1300" b="1" dirty="0">
                <a:solidFill>
                  <a:srgbClr val="36404F"/>
                </a:solidFill>
                <a:latin typeface="Calibri"/>
                <a:cs typeface="Calibri"/>
              </a:rPr>
              <a:t>six </a:t>
            </a:r>
            <a:r>
              <a:rPr sz="1300" spc="-20" dirty="0">
                <a:solidFill>
                  <a:srgbClr val="36404F"/>
                </a:solidFill>
                <a:latin typeface="Calibri"/>
                <a:cs typeface="Calibri"/>
              </a:rPr>
              <a:t>per investigator per calendar year (</a:t>
            </a:r>
            <a:r>
              <a:rPr sz="1300" u="heavy" spc="-20" dirty="0">
                <a:solidFill>
                  <a:srgbClr val="0563C1"/>
                </a:solidFill>
                <a:uFill>
                  <a:solidFill>
                    <a:srgbClr val="0563C1"/>
                  </a:solidFill>
                </a:uFill>
                <a:latin typeface="Calibri"/>
                <a:cs typeface="Calibri"/>
                <a:hlinkClick r:id="rId3"/>
              </a:rPr>
              <a:t>NOT-OD-25-132</a:t>
            </a:r>
            <a:r>
              <a:rPr sz="1300" spc="-20" dirty="0">
                <a:solidFill>
                  <a:srgbClr val="36404F"/>
                </a:solidFill>
                <a:latin typeface="Calibri"/>
                <a:cs typeface="Calibri"/>
              </a:rPr>
              <a:t>). NSF, ARMI and CDMRP sit outside both. So twelve is reachable: nine is exactly the NIH ceiling, and six per PI makes the STTR partner PIs at Iowa and an orthopedics institution load-bearing. Three registrations also start now, ahead of any filing: </a:t>
            </a:r>
            <a:r>
              <a:rPr sz="1300" u="heavy" dirty="0">
                <a:solidFill>
                  <a:srgbClr val="0563C1"/>
                </a:solidFill>
                <a:uFill>
                  <a:solidFill>
                    <a:srgbClr val="0563C1"/>
                  </a:solidFill>
                </a:uFill>
                <a:latin typeface="Calibri"/>
                <a:cs typeface="Calibri"/>
                <a:hlinkClick r:id="rId4"/>
              </a:rPr>
              <a:t>SAM.gov</a:t>
            </a:r>
            <a:r>
              <a:rPr sz="1300" dirty="0">
                <a:solidFill>
                  <a:srgbClr val="36404F"/>
                </a:solidFill>
                <a:latin typeface="Calibri"/>
                <a:cs typeface="Calibri"/>
              </a:rPr>
              <a:t>, </a:t>
            </a:r>
            <a:r>
              <a:rPr sz="1300" u="heavy" dirty="0">
                <a:solidFill>
                  <a:srgbClr val="0563C1"/>
                </a:solidFill>
                <a:uFill>
                  <a:solidFill>
                    <a:srgbClr val="0563C1"/>
                  </a:solidFill>
                </a:uFill>
                <a:latin typeface="Calibri"/>
                <a:cs typeface="Calibri"/>
                <a:hlinkClick r:id="rId5"/>
              </a:rPr>
              <a:t>eRA Commons</a:t>
            </a:r>
            <a:r>
              <a:rPr sz="1300" spc="-20" dirty="0">
                <a:solidFill>
                  <a:srgbClr val="0563C1"/>
                </a:solidFill>
                <a:latin typeface="Calibri"/>
                <a:cs typeface="Calibri"/>
              </a:rPr>
              <a:t> </a:t>
            </a:r>
            <a:r>
              <a:rPr sz="1300" dirty="0">
                <a:solidFill>
                  <a:srgbClr val="36404F"/>
                </a:solidFill>
                <a:latin typeface="Calibri"/>
                <a:cs typeface="Calibri"/>
              </a:rPr>
              <a:t>and </a:t>
            </a:r>
            <a:r>
              <a:rPr sz="1300" u="heavy" spc="-20" dirty="0">
                <a:solidFill>
                  <a:srgbClr val="0563C1"/>
                </a:solidFill>
                <a:uFill>
                  <a:solidFill>
                    <a:srgbClr val="0563C1"/>
                  </a:solidFill>
                </a:uFill>
                <a:latin typeface="Calibri"/>
                <a:cs typeface="Calibri"/>
                <a:hlinkClick r:id="rId6"/>
              </a:rPr>
              <a:t>SBA Company Registry</a:t>
            </a:r>
            <a:r>
              <a:rPr sz="1300" spc="-10" dirty="0">
                <a:solidFill>
                  <a:srgbClr val="36404F"/>
                </a:solidFill>
                <a:latin typeface="Calibri"/>
                <a:cs typeface="Calibri"/>
              </a:rPr>
              <a:t>.</a:t>
            </a:r>
            <a:endParaRPr sz="1300">
              <a:latin typeface="Calibri"/>
              <a:cs typeface="Calibri"/>
            </a:endParaRPr>
          </a:p>
        </p:txBody>
      </p:sp>
      <p:sp>
        <p:nvSpPr>
          <p:cNvPr id="31" name="object 3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7"/>
              </a:rPr>
              <a:t>www.bwcoconsulting.com</a:t>
            </a:r>
            <a:endParaRPr sz="1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4" name="object 4" descr="$PPTXTitle"/>
          <p:cNvSpPr txBox="1">
            <a:spLocks noGrp="1"/>
          </p:cNvSpPr>
          <p:nvPr>
            <p:ph type="title"/>
          </p:nvPr>
        </p:nvSpPr>
        <p:spPr>
          <a:xfrm>
            <a:off x="875542" y="477774"/>
            <a:ext cx="5716905" cy="695960"/>
          </a:xfrm>
          <a:prstGeom prst="rect">
            <a:avLst/>
          </a:prstGeom>
        </p:spPr>
        <p:txBody>
          <a:bodyPr vert="horz" wrap="square" lIns="0" tIns="12700" rIns="0" bIns="0" rtlCol="0">
            <a:spAutoFit/>
          </a:bodyPr>
          <a:lstStyle/>
          <a:p>
            <a:pPr marL="12700">
              <a:lnSpc>
                <a:spcPct val="100000"/>
              </a:lnSpc>
              <a:spcBef>
                <a:spcPts val="100"/>
              </a:spcBef>
            </a:pPr>
            <a:r>
              <a:rPr sz="4400" spc="-145" dirty="0"/>
              <a:t>The Filing Sequence</a:t>
            </a:r>
            <a:endParaRPr sz="4400" dirty="0"/>
          </a:p>
        </p:txBody>
      </p:sp>
      <p:sp>
        <p:nvSpPr>
          <p:cNvPr id="5" name="object 5"/>
          <p:cNvSpPr txBox="1"/>
          <p:nvPr/>
        </p:nvSpPr>
        <p:spPr>
          <a:xfrm>
            <a:off x="901700" y="1741932"/>
            <a:ext cx="12553950" cy="284480"/>
          </a:xfrm>
          <a:prstGeom prst="rect">
            <a:avLst/>
          </a:prstGeom>
        </p:spPr>
        <p:txBody>
          <a:bodyPr vert="horz" wrap="square" lIns="0" tIns="12700" rIns="0" bIns="0" rtlCol="0">
            <a:spAutoFit/>
          </a:bodyPr>
          <a:lstStyle/>
          <a:p>
            <a:pPr marL="12700">
              <a:lnSpc>
                <a:spcPct val="100000"/>
              </a:lnSpc>
              <a:spcBef>
                <a:spcPts val="100"/>
              </a:spcBef>
            </a:pPr>
            <a:r>
              <a:rPr sz="1700" dirty="0">
                <a:solidFill>
                  <a:srgbClr val="5A6B80"/>
                </a:solidFill>
                <a:latin typeface="Calibri"/>
                <a:cs typeface="Calibri"/>
              </a:rPr>
              <a:t>Twelve applications in date order, three at every NIH receipt date, asked at the institute ceiling or else at the SBA guideline.</a:t>
            </a:r>
            <a:endParaRPr sz="1700">
              <a:latin typeface="Calibri"/>
              <a:cs typeface="Calibri"/>
            </a:endParaRPr>
          </a:p>
        </p:txBody>
      </p:sp>
      <p:sp>
        <p:nvSpPr>
          <p:cNvPr id="6" name="object 6"/>
          <p:cNvSpPr txBox="1"/>
          <p:nvPr/>
        </p:nvSpPr>
        <p:spPr>
          <a:xfrm>
            <a:off x="914400" y="2212848"/>
            <a:ext cx="3931920" cy="1353820"/>
          </a:xfrm>
          <a:prstGeom prst="rect">
            <a:avLst/>
          </a:prstGeom>
          <a:solidFill>
            <a:srgbClr val="F4F6F9"/>
          </a:solidFill>
          <a:ln w="12699">
            <a:solidFill>
              <a:srgbClr val="333333"/>
            </a:solidFill>
          </a:ln>
        </p:spPr>
        <p:txBody>
          <a:bodyPr vert="horz" wrap="square" lIns="0" tIns="150495" rIns="0" bIns="0" rtlCol="0">
            <a:spAutoFit/>
          </a:bodyPr>
          <a:lstStyle/>
          <a:p>
            <a:pPr marL="274320">
              <a:lnSpc>
                <a:spcPct val="100000"/>
              </a:lnSpc>
              <a:spcBef>
                <a:spcPts val="1185"/>
              </a:spcBef>
            </a:pPr>
            <a:r>
              <a:rPr sz="4000" spc="-10" dirty="0">
                <a:solidFill>
                  <a:srgbClr val="022C5E"/>
                </a:solidFill>
                <a:latin typeface="Arial Black"/>
                <a:cs typeface="Arial Black"/>
              </a:rPr>
              <a:t>$5.0M</a:t>
            </a:r>
            <a:endParaRPr sz="4000">
              <a:latin typeface="Arial Black"/>
              <a:cs typeface="Arial Black"/>
            </a:endParaRPr>
          </a:p>
          <a:p>
            <a:pPr marL="274320">
              <a:lnSpc>
                <a:spcPct val="100000"/>
              </a:lnSpc>
              <a:spcBef>
                <a:spcPts val="1720"/>
              </a:spcBef>
            </a:pPr>
            <a:r>
              <a:rPr sz="1350" dirty="0">
                <a:solidFill>
                  <a:srgbClr val="5A6B80"/>
                </a:solidFill>
                <a:latin typeface="Calibri"/>
                <a:cs typeface="Calibri"/>
              </a:rPr>
              <a:t>year one, Phase I plus single-award asks</a:t>
            </a:r>
            <a:endParaRPr sz="1350">
              <a:latin typeface="Calibri"/>
              <a:cs typeface="Calibri"/>
            </a:endParaRPr>
          </a:p>
        </p:txBody>
      </p:sp>
      <p:sp>
        <p:nvSpPr>
          <p:cNvPr id="7" name="object 7"/>
          <p:cNvSpPr txBox="1"/>
          <p:nvPr/>
        </p:nvSpPr>
        <p:spPr>
          <a:xfrm>
            <a:off x="5093207" y="2212848"/>
            <a:ext cx="3931920" cy="1353820"/>
          </a:xfrm>
          <a:prstGeom prst="rect">
            <a:avLst/>
          </a:prstGeom>
          <a:solidFill>
            <a:srgbClr val="F4F6F9"/>
          </a:solidFill>
          <a:ln w="12699">
            <a:solidFill>
              <a:srgbClr val="333333"/>
            </a:solidFill>
          </a:ln>
        </p:spPr>
        <p:txBody>
          <a:bodyPr vert="horz" wrap="square" lIns="0" tIns="150495" rIns="0" bIns="0" rtlCol="0">
            <a:spAutoFit/>
          </a:bodyPr>
          <a:lstStyle/>
          <a:p>
            <a:pPr marL="274320">
              <a:lnSpc>
                <a:spcPct val="100000"/>
              </a:lnSpc>
              <a:spcBef>
                <a:spcPts val="1185"/>
              </a:spcBef>
            </a:pPr>
            <a:r>
              <a:rPr sz="4000" spc="-405" dirty="0">
                <a:solidFill>
                  <a:srgbClr val="022C5E"/>
                </a:solidFill>
                <a:latin typeface="Arial Black"/>
                <a:cs typeface="Arial Black"/>
              </a:rPr>
              <a:t>$22.7M</a:t>
            </a:r>
            <a:endParaRPr sz="4000">
              <a:latin typeface="Arial Black"/>
              <a:cs typeface="Arial Black"/>
            </a:endParaRPr>
          </a:p>
          <a:p>
            <a:pPr marL="274320">
              <a:lnSpc>
                <a:spcPct val="100000"/>
              </a:lnSpc>
              <a:spcBef>
                <a:spcPts val="1720"/>
              </a:spcBef>
            </a:pPr>
            <a:r>
              <a:rPr sz="1350" spc="-25" dirty="0">
                <a:solidFill>
                  <a:srgbClr val="5A6B80"/>
                </a:solidFill>
                <a:latin typeface="Calibri"/>
                <a:cs typeface="Calibri"/>
              </a:rPr>
              <a:t>Phase II follow-on if Phase I lands</a:t>
            </a:r>
            <a:endParaRPr sz="1350">
              <a:latin typeface="Calibri"/>
              <a:cs typeface="Calibri"/>
            </a:endParaRPr>
          </a:p>
        </p:txBody>
      </p:sp>
      <p:sp>
        <p:nvSpPr>
          <p:cNvPr id="8" name="object 8"/>
          <p:cNvSpPr txBox="1"/>
          <p:nvPr/>
        </p:nvSpPr>
        <p:spPr>
          <a:xfrm>
            <a:off x="9272015" y="2212848"/>
            <a:ext cx="3931920" cy="1353820"/>
          </a:xfrm>
          <a:prstGeom prst="rect">
            <a:avLst/>
          </a:prstGeom>
          <a:solidFill>
            <a:srgbClr val="F4F6F9"/>
          </a:solidFill>
          <a:ln w="12699">
            <a:solidFill>
              <a:srgbClr val="333333"/>
            </a:solidFill>
          </a:ln>
        </p:spPr>
        <p:txBody>
          <a:bodyPr vert="horz" wrap="square" lIns="0" tIns="150495" rIns="0" bIns="0" rtlCol="0">
            <a:spAutoFit/>
          </a:bodyPr>
          <a:lstStyle/>
          <a:p>
            <a:pPr marL="274320">
              <a:lnSpc>
                <a:spcPct val="100000"/>
              </a:lnSpc>
              <a:spcBef>
                <a:spcPts val="1185"/>
              </a:spcBef>
            </a:pPr>
            <a:r>
              <a:rPr sz="4000" spc="-800" dirty="0">
                <a:solidFill>
                  <a:srgbClr val="022C5E"/>
                </a:solidFill>
                <a:latin typeface="Arial Black"/>
                <a:cs typeface="Arial Black"/>
              </a:rPr>
              <a:t>12</a:t>
            </a:r>
            <a:endParaRPr sz="4000">
              <a:latin typeface="Arial Black"/>
              <a:cs typeface="Arial Black"/>
            </a:endParaRPr>
          </a:p>
          <a:p>
            <a:pPr marL="274320">
              <a:lnSpc>
                <a:spcPct val="100000"/>
              </a:lnSpc>
              <a:spcBef>
                <a:spcPts val="1720"/>
              </a:spcBef>
            </a:pPr>
            <a:r>
              <a:rPr sz="1350" spc="-10" dirty="0">
                <a:solidFill>
                  <a:srgbClr val="5A6B80"/>
                </a:solidFill>
                <a:latin typeface="Calibri"/>
                <a:cs typeface="Calibri"/>
              </a:rPr>
              <a:t>applications, three at each NIH date</a:t>
            </a:r>
            <a:endParaRPr sz="1350">
              <a:latin typeface="Calibri"/>
              <a:cs typeface="Calibri"/>
            </a:endParaRPr>
          </a:p>
        </p:txBody>
      </p:sp>
      <p:sp>
        <p:nvSpPr>
          <p:cNvPr id="9" name="object 9"/>
          <p:cNvSpPr txBox="1"/>
          <p:nvPr/>
        </p:nvSpPr>
        <p:spPr>
          <a:xfrm>
            <a:off x="13450823" y="2212848"/>
            <a:ext cx="3931920" cy="1353820"/>
          </a:xfrm>
          <a:prstGeom prst="rect">
            <a:avLst/>
          </a:prstGeom>
          <a:solidFill>
            <a:srgbClr val="F4F6F9"/>
          </a:solidFill>
          <a:ln w="12699">
            <a:solidFill>
              <a:srgbClr val="333333"/>
            </a:solidFill>
          </a:ln>
        </p:spPr>
        <p:txBody>
          <a:bodyPr vert="horz" wrap="square" lIns="0" tIns="150495" rIns="0" bIns="0" rtlCol="0">
            <a:spAutoFit/>
          </a:bodyPr>
          <a:lstStyle/>
          <a:p>
            <a:pPr marL="274320">
              <a:lnSpc>
                <a:spcPct val="100000"/>
              </a:lnSpc>
              <a:spcBef>
                <a:spcPts val="1185"/>
              </a:spcBef>
            </a:pPr>
            <a:r>
              <a:rPr sz="4000" spc="-135" dirty="0">
                <a:solidFill>
                  <a:srgbClr val="022C5E"/>
                </a:solidFill>
                <a:latin typeface="Arial Black"/>
                <a:cs typeface="Arial Black"/>
              </a:rPr>
              <a:t>9 of 9</a:t>
            </a:r>
            <a:endParaRPr sz="4000">
              <a:latin typeface="Arial Black"/>
              <a:cs typeface="Arial Black"/>
            </a:endParaRPr>
          </a:p>
          <a:p>
            <a:pPr marL="274320">
              <a:lnSpc>
                <a:spcPct val="100000"/>
              </a:lnSpc>
              <a:spcBef>
                <a:spcPts val="1720"/>
              </a:spcBef>
            </a:pPr>
            <a:r>
              <a:rPr sz="1350" spc="-10" dirty="0">
                <a:solidFill>
                  <a:srgbClr val="5A6B80"/>
                </a:solidFill>
                <a:latin typeface="Calibri"/>
                <a:cs typeface="Calibri"/>
              </a:rPr>
              <a:t>NIH small business slots used</a:t>
            </a:r>
            <a:endParaRPr sz="1350">
              <a:latin typeface="Calibri"/>
              <a:cs typeface="Calibri"/>
            </a:endParaRPr>
          </a:p>
        </p:txBody>
      </p:sp>
      <p:sp>
        <p:nvSpPr>
          <p:cNvPr id="10" name="object 10"/>
          <p:cNvSpPr txBox="1"/>
          <p:nvPr/>
        </p:nvSpPr>
        <p:spPr>
          <a:xfrm>
            <a:off x="901700" y="4015740"/>
            <a:ext cx="1489710" cy="238760"/>
          </a:xfrm>
          <a:prstGeom prst="rect">
            <a:avLst/>
          </a:prstGeom>
        </p:spPr>
        <p:txBody>
          <a:bodyPr vert="horz" wrap="square" lIns="0" tIns="12700" rIns="0" bIns="0" rtlCol="0">
            <a:spAutoFit/>
          </a:bodyPr>
          <a:lstStyle/>
          <a:p>
            <a:pPr marL="12700">
              <a:lnSpc>
                <a:spcPct val="100000"/>
              </a:lnSpc>
              <a:spcBef>
                <a:spcPts val="100"/>
              </a:spcBef>
            </a:pPr>
            <a:r>
              <a:rPr sz="1400" spc="-140" dirty="0">
                <a:solidFill>
                  <a:srgbClr val="162739"/>
                </a:solidFill>
                <a:latin typeface="Arial Black"/>
                <a:cs typeface="Arial Black"/>
              </a:rPr>
              <a:t>5 JANUARY 2027</a:t>
            </a:r>
            <a:endParaRPr sz="1400">
              <a:latin typeface="Arial Black"/>
              <a:cs typeface="Arial Black"/>
            </a:endParaRPr>
          </a:p>
        </p:txBody>
      </p:sp>
      <p:sp>
        <p:nvSpPr>
          <p:cNvPr id="11" name="object 11"/>
          <p:cNvSpPr txBox="1"/>
          <p:nvPr/>
        </p:nvSpPr>
        <p:spPr>
          <a:xfrm>
            <a:off x="6150448" y="3678428"/>
            <a:ext cx="2503170" cy="589280"/>
          </a:xfrm>
          <a:prstGeom prst="rect">
            <a:avLst/>
          </a:prstGeom>
        </p:spPr>
        <p:txBody>
          <a:bodyPr vert="horz" wrap="square" lIns="0" tIns="12700" rIns="0" bIns="0" rtlCol="0">
            <a:spAutoFit/>
          </a:bodyPr>
          <a:lstStyle/>
          <a:p>
            <a:pPr marR="5080" algn="r">
              <a:lnSpc>
                <a:spcPct val="100000"/>
              </a:lnSpc>
              <a:spcBef>
                <a:spcPts val="100"/>
              </a:spcBef>
              <a:tabLst>
                <a:tab pos="2012314" algn="l"/>
              </a:tabLst>
            </a:pPr>
            <a:r>
              <a:rPr sz="1050" b="1" dirty="0">
                <a:solidFill>
                  <a:srgbClr val="5A6B80"/>
                </a:solidFill>
                <a:latin typeface="Calibri"/>
                <a:cs typeface="Calibri"/>
              </a:rPr>
              <a:t>PHASE I	PHASE II</a:t>
            </a:r>
            <a:endParaRPr sz="1050">
              <a:latin typeface="Calibri"/>
              <a:cs typeface="Calibri"/>
            </a:endParaRPr>
          </a:p>
          <a:p>
            <a:pPr>
              <a:lnSpc>
                <a:spcPct val="100000"/>
              </a:lnSpc>
              <a:spcBef>
                <a:spcPts val="455"/>
              </a:spcBef>
            </a:pPr>
            <a:endParaRPr sz="1050">
              <a:latin typeface="Calibri"/>
              <a:cs typeface="Calibri"/>
            </a:endParaRPr>
          </a:p>
          <a:p>
            <a:pPr marR="6985" algn="r">
              <a:lnSpc>
                <a:spcPct val="100000"/>
              </a:lnSpc>
            </a:pPr>
            <a:r>
              <a:rPr sz="1200" dirty="0">
                <a:solidFill>
                  <a:srgbClr val="5A6B80"/>
                </a:solidFill>
                <a:latin typeface="Calibri"/>
                <a:cs typeface="Calibri"/>
              </a:rPr>
              <a:t>three applications · NCATS, NIBIB, NEI</a:t>
            </a:r>
            <a:endParaRPr sz="1200">
              <a:latin typeface="Calibri"/>
              <a:cs typeface="Calibri"/>
            </a:endParaRPr>
          </a:p>
        </p:txBody>
      </p:sp>
      <p:sp>
        <p:nvSpPr>
          <p:cNvPr id="48" name="object 48"/>
          <p:cNvSpPr txBox="1"/>
          <p:nvPr/>
        </p:nvSpPr>
        <p:spPr>
          <a:xfrm>
            <a:off x="9634220" y="4015740"/>
            <a:ext cx="1640839" cy="238760"/>
          </a:xfrm>
          <a:prstGeom prst="rect">
            <a:avLst/>
          </a:prstGeom>
        </p:spPr>
        <p:txBody>
          <a:bodyPr vert="horz" wrap="square" lIns="0" tIns="12700" rIns="0" bIns="0" rtlCol="0">
            <a:spAutoFit/>
          </a:bodyPr>
          <a:lstStyle/>
          <a:p>
            <a:pPr marL="12700">
              <a:lnSpc>
                <a:spcPct val="100000"/>
              </a:lnSpc>
              <a:spcBef>
                <a:spcPts val="100"/>
              </a:spcBef>
            </a:pPr>
            <a:r>
              <a:rPr sz="1400" spc="-190" dirty="0">
                <a:solidFill>
                  <a:srgbClr val="162739"/>
                </a:solidFill>
                <a:latin typeface="Arial Black"/>
                <a:cs typeface="Arial Black"/>
              </a:rPr>
              <a:t>5 SEPTEMBER 2027</a:t>
            </a:r>
            <a:endParaRPr sz="1400">
              <a:latin typeface="Arial Black"/>
              <a:cs typeface="Arial Black"/>
            </a:endParaRPr>
          </a:p>
        </p:txBody>
      </p:sp>
      <p:sp>
        <p:nvSpPr>
          <p:cNvPr id="49" name="object 49"/>
          <p:cNvSpPr txBox="1"/>
          <p:nvPr/>
        </p:nvSpPr>
        <p:spPr>
          <a:xfrm>
            <a:off x="14872568" y="3678428"/>
            <a:ext cx="2513330" cy="589280"/>
          </a:xfrm>
          <a:prstGeom prst="rect">
            <a:avLst/>
          </a:prstGeom>
        </p:spPr>
        <p:txBody>
          <a:bodyPr vert="horz" wrap="square" lIns="0" tIns="12700" rIns="0" bIns="0" rtlCol="0">
            <a:spAutoFit/>
          </a:bodyPr>
          <a:lstStyle/>
          <a:p>
            <a:pPr marL="22860">
              <a:lnSpc>
                <a:spcPct val="100000"/>
              </a:lnSpc>
              <a:spcBef>
                <a:spcPts val="100"/>
              </a:spcBef>
              <a:tabLst>
                <a:tab pos="2035175" algn="l"/>
              </a:tabLst>
            </a:pPr>
            <a:r>
              <a:rPr sz="1050" b="1" dirty="0">
                <a:solidFill>
                  <a:srgbClr val="5A6B80"/>
                </a:solidFill>
                <a:latin typeface="Calibri"/>
                <a:cs typeface="Calibri"/>
              </a:rPr>
              <a:t>PHASE I	PHASE II</a:t>
            </a:r>
            <a:endParaRPr sz="1050">
              <a:latin typeface="Calibri"/>
              <a:cs typeface="Calibri"/>
            </a:endParaRPr>
          </a:p>
          <a:p>
            <a:pPr>
              <a:lnSpc>
                <a:spcPct val="100000"/>
              </a:lnSpc>
              <a:spcBef>
                <a:spcPts val="455"/>
              </a:spcBef>
            </a:pPr>
            <a:endParaRPr sz="1050">
              <a:latin typeface="Calibri"/>
              <a:cs typeface="Calibri"/>
            </a:endParaRPr>
          </a:p>
          <a:p>
            <a:pPr marL="12700">
              <a:lnSpc>
                <a:spcPct val="100000"/>
              </a:lnSpc>
            </a:pPr>
            <a:r>
              <a:rPr sz="1200" dirty="0">
                <a:solidFill>
                  <a:srgbClr val="5A6B80"/>
                </a:solidFill>
                <a:latin typeface="Calibri"/>
                <a:cs typeface="Calibri"/>
              </a:rPr>
              <a:t>three applications · NIGMS, NIA, NCI</a:t>
            </a:r>
            <a:endParaRPr sz="1200">
              <a:latin typeface="Calibri"/>
              <a:cs typeface="Calibri"/>
            </a:endParaRPr>
          </a:p>
        </p:txBody>
      </p:sp>
      <p:grpSp>
        <p:nvGrpSpPr>
          <p:cNvPr id="12" name="object 12"/>
          <p:cNvGrpSpPr/>
          <p:nvPr/>
        </p:nvGrpSpPr>
        <p:grpSpPr>
          <a:xfrm>
            <a:off x="908050" y="4401057"/>
            <a:ext cx="7739380" cy="26034"/>
            <a:chOff x="908050" y="4401057"/>
            <a:chExt cx="7739380" cy="26034"/>
          </a:xfrm>
        </p:grpSpPr>
        <p:sp>
          <p:nvSpPr>
            <p:cNvPr id="13" name="object 13"/>
            <p:cNvSpPr/>
            <p:nvPr/>
          </p:nvSpPr>
          <p:spPr>
            <a:xfrm>
              <a:off x="914400" y="4407407"/>
              <a:ext cx="7726680" cy="13335"/>
            </a:xfrm>
            <a:custGeom>
              <a:avLst/>
              <a:gdLst/>
              <a:ahLst/>
              <a:cxnLst/>
              <a:rect l="l" t="t" r="r" b="b"/>
              <a:pathLst>
                <a:path w="7726680" h="13335">
                  <a:moveTo>
                    <a:pt x="7726679" y="12802"/>
                  </a:moveTo>
                  <a:lnTo>
                    <a:pt x="0" y="12802"/>
                  </a:lnTo>
                  <a:lnTo>
                    <a:pt x="0" y="0"/>
                  </a:lnTo>
                  <a:lnTo>
                    <a:pt x="7726679" y="0"/>
                  </a:lnTo>
                  <a:lnTo>
                    <a:pt x="7726679" y="12802"/>
                  </a:lnTo>
                  <a:close/>
                </a:path>
              </a:pathLst>
            </a:custGeom>
            <a:solidFill>
              <a:srgbClr val="E4E9F0"/>
            </a:solidFill>
          </p:spPr>
          <p:txBody>
            <a:bodyPr wrap="square" lIns="0" tIns="0" rIns="0" bIns="0" rtlCol="0"/>
            <a:lstStyle/>
            <a:p>
              <a:endParaRPr/>
            </a:p>
          </p:txBody>
        </p:sp>
        <p:sp>
          <p:nvSpPr>
            <p:cNvPr id="14" name="object 14"/>
            <p:cNvSpPr/>
            <p:nvPr/>
          </p:nvSpPr>
          <p:spPr>
            <a:xfrm>
              <a:off x="914400" y="4407407"/>
              <a:ext cx="7726680" cy="13335"/>
            </a:xfrm>
            <a:custGeom>
              <a:avLst/>
              <a:gdLst/>
              <a:ahLst/>
              <a:cxnLst/>
              <a:rect l="l" t="t" r="r" b="b"/>
              <a:pathLst>
                <a:path w="7726680" h="13335">
                  <a:moveTo>
                    <a:pt x="0" y="0"/>
                  </a:moveTo>
                  <a:lnTo>
                    <a:pt x="7726679" y="0"/>
                  </a:lnTo>
                  <a:lnTo>
                    <a:pt x="7726679" y="12802"/>
                  </a:lnTo>
                  <a:lnTo>
                    <a:pt x="0" y="12802"/>
                  </a:lnTo>
                  <a:lnTo>
                    <a:pt x="0" y="0"/>
                  </a:lnTo>
                  <a:close/>
                </a:path>
              </a:pathLst>
            </a:custGeom>
            <a:ln w="12699">
              <a:solidFill>
                <a:srgbClr val="333333"/>
              </a:solidFill>
            </a:ln>
          </p:spPr>
          <p:txBody>
            <a:bodyPr wrap="square" lIns="0" tIns="0" rIns="0" bIns="0" rtlCol="0"/>
            <a:lstStyle/>
            <a:p>
              <a:endParaRPr/>
            </a:p>
          </p:txBody>
        </p:sp>
      </p:grpSp>
      <p:grpSp>
        <p:nvGrpSpPr>
          <p:cNvPr id="50" name="object 50"/>
          <p:cNvGrpSpPr/>
          <p:nvPr/>
        </p:nvGrpSpPr>
        <p:grpSpPr>
          <a:xfrm>
            <a:off x="9640569" y="4401057"/>
            <a:ext cx="7739380" cy="26034"/>
            <a:chOff x="9640569" y="4401057"/>
            <a:chExt cx="7739380" cy="26034"/>
          </a:xfrm>
        </p:grpSpPr>
        <p:sp>
          <p:nvSpPr>
            <p:cNvPr id="51" name="object 51"/>
            <p:cNvSpPr/>
            <p:nvPr/>
          </p:nvSpPr>
          <p:spPr>
            <a:xfrm>
              <a:off x="9646919" y="4407407"/>
              <a:ext cx="7726680" cy="13335"/>
            </a:xfrm>
            <a:custGeom>
              <a:avLst/>
              <a:gdLst/>
              <a:ahLst/>
              <a:cxnLst/>
              <a:rect l="l" t="t" r="r" b="b"/>
              <a:pathLst>
                <a:path w="7726680" h="13335">
                  <a:moveTo>
                    <a:pt x="7726679" y="12802"/>
                  </a:moveTo>
                  <a:lnTo>
                    <a:pt x="0" y="12802"/>
                  </a:lnTo>
                  <a:lnTo>
                    <a:pt x="0" y="0"/>
                  </a:lnTo>
                  <a:lnTo>
                    <a:pt x="7726679" y="0"/>
                  </a:lnTo>
                  <a:lnTo>
                    <a:pt x="7726679" y="12802"/>
                  </a:lnTo>
                  <a:close/>
                </a:path>
              </a:pathLst>
            </a:custGeom>
            <a:solidFill>
              <a:srgbClr val="E4E9F0"/>
            </a:solidFill>
          </p:spPr>
          <p:txBody>
            <a:bodyPr wrap="square" lIns="0" tIns="0" rIns="0" bIns="0" rtlCol="0"/>
            <a:lstStyle/>
            <a:p>
              <a:endParaRPr/>
            </a:p>
          </p:txBody>
        </p:sp>
        <p:sp>
          <p:nvSpPr>
            <p:cNvPr id="52" name="object 52"/>
            <p:cNvSpPr/>
            <p:nvPr/>
          </p:nvSpPr>
          <p:spPr>
            <a:xfrm>
              <a:off x="9646919" y="4407407"/>
              <a:ext cx="7726680" cy="13335"/>
            </a:xfrm>
            <a:custGeom>
              <a:avLst/>
              <a:gdLst/>
              <a:ahLst/>
              <a:cxnLst/>
              <a:rect l="l" t="t" r="r" b="b"/>
              <a:pathLst>
                <a:path w="7726680" h="13335">
                  <a:moveTo>
                    <a:pt x="0" y="0"/>
                  </a:moveTo>
                  <a:lnTo>
                    <a:pt x="7726679" y="0"/>
                  </a:lnTo>
                  <a:lnTo>
                    <a:pt x="7726679" y="12802"/>
                  </a:lnTo>
                  <a:lnTo>
                    <a:pt x="0" y="12802"/>
                  </a:lnTo>
                  <a:lnTo>
                    <a:pt x="0" y="0"/>
                  </a:lnTo>
                  <a:close/>
                </a:path>
              </a:pathLst>
            </a:custGeom>
            <a:ln w="12699">
              <a:solidFill>
                <a:srgbClr val="333333"/>
              </a:solidFill>
            </a:ln>
          </p:spPr>
          <p:txBody>
            <a:bodyPr wrap="square" lIns="0" tIns="0" rIns="0" bIns="0" rtlCol="0"/>
            <a:lstStyle/>
            <a:p>
              <a:endParaRPr/>
            </a:p>
          </p:txBody>
        </p:sp>
      </p:grpSp>
      <p:sp>
        <p:nvSpPr>
          <p:cNvPr id="15" name="object 15"/>
          <p:cNvSpPr txBox="1"/>
          <p:nvPr/>
        </p:nvSpPr>
        <p:spPr>
          <a:xfrm>
            <a:off x="901700" y="4560316"/>
            <a:ext cx="116205" cy="314960"/>
          </a:xfrm>
          <a:prstGeom prst="rect">
            <a:avLst/>
          </a:prstGeom>
        </p:spPr>
        <p:txBody>
          <a:bodyPr vert="horz" wrap="square" lIns="0" tIns="12700" rIns="0" bIns="0" rtlCol="0">
            <a:spAutoFit/>
          </a:bodyPr>
          <a:lstStyle/>
          <a:p>
            <a:pPr marL="12700">
              <a:lnSpc>
                <a:spcPct val="100000"/>
              </a:lnSpc>
              <a:spcBef>
                <a:spcPts val="100"/>
              </a:spcBef>
            </a:pPr>
            <a:r>
              <a:rPr sz="1900" spc="-610" dirty="0">
                <a:solidFill>
                  <a:srgbClr val="022C5E"/>
                </a:solidFill>
                <a:latin typeface="Arial Black"/>
                <a:cs typeface="Arial Black"/>
              </a:rPr>
              <a:t>1</a:t>
            </a:r>
            <a:endParaRPr sz="1900">
              <a:latin typeface="Arial Black"/>
              <a:cs typeface="Arial Black"/>
            </a:endParaRPr>
          </a:p>
        </p:txBody>
      </p:sp>
      <p:sp>
        <p:nvSpPr>
          <p:cNvPr id="16" name="object 16"/>
          <p:cNvSpPr txBox="1"/>
          <p:nvPr/>
        </p:nvSpPr>
        <p:spPr>
          <a:xfrm>
            <a:off x="1413764" y="4527804"/>
            <a:ext cx="2167890" cy="238760"/>
          </a:xfrm>
          <a:prstGeom prst="rect">
            <a:avLst/>
          </a:prstGeom>
        </p:spPr>
        <p:txBody>
          <a:bodyPr vert="horz" wrap="square" lIns="0" tIns="12700" rIns="0" bIns="0" rtlCol="0">
            <a:spAutoFit/>
          </a:bodyPr>
          <a:lstStyle/>
          <a:p>
            <a:pPr marL="12700">
              <a:lnSpc>
                <a:spcPct val="100000"/>
              </a:lnSpc>
              <a:spcBef>
                <a:spcPts val="100"/>
              </a:spcBef>
            </a:pPr>
            <a:r>
              <a:rPr sz="1400" u="heavy" spc="-10" dirty="0">
                <a:solidFill>
                  <a:srgbClr val="0563C1"/>
                </a:solidFill>
                <a:uFill>
                  <a:solidFill>
                    <a:srgbClr val="0563C1"/>
                  </a:solidFill>
                </a:uFill>
                <a:latin typeface="Arial Black"/>
                <a:cs typeface="Arial Black"/>
                <a:hlinkClick r:id="rId2"/>
              </a:rPr>
              <a:t>Clone Selection QC</a:t>
            </a:r>
            <a:endParaRPr sz="1400">
              <a:latin typeface="Arial Black"/>
              <a:cs typeface="Arial Black"/>
            </a:endParaRPr>
          </a:p>
        </p:txBody>
      </p:sp>
      <p:sp>
        <p:nvSpPr>
          <p:cNvPr id="17" name="object 17"/>
          <p:cNvSpPr txBox="1"/>
          <p:nvPr/>
        </p:nvSpPr>
        <p:spPr>
          <a:xfrm>
            <a:off x="895350" y="4795012"/>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25" dirty="0">
                <a:solidFill>
                  <a:srgbClr val="5A6B80"/>
                </a:solidFill>
                <a:uFill>
                  <a:solidFill>
                    <a:srgbClr val="333333"/>
                  </a:solidFill>
                </a:uFill>
                <a:latin typeface="Calibri"/>
                <a:cs typeface="Calibri"/>
              </a:rPr>
              <a:t>B  ·  NCATS	</a:t>
            </a:r>
            <a:endParaRPr sz="1150">
              <a:latin typeface="Calibri"/>
              <a:cs typeface="Calibri"/>
            </a:endParaRPr>
          </a:p>
        </p:txBody>
      </p:sp>
      <p:sp>
        <p:nvSpPr>
          <p:cNvPr id="18" name="object 18"/>
          <p:cNvSpPr txBox="1"/>
          <p:nvPr/>
        </p:nvSpPr>
        <p:spPr>
          <a:xfrm>
            <a:off x="5931259" y="4575555"/>
            <a:ext cx="675005" cy="269240"/>
          </a:xfrm>
          <a:prstGeom prst="rect">
            <a:avLst/>
          </a:prstGeom>
        </p:spPr>
        <p:txBody>
          <a:bodyPr vert="horz" wrap="square" lIns="0" tIns="12700" rIns="0" bIns="0" rtlCol="0">
            <a:spAutoFit/>
          </a:bodyPr>
          <a:lstStyle/>
          <a:p>
            <a:pPr marL="12700">
              <a:lnSpc>
                <a:spcPct val="100000"/>
              </a:lnSpc>
              <a:spcBef>
                <a:spcPts val="100"/>
              </a:spcBef>
            </a:pPr>
            <a:r>
              <a:rPr sz="1600" spc="-90" dirty="0">
                <a:solidFill>
                  <a:srgbClr val="022C5E"/>
                </a:solidFill>
                <a:latin typeface="Arial Black"/>
                <a:cs typeface="Arial Black"/>
              </a:rPr>
              <a:t>$323K</a:t>
            </a:r>
            <a:endParaRPr sz="1600">
              <a:latin typeface="Arial Black"/>
              <a:cs typeface="Arial Black"/>
            </a:endParaRPr>
          </a:p>
        </p:txBody>
      </p:sp>
      <p:sp>
        <p:nvSpPr>
          <p:cNvPr id="19" name="object 19"/>
          <p:cNvSpPr txBox="1"/>
          <p:nvPr/>
        </p:nvSpPr>
        <p:spPr>
          <a:xfrm>
            <a:off x="7970076" y="4601972"/>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$2.15M</a:t>
            </a:r>
            <a:endParaRPr sz="1500">
              <a:latin typeface="Arial Black"/>
              <a:cs typeface="Arial Black"/>
            </a:endParaRPr>
          </a:p>
        </p:txBody>
      </p:sp>
      <p:sp>
        <p:nvSpPr>
          <p:cNvPr id="53" name="object 53"/>
          <p:cNvSpPr txBox="1"/>
          <p:nvPr/>
        </p:nvSpPr>
        <p:spPr>
          <a:xfrm>
            <a:off x="9634220" y="4560316"/>
            <a:ext cx="154940" cy="314960"/>
          </a:xfrm>
          <a:prstGeom prst="rect">
            <a:avLst/>
          </a:prstGeom>
        </p:spPr>
        <p:txBody>
          <a:bodyPr vert="horz" wrap="square" lIns="0" tIns="12700" rIns="0" bIns="0" rtlCol="0">
            <a:spAutoFit/>
          </a:bodyPr>
          <a:lstStyle/>
          <a:p>
            <a:pPr marL="12700">
              <a:lnSpc>
                <a:spcPct val="100000"/>
              </a:lnSpc>
              <a:spcBef>
                <a:spcPts val="100"/>
              </a:spcBef>
            </a:pPr>
            <a:r>
              <a:rPr sz="1900" spc="-305" dirty="0">
                <a:solidFill>
                  <a:srgbClr val="022C5E"/>
                </a:solidFill>
                <a:latin typeface="Arial Black"/>
                <a:cs typeface="Arial Black"/>
              </a:rPr>
              <a:t>7</a:t>
            </a:r>
            <a:endParaRPr sz="1900">
              <a:latin typeface="Arial Black"/>
              <a:cs typeface="Arial Black"/>
            </a:endParaRPr>
          </a:p>
        </p:txBody>
      </p:sp>
      <p:sp>
        <p:nvSpPr>
          <p:cNvPr id="54" name="object 54"/>
          <p:cNvSpPr txBox="1"/>
          <p:nvPr/>
        </p:nvSpPr>
        <p:spPr>
          <a:xfrm>
            <a:off x="10103958" y="4378198"/>
            <a:ext cx="1913889" cy="238760"/>
          </a:xfrm>
          <a:prstGeom prst="rect">
            <a:avLst/>
          </a:prstGeom>
        </p:spPr>
        <p:txBody>
          <a:bodyPr vert="horz" wrap="square" lIns="0" tIns="12700" rIns="0" bIns="0" rtlCol="0">
            <a:spAutoFit/>
          </a:bodyPr>
          <a:lstStyle/>
          <a:p>
            <a:pPr marL="12700">
              <a:lnSpc>
                <a:spcPct val="100000"/>
              </a:lnSpc>
              <a:spcBef>
                <a:spcPts val="100"/>
              </a:spcBef>
            </a:pPr>
            <a:r>
              <a:rPr sz="1400" u="heavy" spc="-70" dirty="0">
                <a:solidFill>
                  <a:srgbClr val="0563C1"/>
                </a:solidFill>
                <a:uFill>
                  <a:solidFill>
                    <a:srgbClr val="0563C1"/>
                  </a:solidFill>
                </a:uFill>
                <a:latin typeface="Arial Black"/>
                <a:cs typeface="Arial Black"/>
                <a:hlinkClick r:id="rId2"/>
              </a:rPr>
              <a:t>General Research Tool</a:t>
            </a:r>
            <a:endParaRPr sz="1400" dirty="0">
              <a:latin typeface="Arial Black"/>
              <a:cs typeface="Arial Black"/>
            </a:endParaRPr>
          </a:p>
        </p:txBody>
      </p:sp>
      <p:sp>
        <p:nvSpPr>
          <p:cNvPr id="55" name="object 55"/>
          <p:cNvSpPr txBox="1"/>
          <p:nvPr/>
        </p:nvSpPr>
        <p:spPr>
          <a:xfrm>
            <a:off x="9627869" y="4795012"/>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20" dirty="0">
                <a:solidFill>
                  <a:srgbClr val="5A6B80"/>
                </a:solidFill>
                <a:uFill>
                  <a:solidFill>
                    <a:srgbClr val="333333"/>
                  </a:solidFill>
                </a:uFill>
                <a:latin typeface="Calibri"/>
                <a:cs typeface="Calibri"/>
              </a:rPr>
              <a:t>B  ·  NIGMS	</a:t>
            </a:r>
            <a:endParaRPr sz="1150">
              <a:latin typeface="Calibri"/>
              <a:cs typeface="Calibri"/>
            </a:endParaRPr>
          </a:p>
        </p:txBody>
      </p:sp>
      <p:sp>
        <p:nvSpPr>
          <p:cNvPr id="56" name="object 56"/>
          <p:cNvSpPr txBox="1"/>
          <p:nvPr/>
        </p:nvSpPr>
        <p:spPr>
          <a:xfrm>
            <a:off x="14634931" y="4575555"/>
            <a:ext cx="703580" cy="269240"/>
          </a:xfrm>
          <a:prstGeom prst="rect">
            <a:avLst/>
          </a:prstGeom>
        </p:spPr>
        <p:txBody>
          <a:bodyPr vert="horz" wrap="square" lIns="0" tIns="12700" rIns="0" bIns="0" rtlCol="0">
            <a:spAutoFit/>
          </a:bodyPr>
          <a:lstStyle/>
          <a:p>
            <a:pPr marL="12700">
              <a:lnSpc>
                <a:spcPct val="100000"/>
              </a:lnSpc>
              <a:spcBef>
                <a:spcPts val="100"/>
              </a:spcBef>
            </a:pPr>
            <a:r>
              <a:rPr sz="1600" spc="-45" dirty="0">
                <a:solidFill>
                  <a:srgbClr val="022C5E"/>
                </a:solidFill>
                <a:latin typeface="Arial Black"/>
                <a:cs typeface="Arial Black"/>
              </a:rPr>
              <a:t>$323K</a:t>
            </a:r>
            <a:endParaRPr sz="1600">
              <a:latin typeface="Arial Black"/>
              <a:cs typeface="Arial Black"/>
            </a:endParaRPr>
          </a:p>
        </p:txBody>
      </p:sp>
      <p:sp>
        <p:nvSpPr>
          <p:cNvPr id="57" name="object 57"/>
          <p:cNvSpPr txBox="1"/>
          <p:nvPr/>
        </p:nvSpPr>
        <p:spPr>
          <a:xfrm>
            <a:off x="16702596" y="4601972"/>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$2.15M</a:t>
            </a:r>
            <a:endParaRPr sz="1500">
              <a:latin typeface="Arial Black"/>
              <a:cs typeface="Arial Black"/>
            </a:endParaRPr>
          </a:p>
        </p:txBody>
      </p:sp>
      <p:sp>
        <p:nvSpPr>
          <p:cNvPr id="20" name="object 20"/>
          <p:cNvSpPr txBox="1"/>
          <p:nvPr/>
        </p:nvSpPr>
        <p:spPr>
          <a:xfrm>
            <a:off x="901700" y="5145532"/>
            <a:ext cx="163195" cy="314960"/>
          </a:xfrm>
          <a:prstGeom prst="rect">
            <a:avLst/>
          </a:prstGeom>
        </p:spPr>
        <p:txBody>
          <a:bodyPr vert="horz" wrap="square" lIns="0" tIns="12700" rIns="0" bIns="0" rtlCol="0">
            <a:spAutoFit/>
          </a:bodyPr>
          <a:lstStyle/>
          <a:p>
            <a:pPr marL="12700">
              <a:lnSpc>
                <a:spcPct val="100000"/>
              </a:lnSpc>
              <a:spcBef>
                <a:spcPts val="100"/>
              </a:spcBef>
            </a:pPr>
            <a:r>
              <a:rPr sz="1900" spc="-135" dirty="0">
                <a:solidFill>
                  <a:srgbClr val="022C5E"/>
                </a:solidFill>
                <a:latin typeface="Arial Black"/>
                <a:cs typeface="Arial Black"/>
              </a:rPr>
              <a:t>2</a:t>
            </a:r>
            <a:endParaRPr sz="1900">
              <a:latin typeface="Arial Black"/>
              <a:cs typeface="Arial Black"/>
            </a:endParaRPr>
          </a:p>
        </p:txBody>
      </p:sp>
      <p:sp>
        <p:nvSpPr>
          <p:cNvPr id="21" name="object 21"/>
          <p:cNvSpPr txBox="1"/>
          <p:nvPr/>
        </p:nvSpPr>
        <p:spPr>
          <a:xfrm>
            <a:off x="1413764" y="5113020"/>
            <a:ext cx="2005330" cy="238760"/>
          </a:xfrm>
          <a:prstGeom prst="rect">
            <a:avLst/>
          </a:prstGeom>
        </p:spPr>
        <p:txBody>
          <a:bodyPr vert="horz" wrap="square" lIns="0" tIns="12700" rIns="0" bIns="0" rtlCol="0">
            <a:spAutoFit/>
          </a:bodyPr>
          <a:lstStyle/>
          <a:p>
            <a:pPr marL="12700">
              <a:lnSpc>
                <a:spcPct val="100000"/>
              </a:lnSpc>
              <a:spcBef>
                <a:spcPts val="100"/>
              </a:spcBef>
            </a:pPr>
            <a:r>
              <a:rPr sz="1400" u="heavy" spc="-55" dirty="0">
                <a:solidFill>
                  <a:srgbClr val="0563C1"/>
                </a:solidFill>
                <a:uFill>
                  <a:solidFill>
                    <a:srgbClr val="0563C1"/>
                  </a:solidFill>
                </a:uFill>
                <a:latin typeface="Arial Black"/>
                <a:cs typeface="Arial Black"/>
                <a:hlinkClick r:id="rId2"/>
              </a:rPr>
              <a:t>Measurement System</a:t>
            </a:r>
            <a:endParaRPr sz="1400">
              <a:latin typeface="Arial Black"/>
              <a:cs typeface="Arial Black"/>
            </a:endParaRPr>
          </a:p>
        </p:txBody>
      </p:sp>
      <p:sp>
        <p:nvSpPr>
          <p:cNvPr id="22" name="object 22"/>
          <p:cNvSpPr txBox="1"/>
          <p:nvPr/>
        </p:nvSpPr>
        <p:spPr>
          <a:xfrm>
            <a:off x="895350" y="5380228"/>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20" dirty="0">
                <a:solidFill>
                  <a:srgbClr val="5A6B80"/>
                </a:solidFill>
                <a:uFill>
                  <a:solidFill>
                    <a:srgbClr val="333333"/>
                  </a:solidFill>
                </a:uFill>
                <a:latin typeface="Calibri"/>
                <a:cs typeface="Calibri"/>
              </a:rPr>
              <a:t>B  ·  NIBIB	</a:t>
            </a:r>
            <a:endParaRPr sz="1150">
              <a:latin typeface="Calibri"/>
              <a:cs typeface="Calibri"/>
            </a:endParaRPr>
          </a:p>
        </p:txBody>
      </p:sp>
      <p:sp>
        <p:nvSpPr>
          <p:cNvPr id="23" name="object 23"/>
          <p:cNvSpPr txBox="1"/>
          <p:nvPr/>
        </p:nvSpPr>
        <p:spPr>
          <a:xfrm>
            <a:off x="5943041" y="5160772"/>
            <a:ext cx="662940" cy="269240"/>
          </a:xfrm>
          <a:prstGeom prst="rect">
            <a:avLst/>
          </a:prstGeom>
        </p:spPr>
        <p:txBody>
          <a:bodyPr vert="horz" wrap="square" lIns="0" tIns="12700" rIns="0" bIns="0" rtlCol="0">
            <a:spAutoFit/>
          </a:bodyPr>
          <a:lstStyle/>
          <a:p>
            <a:pPr marL="12700">
              <a:lnSpc>
                <a:spcPct val="100000"/>
              </a:lnSpc>
              <a:spcBef>
                <a:spcPts val="100"/>
              </a:spcBef>
            </a:pPr>
            <a:r>
              <a:rPr sz="1600" spc="-110" dirty="0">
                <a:solidFill>
                  <a:srgbClr val="022C5E"/>
                </a:solidFill>
                <a:latin typeface="Arial Black"/>
                <a:cs typeface="Arial Black"/>
              </a:rPr>
              <a:t>$323K</a:t>
            </a:r>
            <a:endParaRPr sz="1600">
              <a:latin typeface="Arial Black"/>
              <a:cs typeface="Arial Black"/>
            </a:endParaRPr>
          </a:p>
        </p:txBody>
      </p:sp>
      <p:sp>
        <p:nvSpPr>
          <p:cNvPr id="24" name="object 24"/>
          <p:cNvSpPr txBox="1"/>
          <p:nvPr/>
        </p:nvSpPr>
        <p:spPr>
          <a:xfrm>
            <a:off x="7970203" y="5187188"/>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$2.15M</a:t>
            </a:r>
            <a:endParaRPr sz="1500">
              <a:latin typeface="Arial Black"/>
              <a:cs typeface="Arial Black"/>
            </a:endParaRPr>
          </a:p>
        </p:txBody>
      </p:sp>
      <p:sp>
        <p:nvSpPr>
          <p:cNvPr id="58" name="object 58"/>
          <p:cNvSpPr txBox="1"/>
          <p:nvPr/>
        </p:nvSpPr>
        <p:spPr>
          <a:xfrm>
            <a:off x="9634220" y="5145532"/>
            <a:ext cx="182245" cy="314960"/>
          </a:xfrm>
          <a:prstGeom prst="rect">
            <a:avLst/>
          </a:prstGeom>
        </p:spPr>
        <p:txBody>
          <a:bodyPr vert="horz" wrap="square" lIns="0" tIns="12700" rIns="0" bIns="0" rtlCol="0">
            <a:spAutoFit/>
          </a:bodyPr>
          <a:lstStyle/>
          <a:p>
            <a:pPr marL="12700">
              <a:lnSpc>
                <a:spcPct val="100000"/>
              </a:lnSpc>
              <a:spcBef>
                <a:spcPts val="100"/>
              </a:spcBef>
            </a:pPr>
            <a:r>
              <a:rPr sz="1900" spc="-50" dirty="0">
                <a:solidFill>
                  <a:srgbClr val="022C5E"/>
                </a:solidFill>
                <a:latin typeface="Arial Black"/>
                <a:cs typeface="Arial Black"/>
              </a:rPr>
              <a:t>8</a:t>
            </a:r>
            <a:endParaRPr sz="1900">
              <a:latin typeface="Arial Black"/>
              <a:cs typeface="Arial Black"/>
            </a:endParaRPr>
          </a:p>
        </p:txBody>
      </p:sp>
      <p:sp>
        <p:nvSpPr>
          <p:cNvPr id="59" name="object 59"/>
          <p:cNvSpPr txBox="1"/>
          <p:nvPr/>
        </p:nvSpPr>
        <p:spPr>
          <a:xfrm>
            <a:off x="10146284" y="5113020"/>
            <a:ext cx="1889760" cy="238760"/>
          </a:xfrm>
          <a:prstGeom prst="rect">
            <a:avLst/>
          </a:prstGeom>
        </p:spPr>
        <p:txBody>
          <a:bodyPr vert="horz" wrap="square" lIns="0" tIns="12700" rIns="0" bIns="0" rtlCol="0">
            <a:spAutoFit/>
          </a:bodyPr>
          <a:lstStyle/>
          <a:p>
            <a:pPr marL="12700">
              <a:lnSpc>
                <a:spcPct val="100000"/>
              </a:lnSpc>
              <a:spcBef>
                <a:spcPts val="100"/>
              </a:spcBef>
            </a:pPr>
            <a:r>
              <a:rPr sz="1400" u="heavy" spc="-85" dirty="0">
                <a:solidFill>
                  <a:srgbClr val="0563C1"/>
                </a:solidFill>
                <a:uFill>
                  <a:solidFill>
                    <a:srgbClr val="0563C1"/>
                  </a:solidFill>
                </a:uFill>
                <a:latin typeface="Arial Black"/>
                <a:cs typeface="Arial Black"/>
                <a:hlinkClick r:id="rId2"/>
              </a:rPr>
              <a:t>Aging iPSC Panels</a:t>
            </a:r>
            <a:endParaRPr sz="1400">
              <a:latin typeface="Arial Black"/>
              <a:cs typeface="Arial Black"/>
            </a:endParaRPr>
          </a:p>
        </p:txBody>
      </p:sp>
      <p:sp>
        <p:nvSpPr>
          <p:cNvPr id="60" name="object 60"/>
          <p:cNvSpPr txBox="1"/>
          <p:nvPr/>
        </p:nvSpPr>
        <p:spPr>
          <a:xfrm>
            <a:off x="9627869" y="5380228"/>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25" dirty="0">
                <a:solidFill>
                  <a:srgbClr val="5A6B80"/>
                </a:solidFill>
                <a:uFill>
                  <a:solidFill>
                    <a:srgbClr val="333333"/>
                  </a:solidFill>
                </a:uFill>
                <a:latin typeface="Calibri"/>
                <a:cs typeface="Calibri"/>
              </a:rPr>
              <a:t>A  ·  NIA	</a:t>
            </a:r>
            <a:endParaRPr sz="1150">
              <a:latin typeface="Calibri"/>
              <a:cs typeface="Calibri"/>
            </a:endParaRPr>
          </a:p>
        </p:txBody>
      </p:sp>
      <p:sp>
        <p:nvSpPr>
          <p:cNvPr id="61" name="object 61"/>
          <p:cNvSpPr txBox="1"/>
          <p:nvPr/>
        </p:nvSpPr>
        <p:spPr>
          <a:xfrm>
            <a:off x="14663779" y="5160772"/>
            <a:ext cx="675005" cy="269240"/>
          </a:xfrm>
          <a:prstGeom prst="rect">
            <a:avLst/>
          </a:prstGeom>
        </p:spPr>
        <p:txBody>
          <a:bodyPr vert="horz" wrap="square" lIns="0" tIns="12700" rIns="0" bIns="0" rtlCol="0">
            <a:spAutoFit/>
          </a:bodyPr>
          <a:lstStyle/>
          <a:p>
            <a:pPr marL="12700">
              <a:lnSpc>
                <a:spcPct val="100000"/>
              </a:lnSpc>
              <a:spcBef>
                <a:spcPts val="100"/>
              </a:spcBef>
            </a:pPr>
            <a:r>
              <a:rPr sz="1600" spc="-90" dirty="0">
                <a:solidFill>
                  <a:srgbClr val="022C5E"/>
                </a:solidFill>
                <a:latin typeface="Arial Black"/>
                <a:cs typeface="Arial Black"/>
              </a:rPr>
              <a:t>$700K</a:t>
            </a:r>
            <a:endParaRPr sz="1600">
              <a:latin typeface="Arial Black"/>
              <a:cs typeface="Arial Black"/>
            </a:endParaRPr>
          </a:p>
        </p:txBody>
      </p:sp>
      <p:sp>
        <p:nvSpPr>
          <p:cNvPr id="62" name="object 62"/>
          <p:cNvSpPr txBox="1"/>
          <p:nvPr/>
        </p:nvSpPr>
        <p:spPr>
          <a:xfrm>
            <a:off x="16767492" y="5187188"/>
            <a:ext cx="619125" cy="254000"/>
          </a:xfrm>
          <a:prstGeom prst="rect">
            <a:avLst/>
          </a:prstGeom>
        </p:spPr>
        <p:txBody>
          <a:bodyPr vert="horz" wrap="square" lIns="0" tIns="12700" rIns="0" bIns="0" rtlCol="0">
            <a:spAutoFit/>
          </a:bodyPr>
          <a:lstStyle/>
          <a:p>
            <a:pPr marL="12700">
              <a:lnSpc>
                <a:spcPct val="100000"/>
              </a:lnSpc>
              <a:spcBef>
                <a:spcPts val="100"/>
              </a:spcBef>
            </a:pPr>
            <a:r>
              <a:rPr sz="1500" spc="-45" dirty="0">
                <a:solidFill>
                  <a:srgbClr val="36404F"/>
                </a:solidFill>
                <a:latin typeface="Arial Black"/>
                <a:cs typeface="Arial Black"/>
              </a:rPr>
              <a:t>$3.0M</a:t>
            </a:r>
            <a:endParaRPr sz="1500">
              <a:latin typeface="Arial Black"/>
              <a:cs typeface="Arial Black"/>
            </a:endParaRPr>
          </a:p>
        </p:txBody>
      </p:sp>
      <p:sp>
        <p:nvSpPr>
          <p:cNvPr id="25" name="object 25"/>
          <p:cNvSpPr txBox="1"/>
          <p:nvPr/>
        </p:nvSpPr>
        <p:spPr>
          <a:xfrm>
            <a:off x="901700" y="5730748"/>
            <a:ext cx="171450" cy="314960"/>
          </a:xfrm>
          <a:prstGeom prst="rect">
            <a:avLst/>
          </a:prstGeom>
        </p:spPr>
        <p:txBody>
          <a:bodyPr vert="horz" wrap="square" lIns="0" tIns="12700" rIns="0" bIns="0" rtlCol="0">
            <a:spAutoFit/>
          </a:bodyPr>
          <a:lstStyle/>
          <a:p>
            <a:pPr marL="12700">
              <a:lnSpc>
                <a:spcPct val="100000"/>
              </a:lnSpc>
              <a:spcBef>
                <a:spcPts val="100"/>
              </a:spcBef>
            </a:pPr>
            <a:r>
              <a:rPr sz="1900" spc="-70" dirty="0">
                <a:solidFill>
                  <a:srgbClr val="022C5E"/>
                </a:solidFill>
                <a:latin typeface="Arial Black"/>
                <a:cs typeface="Arial Black"/>
              </a:rPr>
              <a:t>3</a:t>
            </a:r>
            <a:endParaRPr sz="1900">
              <a:latin typeface="Arial Black"/>
              <a:cs typeface="Arial Black"/>
            </a:endParaRPr>
          </a:p>
        </p:txBody>
      </p:sp>
      <p:sp>
        <p:nvSpPr>
          <p:cNvPr id="26" name="object 26"/>
          <p:cNvSpPr txBox="1"/>
          <p:nvPr/>
        </p:nvSpPr>
        <p:spPr>
          <a:xfrm>
            <a:off x="1413764" y="5632682"/>
            <a:ext cx="1961514" cy="534035"/>
          </a:xfrm>
          <a:prstGeom prst="rect">
            <a:avLst/>
          </a:prstGeom>
        </p:spPr>
        <p:txBody>
          <a:bodyPr vert="horz" wrap="square" lIns="0" tIns="78105" rIns="0" bIns="0" rtlCol="0">
            <a:spAutoFit/>
          </a:bodyPr>
          <a:lstStyle/>
          <a:p>
            <a:pPr marL="12700">
              <a:lnSpc>
                <a:spcPct val="100000"/>
              </a:lnSpc>
              <a:spcBef>
                <a:spcPts val="615"/>
              </a:spcBef>
            </a:pPr>
            <a:r>
              <a:rPr sz="1400" u="heavy" spc="-50" dirty="0">
                <a:solidFill>
                  <a:srgbClr val="0563C1"/>
                </a:solidFill>
                <a:uFill>
                  <a:solidFill>
                    <a:srgbClr val="0563C1"/>
                  </a:solidFill>
                </a:uFill>
                <a:latin typeface="Arial Black"/>
                <a:cs typeface="Arial Black"/>
                <a:hlinkClick r:id="rId2"/>
              </a:rPr>
              <a:t>Retinal iPSC Scale-Out</a:t>
            </a:r>
            <a:endParaRPr sz="1400">
              <a:latin typeface="Arial Black"/>
              <a:cs typeface="Arial Black"/>
            </a:endParaRPr>
          </a:p>
          <a:p>
            <a:pPr marL="12700">
              <a:lnSpc>
                <a:spcPct val="100000"/>
              </a:lnSpc>
              <a:spcBef>
                <a:spcPts val="425"/>
              </a:spcBef>
            </a:pPr>
            <a:r>
              <a:rPr sz="1150" spc="-10" dirty="0">
                <a:solidFill>
                  <a:srgbClr val="5A6B80"/>
                </a:solidFill>
                <a:latin typeface="Calibri"/>
                <a:cs typeface="Calibri"/>
              </a:rPr>
              <a:t>A  ·  NEI</a:t>
            </a:r>
            <a:endParaRPr sz="1150">
              <a:latin typeface="Calibri"/>
              <a:cs typeface="Calibri"/>
            </a:endParaRPr>
          </a:p>
        </p:txBody>
      </p:sp>
      <p:sp>
        <p:nvSpPr>
          <p:cNvPr id="27" name="object 27"/>
          <p:cNvSpPr txBox="1"/>
          <p:nvPr/>
        </p:nvSpPr>
        <p:spPr>
          <a:xfrm>
            <a:off x="5902411" y="5745988"/>
            <a:ext cx="703580" cy="269240"/>
          </a:xfrm>
          <a:prstGeom prst="rect">
            <a:avLst/>
          </a:prstGeom>
        </p:spPr>
        <p:txBody>
          <a:bodyPr vert="horz" wrap="square" lIns="0" tIns="12700" rIns="0" bIns="0" rtlCol="0">
            <a:spAutoFit/>
          </a:bodyPr>
          <a:lstStyle/>
          <a:p>
            <a:pPr marL="12700">
              <a:lnSpc>
                <a:spcPct val="100000"/>
              </a:lnSpc>
              <a:spcBef>
                <a:spcPts val="100"/>
              </a:spcBef>
            </a:pPr>
            <a:r>
              <a:rPr sz="1600" spc="-45" dirty="0">
                <a:solidFill>
                  <a:srgbClr val="022C5E"/>
                </a:solidFill>
                <a:latin typeface="Arial Black"/>
                <a:cs typeface="Arial Black"/>
              </a:rPr>
              <a:t>$323K</a:t>
            </a:r>
            <a:endParaRPr sz="1600">
              <a:latin typeface="Arial Black"/>
              <a:cs typeface="Arial Black"/>
            </a:endParaRPr>
          </a:p>
        </p:txBody>
      </p:sp>
      <p:sp>
        <p:nvSpPr>
          <p:cNvPr id="28" name="object 28"/>
          <p:cNvSpPr txBox="1"/>
          <p:nvPr/>
        </p:nvSpPr>
        <p:spPr>
          <a:xfrm>
            <a:off x="7970203" y="5772404"/>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$2.15M</a:t>
            </a:r>
            <a:endParaRPr sz="1500">
              <a:latin typeface="Arial Black"/>
              <a:cs typeface="Arial Black"/>
            </a:endParaRPr>
          </a:p>
        </p:txBody>
      </p:sp>
      <p:sp>
        <p:nvSpPr>
          <p:cNvPr id="63" name="object 63"/>
          <p:cNvSpPr txBox="1"/>
          <p:nvPr/>
        </p:nvSpPr>
        <p:spPr>
          <a:xfrm>
            <a:off x="9634220" y="5730748"/>
            <a:ext cx="173990" cy="314960"/>
          </a:xfrm>
          <a:prstGeom prst="rect">
            <a:avLst/>
          </a:prstGeom>
        </p:spPr>
        <p:txBody>
          <a:bodyPr vert="horz" wrap="square" lIns="0" tIns="12700" rIns="0" bIns="0" rtlCol="0">
            <a:spAutoFit/>
          </a:bodyPr>
          <a:lstStyle/>
          <a:p>
            <a:pPr marL="12700">
              <a:lnSpc>
                <a:spcPct val="100000"/>
              </a:lnSpc>
              <a:spcBef>
                <a:spcPts val="100"/>
              </a:spcBef>
            </a:pPr>
            <a:r>
              <a:rPr sz="1900" spc="-50" dirty="0">
                <a:solidFill>
                  <a:srgbClr val="022C5E"/>
                </a:solidFill>
                <a:latin typeface="Arial Black"/>
                <a:cs typeface="Arial Black"/>
              </a:rPr>
              <a:t>9</a:t>
            </a:r>
            <a:endParaRPr sz="1900">
              <a:latin typeface="Arial Black"/>
              <a:cs typeface="Arial Black"/>
            </a:endParaRPr>
          </a:p>
        </p:txBody>
      </p:sp>
      <p:sp>
        <p:nvSpPr>
          <p:cNvPr id="64" name="object 64"/>
          <p:cNvSpPr txBox="1"/>
          <p:nvPr/>
        </p:nvSpPr>
        <p:spPr>
          <a:xfrm>
            <a:off x="10146284" y="5632682"/>
            <a:ext cx="2223135" cy="534035"/>
          </a:xfrm>
          <a:prstGeom prst="rect">
            <a:avLst/>
          </a:prstGeom>
        </p:spPr>
        <p:txBody>
          <a:bodyPr vert="horz" wrap="square" lIns="0" tIns="78105" rIns="0" bIns="0" rtlCol="0">
            <a:spAutoFit/>
          </a:bodyPr>
          <a:lstStyle/>
          <a:p>
            <a:pPr marL="12700">
              <a:lnSpc>
                <a:spcPct val="100000"/>
              </a:lnSpc>
              <a:spcBef>
                <a:spcPts val="615"/>
              </a:spcBef>
            </a:pPr>
            <a:r>
              <a:rPr sz="1400" u="heavy" spc="-60" dirty="0">
                <a:solidFill>
                  <a:srgbClr val="0563C1"/>
                </a:solidFill>
                <a:uFill>
                  <a:solidFill>
                    <a:srgbClr val="0563C1"/>
                  </a:solidFill>
                </a:uFill>
                <a:latin typeface="Arial Black"/>
                <a:cs typeface="Arial Black"/>
                <a:hlinkClick r:id="rId2"/>
              </a:rPr>
              <a:t>Immune Cell Automation</a:t>
            </a:r>
            <a:endParaRPr sz="1400">
              <a:latin typeface="Arial Black"/>
              <a:cs typeface="Arial Black"/>
            </a:endParaRPr>
          </a:p>
          <a:p>
            <a:pPr marL="12700">
              <a:lnSpc>
                <a:spcPct val="100000"/>
              </a:lnSpc>
              <a:spcBef>
                <a:spcPts val="425"/>
              </a:spcBef>
            </a:pPr>
            <a:r>
              <a:rPr sz="1150" spc="-10" dirty="0">
                <a:solidFill>
                  <a:srgbClr val="5A6B80"/>
                </a:solidFill>
                <a:latin typeface="Calibri"/>
                <a:cs typeface="Calibri"/>
              </a:rPr>
              <a:t>D  ·  NCI</a:t>
            </a:r>
            <a:endParaRPr sz="1150">
              <a:latin typeface="Calibri"/>
              <a:cs typeface="Calibri"/>
            </a:endParaRPr>
          </a:p>
        </p:txBody>
      </p:sp>
      <p:sp>
        <p:nvSpPr>
          <p:cNvPr id="65" name="object 65"/>
          <p:cNvSpPr txBox="1"/>
          <p:nvPr/>
        </p:nvSpPr>
        <p:spPr>
          <a:xfrm>
            <a:off x="14675561" y="5745988"/>
            <a:ext cx="662940" cy="269240"/>
          </a:xfrm>
          <a:prstGeom prst="rect">
            <a:avLst/>
          </a:prstGeom>
        </p:spPr>
        <p:txBody>
          <a:bodyPr vert="horz" wrap="square" lIns="0" tIns="12700" rIns="0" bIns="0" rtlCol="0">
            <a:spAutoFit/>
          </a:bodyPr>
          <a:lstStyle/>
          <a:p>
            <a:pPr marL="12700">
              <a:lnSpc>
                <a:spcPct val="100000"/>
              </a:lnSpc>
              <a:spcBef>
                <a:spcPts val="100"/>
              </a:spcBef>
            </a:pPr>
            <a:r>
              <a:rPr sz="1600" spc="-110" dirty="0">
                <a:solidFill>
                  <a:srgbClr val="022C5E"/>
                </a:solidFill>
                <a:latin typeface="Arial Black"/>
                <a:cs typeface="Arial Black"/>
              </a:rPr>
              <a:t>$700K</a:t>
            </a:r>
            <a:endParaRPr sz="1600">
              <a:latin typeface="Arial Black"/>
              <a:cs typeface="Arial Black"/>
            </a:endParaRPr>
          </a:p>
        </p:txBody>
      </p:sp>
      <p:sp>
        <p:nvSpPr>
          <p:cNvPr id="66" name="object 66"/>
          <p:cNvSpPr txBox="1"/>
          <p:nvPr/>
        </p:nvSpPr>
        <p:spPr>
          <a:xfrm>
            <a:off x="16702723" y="5772404"/>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$2.5M</a:t>
            </a:r>
            <a:endParaRPr sz="1500">
              <a:latin typeface="Arial Black"/>
              <a:cs typeface="Arial Black"/>
            </a:endParaRPr>
          </a:p>
        </p:txBody>
      </p:sp>
      <p:sp>
        <p:nvSpPr>
          <p:cNvPr id="29" name="object 29"/>
          <p:cNvSpPr txBox="1"/>
          <p:nvPr/>
        </p:nvSpPr>
        <p:spPr>
          <a:xfrm>
            <a:off x="901700" y="6429756"/>
            <a:ext cx="1125855" cy="238760"/>
          </a:xfrm>
          <a:prstGeom prst="rect">
            <a:avLst/>
          </a:prstGeom>
        </p:spPr>
        <p:txBody>
          <a:bodyPr vert="horz" wrap="square" lIns="0" tIns="12700" rIns="0" bIns="0" rtlCol="0">
            <a:spAutoFit/>
          </a:bodyPr>
          <a:lstStyle/>
          <a:p>
            <a:pPr marL="12700">
              <a:lnSpc>
                <a:spcPct val="100000"/>
              </a:lnSpc>
              <a:spcBef>
                <a:spcPts val="100"/>
              </a:spcBef>
            </a:pPr>
            <a:r>
              <a:rPr sz="1400" spc="-165" dirty="0">
                <a:solidFill>
                  <a:srgbClr val="162739"/>
                </a:solidFill>
                <a:latin typeface="Arial Black"/>
                <a:cs typeface="Arial Black"/>
              </a:rPr>
              <a:t>5 APRIL 2027</a:t>
            </a:r>
            <a:endParaRPr sz="1400">
              <a:latin typeface="Arial Black"/>
              <a:cs typeface="Arial Black"/>
            </a:endParaRPr>
          </a:p>
        </p:txBody>
      </p:sp>
      <p:sp>
        <p:nvSpPr>
          <p:cNvPr id="30" name="object 30"/>
          <p:cNvSpPr txBox="1"/>
          <p:nvPr/>
        </p:nvSpPr>
        <p:spPr>
          <a:xfrm>
            <a:off x="6201216" y="6473444"/>
            <a:ext cx="245046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A6B80"/>
                </a:solidFill>
                <a:latin typeface="Calibri"/>
                <a:cs typeface="Calibri"/>
              </a:rPr>
              <a:t>three applications · NINDS, NIAMS, NHLBI</a:t>
            </a:r>
            <a:endParaRPr sz="1200">
              <a:latin typeface="Calibri"/>
              <a:cs typeface="Calibri"/>
            </a:endParaRPr>
          </a:p>
        </p:txBody>
      </p:sp>
      <p:sp>
        <p:nvSpPr>
          <p:cNvPr id="67" name="object 67"/>
          <p:cNvSpPr txBox="1"/>
          <p:nvPr/>
        </p:nvSpPr>
        <p:spPr>
          <a:xfrm>
            <a:off x="9634220" y="6429756"/>
            <a:ext cx="1536065" cy="238760"/>
          </a:xfrm>
          <a:prstGeom prst="rect">
            <a:avLst/>
          </a:prstGeom>
        </p:spPr>
        <p:txBody>
          <a:bodyPr vert="horz" wrap="square" lIns="0" tIns="12700" rIns="0" bIns="0" rtlCol="0">
            <a:spAutoFit/>
          </a:bodyPr>
          <a:lstStyle/>
          <a:p>
            <a:pPr marL="12700">
              <a:lnSpc>
                <a:spcPct val="100000"/>
              </a:lnSpc>
              <a:spcBef>
                <a:spcPts val="100"/>
              </a:spcBef>
            </a:pPr>
            <a:r>
              <a:rPr sz="1400" spc="-130" dirty="0">
                <a:solidFill>
                  <a:srgbClr val="162739"/>
                </a:solidFill>
                <a:latin typeface="Arial Black"/>
                <a:cs typeface="Arial Black"/>
              </a:rPr>
              <a:t>ROLLING / PENDING</a:t>
            </a:r>
            <a:endParaRPr sz="1400">
              <a:latin typeface="Arial Black"/>
              <a:cs typeface="Arial Black"/>
            </a:endParaRPr>
          </a:p>
        </p:txBody>
      </p:sp>
      <p:sp>
        <p:nvSpPr>
          <p:cNvPr id="68" name="object 68"/>
          <p:cNvSpPr txBox="1"/>
          <p:nvPr/>
        </p:nvSpPr>
        <p:spPr>
          <a:xfrm>
            <a:off x="14890948" y="6473444"/>
            <a:ext cx="249364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A6B80"/>
                </a:solidFill>
                <a:latin typeface="Calibri"/>
                <a:cs typeface="Calibri"/>
              </a:rPr>
              <a:t>three applications · NSF, ARMI, DoD CDMRP</a:t>
            </a:r>
            <a:endParaRPr sz="1200">
              <a:latin typeface="Calibri"/>
              <a:cs typeface="Calibri"/>
            </a:endParaRPr>
          </a:p>
        </p:txBody>
      </p:sp>
      <p:grpSp>
        <p:nvGrpSpPr>
          <p:cNvPr id="31" name="object 31"/>
          <p:cNvGrpSpPr/>
          <p:nvPr/>
        </p:nvGrpSpPr>
        <p:grpSpPr>
          <a:xfrm>
            <a:off x="908050" y="6815073"/>
            <a:ext cx="7739380" cy="26034"/>
            <a:chOff x="908050" y="6815073"/>
            <a:chExt cx="7739380" cy="26034"/>
          </a:xfrm>
        </p:grpSpPr>
        <p:sp>
          <p:nvSpPr>
            <p:cNvPr id="32" name="object 32"/>
            <p:cNvSpPr/>
            <p:nvPr/>
          </p:nvSpPr>
          <p:spPr>
            <a:xfrm>
              <a:off x="914400" y="6821423"/>
              <a:ext cx="7726680" cy="13335"/>
            </a:xfrm>
            <a:custGeom>
              <a:avLst/>
              <a:gdLst/>
              <a:ahLst/>
              <a:cxnLst/>
              <a:rect l="l" t="t" r="r" b="b"/>
              <a:pathLst>
                <a:path w="7726680" h="13334">
                  <a:moveTo>
                    <a:pt x="7726679" y="12801"/>
                  </a:moveTo>
                  <a:lnTo>
                    <a:pt x="0" y="12801"/>
                  </a:lnTo>
                  <a:lnTo>
                    <a:pt x="0" y="0"/>
                  </a:lnTo>
                  <a:lnTo>
                    <a:pt x="7726679" y="0"/>
                  </a:lnTo>
                  <a:lnTo>
                    <a:pt x="7726679" y="12801"/>
                  </a:lnTo>
                  <a:close/>
                </a:path>
              </a:pathLst>
            </a:custGeom>
            <a:solidFill>
              <a:srgbClr val="E4E9F0"/>
            </a:solidFill>
          </p:spPr>
          <p:txBody>
            <a:bodyPr wrap="square" lIns="0" tIns="0" rIns="0" bIns="0" rtlCol="0"/>
            <a:lstStyle/>
            <a:p>
              <a:endParaRPr/>
            </a:p>
          </p:txBody>
        </p:sp>
        <p:sp>
          <p:nvSpPr>
            <p:cNvPr id="33" name="object 33"/>
            <p:cNvSpPr/>
            <p:nvPr/>
          </p:nvSpPr>
          <p:spPr>
            <a:xfrm>
              <a:off x="914400" y="6821423"/>
              <a:ext cx="7726680" cy="13335"/>
            </a:xfrm>
            <a:custGeom>
              <a:avLst/>
              <a:gdLst/>
              <a:ahLst/>
              <a:cxnLst/>
              <a:rect l="l" t="t" r="r" b="b"/>
              <a:pathLst>
                <a:path w="7726680" h="13334">
                  <a:moveTo>
                    <a:pt x="0" y="0"/>
                  </a:moveTo>
                  <a:lnTo>
                    <a:pt x="7726679" y="0"/>
                  </a:lnTo>
                  <a:lnTo>
                    <a:pt x="7726679" y="12801"/>
                  </a:lnTo>
                  <a:lnTo>
                    <a:pt x="0" y="12801"/>
                  </a:lnTo>
                  <a:lnTo>
                    <a:pt x="0" y="0"/>
                  </a:lnTo>
                  <a:close/>
                </a:path>
              </a:pathLst>
            </a:custGeom>
            <a:ln w="12699">
              <a:solidFill>
                <a:srgbClr val="333333"/>
              </a:solidFill>
            </a:ln>
          </p:spPr>
          <p:txBody>
            <a:bodyPr wrap="square" lIns="0" tIns="0" rIns="0" bIns="0" rtlCol="0"/>
            <a:lstStyle/>
            <a:p>
              <a:endParaRPr/>
            </a:p>
          </p:txBody>
        </p:sp>
      </p:grpSp>
      <p:grpSp>
        <p:nvGrpSpPr>
          <p:cNvPr id="69" name="object 69"/>
          <p:cNvGrpSpPr/>
          <p:nvPr/>
        </p:nvGrpSpPr>
        <p:grpSpPr>
          <a:xfrm>
            <a:off x="9640569" y="6815073"/>
            <a:ext cx="7739380" cy="26034"/>
            <a:chOff x="9640569" y="6815073"/>
            <a:chExt cx="7739380" cy="26034"/>
          </a:xfrm>
        </p:grpSpPr>
        <p:sp>
          <p:nvSpPr>
            <p:cNvPr id="70" name="object 70"/>
            <p:cNvSpPr/>
            <p:nvPr/>
          </p:nvSpPr>
          <p:spPr>
            <a:xfrm>
              <a:off x="9646919" y="6821423"/>
              <a:ext cx="7726680" cy="13335"/>
            </a:xfrm>
            <a:custGeom>
              <a:avLst/>
              <a:gdLst/>
              <a:ahLst/>
              <a:cxnLst/>
              <a:rect l="l" t="t" r="r" b="b"/>
              <a:pathLst>
                <a:path w="7726680" h="13334">
                  <a:moveTo>
                    <a:pt x="7726679" y="12801"/>
                  </a:moveTo>
                  <a:lnTo>
                    <a:pt x="0" y="12801"/>
                  </a:lnTo>
                  <a:lnTo>
                    <a:pt x="0" y="0"/>
                  </a:lnTo>
                  <a:lnTo>
                    <a:pt x="7726679" y="0"/>
                  </a:lnTo>
                  <a:lnTo>
                    <a:pt x="7726679" y="12801"/>
                  </a:lnTo>
                  <a:close/>
                </a:path>
              </a:pathLst>
            </a:custGeom>
            <a:solidFill>
              <a:srgbClr val="E4E9F0"/>
            </a:solidFill>
          </p:spPr>
          <p:txBody>
            <a:bodyPr wrap="square" lIns="0" tIns="0" rIns="0" bIns="0" rtlCol="0"/>
            <a:lstStyle/>
            <a:p>
              <a:endParaRPr/>
            </a:p>
          </p:txBody>
        </p:sp>
        <p:sp>
          <p:nvSpPr>
            <p:cNvPr id="71" name="object 71"/>
            <p:cNvSpPr/>
            <p:nvPr/>
          </p:nvSpPr>
          <p:spPr>
            <a:xfrm>
              <a:off x="9646919" y="6821423"/>
              <a:ext cx="7726680" cy="13335"/>
            </a:xfrm>
            <a:custGeom>
              <a:avLst/>
              <a:gdLst/>
              <a:ahLst/>
              <a:cxnLst/>
              <a:rect l="l" t="t" r="r" b="b"/>
              <a:pathLst>
                <a:path w="7726680" h="13334">
                  <a:moveTo>
                    <a:pt x="0" y="0"/>
                  </a:moveTo>
                  <a:lnTo>
                    <a:pt x="7726679" y="0"/>
                  </a:lnTo>
                  <a:lnTo>
                    <a:pt x="772667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34" name="object 34"/>
          <p:cNvSpPr txBox="1"/>
          <p:nvPr/>
        </p:nvSpPr>
        <p:spPr>
          <a:xfrm>
            <a:off x="901700" y="6974332"/>
            <a:ext cx="189230" cy="314960"/>
          </a:xfrm>
          <a:prstGeom prst="rect">
            <a:avLst/>
          </a:prstGeom>
        </p:spPr>
        <p:txBody>
          <a:bodyPr vert="horz" wrap="square" lIns="0" tIns="12700" rIns="0" bIns="0" rtlCol="0">
            <a:spAutoFit/>
          </a:bodyPr>
          <a:lstStyle/>
          <a:p>
            <a:pPr marL="12700">
              <a:lnSpc>
                <a:spcPct val="100000"/>
              </a:lnSpc>
              <a:spcBef>
                <a:spcPts val="100"/>
              </a:spcBef>
            </a:pPr>
            <a:r>
              <a:rPr sz="1900" spc="-50" dirty="0">
                <a:solidFill>
                  <a:srgbClr val="022C5E"/>
                </a:solidFill>
                <a:latin typeface="Arial Black"/>
                <a:cs typeface="Arial Black"/>
              </a:rPr>
              <a:t>4</a:t>
            </a:r>
            <a:endParaRPr sz="1900">
              <a:latin typeface="Arial Black"/>
              <a:cs typeface="Arial Black"/>
            </a:endParaRPr>
          </a:p>
        </p:txBody>
      </p:sp>
      <p:sp>
        <p:nvSpPr>
          <p:cNvPr id="35" name="object 35"/>
          <p:cNvSpPr txBox="1"/>
          <p:nvPr/>
        </p:nvSpPr>
        <p:spPr>
          <a:xfrm>
            <a:off x="1413764" y="6941820"/>
            <a:ext cx="2245360" cy="238760"/>
          </a:xfrm>
          <a:prstGeom prst="rect">
            <a:avLst/>
          </a:prstGeom>
        </p:spPr>
        <p:txBody>
          <a:bodyPr vert="horz" wrap="square" lIns="0" tIns="12700" rIns="0" bIns="0" rtlCol="0">
            <a:spAutoFit/>
          </a:bodyPr>
          <a:lstStyle/>
          <a:p>
            <a:pPr marL="12700">
              <a:lnSpc>
                <a:spcPct val="100000"/>
              </a:lnSpc>
              <a:spcBef>
                <a:spcPts val="100"/>
              </a:spcBef>
            </a:pPr>
            <a:r>
              <a:rPr sz="1400" u="heavy" spc="-45" dirty="0">
                <a:solidFill>
                  <a:srgbClr val="0563C1"/>
                </a:solidFill>
                <a:uFill>
                  <a:solidFill>
                    <a:srgbClr val="0563C1"/>
                  </a:solidFill>
                </a:uFill>
                <a:latin typeface="Arial Black"/>
                <a:cs typeface="Arial Black"/>
                <a:hlinkClick r:id="rId3"/>
              </a:rPr>
              <a:t>Neural Therapy QC Tool</a:t>
            </a:r>
            <a:endParaRPr sz="1400">
              <a:latin typeface="Arial Black"/>
              <a:cs typeface="Arial Black"/>
            </a:endParaRPr>
          </a:p>
        </p:txBody>
      </p:sp>
      <p:sp>
        <p:nvSpPr>
          <p:cNvPr id="36" name="object 36"/>
          <p:cNvSpPr txBox="1"/>
          <p:nvPr/>
        </p:nvSpPr>
        <p:spPr>
          <a:xfrm>
            <a:off x="895350" y="7209028"/>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25" dirty="0">
                <a:solidFill>
                  <a:srgbClr val="5A6B80"/>
                </a:solidFill>
                <a:uFill>
                  <a:solidFill>
                    <a:srgbClr val="333333"/>
                  </a:solidFill>
                </a:uFill>
                <a:latin typeface="Calibri"/>
                <a:cs typeface="Calibri"/>
              </a:rPr>
              <a:t>A  ·  NINDS	</a:t>
            </a:r>
            <a:endParaRPr sz="1150">
              <a:latin typeface="Calibri"/>
              <a:cs typeface="Calibri"/>
            </a:endParaRPr>
          </a:p>
        </p:txBody>
      </p:sp>
      <p:sp>
        <p:nvSpPr>
          <p:cNvPr id="37" name="object 37"/>
          <p:cNvSpPr txBox="1"/>
          <p:nvPr/>
        </p:nvSpPr>
        <p:spPr>
          <a:xfrm>
            <a:off x="5931259" y="6989571"/>
            <a:ext cx="675005" cy="269240"/>
          </a:xfrm>
          <a:prstGeom prst="rect">
            <a:avLst/>
          </a:prstGeom>
        </p:spPr>
        <p:txBody>
          <a:bodyPr vert="horz" wrap="square" lIns="0" tIns="12700" rIns="0" bIns="0" rtlCol="0">
            <a:spAutoFit/>
          </a:bodyPr>
          <a:lstStyle/>
          <a:p>
            <a:pPr marL="12700">
              <a:lnSpc>
                <a:spcPct val="100000"/>
              </a:lnSpc>
              <a:spcBef>
                <a:spcPts val="100"/>
              </a:spcBef>
            </a:pPr>
            <a:r>
              <a:rPr sz="1600" spc="-90" dirty="0">
                <a:solidFill>
                  <a:srgbClr val="022C5E"/>
                </a:solidFill>
                <a:latin typeface="Arial Black"/>
                <a:cs typeface="Arial Black"/>
              </a:rPr>
              <a:t>$323K</a:t>
            </a:r>
            <a:endParaRPr sz="1600">
              <a:latin typeface="Arial Black"/>
              <a:cs typeface="Arial Black"/>
            </a:endParaRPr>
          </a:p>
        </p:txBody>
      </p:sp>
      <p:sp>
        <p:nvSpPr>
          <p:cNvPr id="38" name="object 38"/>
          <p:cNvSpPr txBox="1"/>
          <p:nvPr/>
        </p:nvSpPr>
        <p:spPr>
          <a:xfrm>
            <a:off x="7970076" y="7015988"/>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$2.15M</a:t>
            </a:r>
            <a:endParaRPr sz="1500">
              <a:latin typeface="Arial Black"/>
              <a:cs typeface="Arial Black"/>
            </a:endParaRPr>
          </a:p>
        </p:txBody>
      </p:sp>
      <p:sp>
        <p:nvSpPr>
          <p:cNvPr id="72" name="object 72"/>
          <p:cNvSpPr txBox="1"/>
          <p:nvPr/>
        </p:nvSpPr>
        <p:spPr>
          <a:xfrm>
            <a:off x="9634220" y="6974332"/>
            <a:ext cx="273685" cy="314960"/>
          </a:xfrm>
          <a:prstGeom prst="rect">
            <a:avLst/>
          </a:prstGeom>
        </p:spPr>
        <p:txBody>
          <a:bodyPr vert="horz" wrap="square" lIns="0" tIns="12700" rIns="0" bIns="0" rtlCol="0">
            <a:spAutoFit/>
          </a:bodyPr>
          <a:lstStyle/>
          <a:p>
            <a:pPr marL="12700">
              <a:lnSpc>
                <a:spcPct val="100000"/>
              </a:lnSpc>
              <a:spcBef>
                <a:spcPts val="100"/>
              </a:spcBef>
            </a:pPr>
            <a:r>
              <a:rPr sz="1900" spc="-320" dirty="0">
                <a:solidFill>
                  <a:srgbClr val="022C5E"/>
                </a:solidFill>
                <a:latin typeface="Arial Black"/>
                <a:cs typeface="Arial Black"/>
              </a:rPr>
              <a:t>10</a:t>
            </a:r>
            <a:endParaRPr sz="1900">
              <a:latin typeface="Arial Black"/>
              <a:cs typeface="Arial Black"/>
            </a:endParaRPr>
          </a:p>
        </p:txBody>
      </p:sp>
      <p:sp>
        <p:nvSpPr>
          <p:cNvPr id="73" name="object 73"/>
          <p:cNvSpPr txBox="1"/>
          <p:nvPr/>
        </p:nvSpPr>
        <p:spPr>
          <a:xfrm>
            <a:off x="10146284" y="6941820"/>
            <a:ext cx="2589530" cy="238760"/>
          </a:xfrm>
          <a:prstGeom prst="rect">
            <a:avLst/>
          </a:prstGeom>
        </p:spPr>
        <p:txBody>
          <a:bodyPr vert="horz" wrap="square" lIns="0" tIns="12700" rIns="0" bIns="0" rtlCol="0">
            <a:spAutoFit/>
          </a:bodyPr>
          <a:lstStyle/>
          <a:p>
            <a:pPr marL="12700">
              <a:lnSpc>
                <a:spcPct val="100000"/>
              </a:lnSpc>
              <a:spcBef>
                <a:spcPts val="100"/>
              </a:spcBef>
            </a:pPr>
            <a:r>
              <a:rPr sz="1400" u="heavy" spc="-55" dirty="0">
                <a:solidFill>
                  <a:srgbClr val="0563C1"/>
                </a:solidFill>
                <a:uFill>
                  <a:solidFill>
                    <a:srgbClr val="0563C1"/>
                  </a:solidFill>
                </a:uFill>
                <a:latin typeface="Arial Black"/>
                <a:cs typeface="Arial Black"/>
                <a:hlinkClick r:id="rId4"/>
              </a:rPr>
              <a:t>America’s Seed Fund</a:t>
            </a:r>
            <a:endParaRPr sz="1400">
              <a:latin typeface="Arial Black"/>
              <a:cs typeface="Arial Black"/>
            </a:endParaRPr>
          </a:p>
        </p:txBody>
      </p:sp>
      <p:sp>
        <p:nvSpPr>
          <p:cNvPr id="74" name="object 74"/>
          <p:cNvSpPr txBox="1"/>
          <p:nvPr/>
        </p:nvSpPr>
        <p:spPr>
          <a:xfrm>
            <a:off x="9627869" y="7209028"/>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20" dirty="0">
                <a:solidFill>
                  <a:srgbClr val="5A6B80"/>
                </a:solidFill>
                <a:uFill>
                  <a:solidFill>
                    <a:srgbClr val="333333"/>
                  </a:solidFill>
                </a:uFill>
                <a:latin typeface="Calibri"/>
                <a:cs typeface="Calibri"/>
              </a:rPr>
              <a:t>B  ·  NSF	</a:t>
            </a:r>
            <a:endParaRPr sz="1150">
              <a:latin typeface="Calibri"/>
              <a:cs typeface="Calibri"/>
            </a:endParaRPr>
          </a:p>
        </p:txBody>
      </p:sp>
      <p:sp>
        <p:nvSpPr>
          <p:cNvPr id="75" name="object 75"/>
          <p:cNvSpPr txBox="1"/>
          <p:nvPr/>
        </p:nvSpPr>
        <p:spPr>
          <a:xfrm>
            <a:off x="14726350" y="6867780"/>
            <a:ext cx="806767" cy="259045"/>
          </a:xfrm>
          <a:prstGeom prst="rect">
            <a:avLst/>
          </a:prstGeom>
        </p:spPr>
        <p:txBody>
          <a:bodyPr vert="horz" wrap="square" lIns="0" tIns="12700" rIns="0" bIns="0" rtlCol="0">
            <a:spAutoFit/>
          </a:bodyPr>
          <a:lstStyle/>
          <a:p>
            <a:pPr marL="12700">
              <a:lnSpc>
                <a:spcPct val="100000"/>
              </a:lnSpc>
              <a:spcBef>
                <a:spcPts val="100"/>
              </a:spcBef>
            </a:pPr>
            <a:r>
              <a:rPr sz="1600" spc="-50" dirty="0">
                <a:solidFill>
                  <a:srgbClr val="022C5E"/>
                </a:solidFill>
                <a:latin typeface="Arial Black"/>
                <a:cs typeface="Arial Black"/>
              </a:rPr>
              <a:t>$305K</a:t>
            </a:r>
            <a:endParaRPr sz="1600" dirty="0">
              <a:latin typeface="Arial Black"/>
              <a:cs typeface="Arial Black"/>
            </a:endParaRPr>
          </a:p>
        </p:txBody>
      </p:sp>
      <p:sp>
        <p:nvSpPr>
          <p:cNvPr id="76" name="object 76"/>
          <p:cNvSpPr txBox="1"/>
          <p:nvPr/>
        </p:nvSpPr>
        <p:spPr>
          <a:xfrm>
            <a:off x="16411457" y="7044435"/>
            <a:ext cx="975360" cy="200660"/>
          </a:xfrm>
          <a:prstGeom prst="rect">
            <a:avLst/>
          </a:prstGeom>
        </p:spPr>
        <p:txBody>
          <a:bodyPr vert="horz" wrap="square" lIns="0" tIns="12700" rIns="0" bIns="0" rtlCol="0">
            <a:spAutoFit/>
          </a:bodyPr>
          <a:lstStyle/>
          <a:p>
            <a:pPr marL="12700">
              <a:lnSpc>
                <a:spcPct val="100000"/>
              </a:lnSpc>
              <a:spcBef>
                <a:spcPts val="100"/>
              </a:spcBef>
            </a:pPr>
            <a:r>
              <a:rPr sz="1150" dirty="0">
                <a:solidFill>
                  <a:srgbClr val="5A6B80"/>
                </a:solidFill>
                <a:latin typeface="Lucida Sans Unicode"/>
                <a:cs typeface="Lucida Sans Unicode"/>
              </a:rPr>
              <a:t>$1.25M</a:t>
            </a:r>
            <a:endParaRPr sz="1150">
              <a:latin typeface="Lucida Sans Unicode"/>
              <a:cs typeface="Lucida Sans Unicode"/>
            </a:endParaRPr>
          </a:p>
        </p:txBody>
      </p:sp>
      <p:sp>
        <p:nvSpPr>
          <p:cNvPr id="39" name="object 39"/>
          <p:cNvSpPr txBox="1"/>
          <p:nvPr/>
        </p:nvSpPr>
        <p:spPr>
          <a:xfrm>
            <a:off x="901700" y="7559547"/>
            <a:ext cx="182245" cy="314960"/>
          </a:xfrm>
          <a:prstGeom prst="rect">
            <a:avLst/>
          </a:prstGeom>
        </p:spPr>
        <p:txBody>
          <a:bodyPr vert="horz" wrap="square" lIns="0" tIns="12700" rIns="0" bIns="0" rtlCol="0">
            <a:spAutoFit/>
          </a:bodyPr>
          <a:lstStyle/>
          <a:p>
            <a:pPr marL="12700">
              <a:lnSpc>
                <a:spcPct val="100000"/>
              </a:lnSpc>
              <a:spcBef>
                <a:spcPts val="100"/>
              </a:spcBef>
            </a:pPr>
            <a:r>
              <a:rPr sz="1900" spc="-50" dirty="0">
                <a:solidFill>
                  <a:srgbClr val="022C5E"/>
                </a:solidFill>
                <a:latin typeface="Arial Black"/>
                <a:cs typeface="Arial Black"/>
              </a:rPr>
              <a:t>5</a:t>
            </a:r>
            <a:endParaRPr sz="1900">
              <a:latin typeface="Arial Black"/>
              <a:cs typeface="Arial Black"/>
            </a:endParaRPr>
          </a:p>
        </p:txBody>
      </p:sp>
      <p:sp>
        <p:nvSpPr>
          <p:cNvPr id="40" name="object 40"/>
          <p:cNvSpPr txBox="1"/>
          <p:nvPr/>
        </p:nvSpPr>
        <p:spPr>
          <a:xfrm>
            <a:off x="1413764" y="7527036"/>
            <a:ext cx="1981200" cy="238760"/>
          </a:xfrm>
          <a:prstGeom prst="rect">
            <a:avLst/>
          </a:prstGeom>
        </p:spPr>
        <p:txBody>
          <a:bodyPr vert="horz" wrap="square" lIns="0" tIns="12700" rIns="0" bIns="0" rtlCol="0">
            <a:spAutoFit/>
          </a:bodyPr>
          <a:lstStyle/>
          <a:p>
            <a:pPr marL="12700">
              <a:lnSpc>
                <a:spcPct val="100000"/>
              </a:lnSpc>
              <a:spcBef>
                <a:spcPts val="100"/>
              </a:spcBef>
            </a:pPr>
            <a:r>
              <a:rPr sz="1400" u="heavy" spc="-65" dirty="0">
                <a:solidFill>
                  <a:srgbClr val="0563C1"/>
                </a:solidFill>
                <a:uFill>
                  <a:solidFill>
                    <a:srgbClr val="0563C1"/>
                  </a:solidFill>
                </a:uFill>
                <a:latin typeface="Arial Black"/>
                <a:cs typeface="Arial Black"/>
                <a:hlinkClick r:id="rId2"/>
              </a:rPr>
              <a:t>CTP Potency Assay</a:t>
            </a:r>
            <a:endParaRPr sz="1400">
              <a:latin typeface="Arial Black"/>
              <a:cs typeface="Arial Black"/>
            </a:endParaRPr>
          </a:p>
        </p:txBody>
      </p:sp>
      <p:sp>
        <p:nvSpPr>
          <p:cNvPr id="41" name="object 41"/>
          <p:cNvSpPr txBox="1"/>
          <p:nvPr/>
        </p:nvSpPr>
        <p:spPr>
          <a:xfrm>
            <a:off x="895350" y="7794244"/>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20" dirty="0">
                <a:solidFill>
                  <a:srgbClr val="5A6B80"/>
                </a:solidFill>
                <a:uFill>
                  <a:solidFill>
                    <a:srgbClr val="333333"/>
                  </a:solidFill>
                </a:uFill>
                <a:latin typeface="Calibri"/>
                <a:cs typeface="Calibri"/>
              </a:rPr>
              <a:t>C  ·  NIAMS	</a:t>
            </a:r>
            <a:endParaRPr sz="1150">
              <a:latin typeface="Calibri"/>
              <a:cs typeface="Calibri"/>
            </a:endParaRPr>
          </a:p>
        </p:txBody>
      </p:sp>
      <p:sp>
        <p:nvSpPr>
          <p:cNvPr id="42" name="object 42"/>
          <p:cNvSpPr txBox="1"/>
          <p:nvPr/>
        </p:nvSpPr>
        <p:spPr>
          <a:xfrm>
            <a:off x="5943041" y="7574788"/>
            <a:ext cx="662940" cy="269240"/>
          </a:xfrm>
          <a:prstGeom prst="rect">
            <a:avLst/>
          </a:prstGeom>
        </p:spPr>
        <p:txBody>
          <a:bodyPr vert="horz" wrap="square" lIns="0" tIns="12700" rIns="0" bIns="0" rtlCol="0">
            <a:spAutoFit/>
          </a:bodyPr>
          <a:lstStyle/>
          <a:p>
            <a:pPr marL="12700">
              <a:lnSpc>
                <a:spcPct val="100000"/>
              </a:lnSpc>
              <a:spcBef>
                <a:spcPts val="100"/>
              </a:spcBef>
            </a:pPr>
            <a:r>
              <a:rPr sz="1600" spc="-110" dirty="0">
                <a:solidFill>
                  <a:srgbClr val="022C5E"/>
                </a:solidFill>
                <a:latin typeface="Arial Black"/>
                <a:cs typeface="Arial Black"/>
              </a:rPr>
              <a:t>$323K</a:t>
            </a:r>
            <a:endParaRPr sz="1600">
              <a:latin typeface="Arial Black"/>
              <a:cs typeface="Arial Black"/>
            </a:endParaRPr>
          </a:p>
        </p:txBody>
      </p:sp>
      <p:sp>
        <p:nvSpPr>
          <p:cNvPr id="43" name="object 43"/>
          <p:cNvSpPr txBox="1"/>
          <p:nvPr/>
        </p:nvSpPr>
        <p:spPr>
          <a:xfrm>
            <a:off x="7970203" y="7601204"/>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$2.15M</a:t>
            </a:r>
            <a:endParaRPr sz="1500">
              <a:latin typeface="Arial Black"/>
              <a:cs typeface="Arial Black"/>
            </a:endParaRPr>
          </a:p>
        </p:txBody>
      </p:sp>
      <p:sp>
        <p:nvSpPr>
          <p:cNvPr id="77" name="object 77"/>
          <p:cNvSpPr txBox="1"/>
          <p:nvPr/>
        </p:nvSpPr>
        <p:spPr>
          <a:xfrm>
            <a:off x="9634220" y="7559547"/>
            <a:ext cx="207010" cy="314960"/>
          </a:xfrm>
          <a:prstGeom prst="rect">
            <a:avLst/>
          </a:prstGeom>
        </p:spPr>
        <p:txBody>
          <a:bodyPr vert="horz" wrap="square" lIns="0" tIns="12700" rIns="0" bIns="0" rtlCol="0">
            <a:spAutoFit/>
          </a:bodyPr>
          <a:lstStyle/>
          <a:p>
            <a:pPr marL="12700">
              <a:lnSpc>
                <a:spcPct val="100000"/>
              </a:lnSpc>
              <a:spcBef>
                <a:spcPts val="100"/>
              </a:spcBef>
            </a:pPr>
            <a:r>
              <a:rPr sz="1900" spc="-585" dirty="0">
                <a:solidFill>
                  <a:srgbClr val="022C5E"/>
                </a:solidFill>
                <a:latin typeface="Arial Black"/>
                <a:cs typeface="Arial Black"/>
              </a:rPr>
              <a:t>11</a:t>
            </a:r>
            <a:endParaRPr sz="1900">
              <a:latin typeface="Arial Black"/>
              <a:cs typeface="Arial Black"/>
            </a:endParaRPr>
          </a:p>
        </p:txBody>
      </p:sp>
      <p:sp>
        <p:nvSpPr>
          <p:cNvPr id="78" name="object 78"/>
          <p:cNvSpPr txBox="1"/>
          <p:nvPr/>
        </p:nvSpPr>
        <p:spPr>
          <a:xfrm>
            <a:off x="10146284" y="7527036"/>
            <a:ext cx="2350770" cy="238760"/>
          </a:xfrm>
          <a:prstGeom prst="rect">
            <a:avLst/>
          </a:prstGeom>
        </p:spPr>
        <p:txBody>
          <a:bodyPr vert="horz" wrap="square" lIns="0" tIns="12700" rIns="0" bIns="0" rtlCol="0">
            <a:spAutoFit/>
          </a:bodyPr>
          <a:lstStyle/>
          <a:p>
            <a:pPr marL="12700">
              <a:lnSpc>
                <a:spcPct val="100000"/>
              </a:lnSpc>
              <a:spcBef>
                <a:spcPts val="100"/>
              </a:spcBef>
            </a:pPr>
            <a:r>
              <a:rPr sz="1400" u="heavy" spc="-65" dirty="0">
                <a:solidFill>
                  <a:srgbClr val="0563C1"/>
                </a:solidFill>
                <a:uFill>
                  <a:solidFill>
                    <a:srgbClr val="0563C1"/>
                  </a:solidFill>
                </a:uFill>
                <a:latin typeface="Arial Black"/>
                <a:cs typeface="Arial Black"/>
                <a:hlinkClick r:id="rId5"/>
              </a:rPr>
              <a:t>BioFabUSA Project Call</a:t>
            </a:r>
            <a:endParaRPr sz="1400">
              <a:latin typeface="Arial Black"/>
              <a:cs typeface="Arial Black"/>
            </a:endParaRPr>
          </a:p>
        </p:txBody>
      </p:sp>
      <p:sp>
        <p:nvSpPr>
          <p:cNvPr id="79" name="object 79"/>
          <p:cNvSpPr txBox="1"/>
          <p:nvPr/>
        </p:nvSpPr>
        <p:spPr>
          <a:xfrm>
            <a:off x="9627869" y="7794244"/>
            <a:ext cx="7764780" cy="200660"/>
          </a:xfrm>
          <a:prstGeom prst="rect">
            <a:avLst/>
          </a:prstGeom>
        </p:spPr>
        <p:txBody>
          <a:bodyPr vert="horz" wrap="square" lIns="0" tIns="12700" rIns="0" bIns="0" rtlCol="0">
            <a:spAutoFit/>
          </a:bodyPr>
          <a:lstStyle/>
          <a:p>
            <a:pPr marL="12700">
              <a:lnSpc>
                <a:spcPct val="100000"/>
              </a:lnSpc>
              <a:spcBef>
                <a:spcPts val="100"/>
              </a:spcBef>
              <a:tabLst>
                <a:tab pos="530860" algn="l"/>
                <a:tab pos="7751445" algn="l"/>
              </a:tabLst>
            </a:pPr>
            <a:r>
              <a:rPr sz="1150" u="heavy" dirty="0">
                <a:solidFill>
                  <a:srgbClr val="5A6B80"/>
                </a:solidFill>
                <a:uFill>
                  <a:solidFill>
                    <a:srgbClr val="333333"/>
                  </a:solidFill>
                </a:uFill>
                <a:latin typeface="Times New Roman"/>
                <a:cs typeface="Times New Roman"/>
              </a:rPr>
              <a:t>	</a:t>
            </a:r>
            <a:r>
              <a:rPr sz="1150" u="heavy" spc="-10" dirty="0">
                <a:solidFill>
                  <a:srgbClr val="5A6B80"/>
                </a:solidFill>
                <a:uFill>
                  <a:solidFill>
                    <a:srgbClr val="333333"/>
                  </a:solidFill>
                </a:uFill>
                <a:latin typeface="Calibri"/>
                <a:cs typeface="Calibri"/>
              </a:rPr>
              <a:t>B  ·  ARMI	</a:t>
            </a:r>
            <a:endParaRPr sz="1150">
              <a:latin typeface="Calibri"/>
              <a:cs typeface="Calibri"/>
            </a:endParaRPr>
          </a:p>
        </p:txBody>
      </p:sp>
      <p:sp>
        <p:nvSpPr>
          <p:cNvPr id="80" name="object 80"/>
          <p:cNvSpPr txBox="1"/>
          <p:nvPr/>
        </p:nvSpPr>
        <p:spPr>
          <a:xfrm>
            <a:off x="14726350" y="7574787"/>
            <a:ext cx="679068" cy="259045"/>
          </a:xfrm>
          <a:prstGeom prst="rect">
            <a:avLst/>
          </a:prstGeom>
        </p:spPr>
        <p:txBody>
          <a:bodyPr vert="horz" wrap="square" lIns="0" tIns="12700" rIns="0" bIns="0" rtlCol="0">
            <a:spAutoFit/>
          </a:bodyPr>
          <a:lstStyle/>
          <a:p>
            <a:pPr marL="12700">
              <a:lnSpc>
                <a:spcPct val="100000"/>
              </a:lnSpc>
              <a:spcBef>
                <a:spcPts val="100"/>
              </a:spcBef>
            </a:pPr>
            <a:r>
              <a:rPr sz="1600" spc="-120" dirty="0">
                <a:solidFill>
                  <a:srgbClr val="022C5E"/>
                </a:solidFill>
                <a:latin typeface="Arial Black"/>
                <a:cs typeface="Arial Black"/>
              </a:rPr>
              <a:t>Varies</a:t>
            </a:r>
            <a:endParaRPr sz="1600" dirty="0">
              <a:latin typeface="Arial Black"/>
              <a:cs typeface="Arial Black"/>
            </a:endParaRPr>
          </a:p>
        </p:txBody>
      </p:sp>
      <p:sp>
        <p:nvSpPr>
          <p:cNvPr id="81" name="object 81"/>
          <p:cNvSpPr txBox="1"/>
          <p:nvPr/>
        </p:nvSpPr>
        <p:spPr>
          <a:xfrm>
            <a:off x="16411457" y="7629652"/>
            <a:ext cx="975360" cy="200660"/>
          </a:xfrm>
          <a:prstGeom prst="rect">
            <a:avLst/>
          </a:prstGeom>
        </p:spPr>
        <p:txBody>
          <a:bodyPr vert="horz" wrap="square" lIns="0" tIns="12700" rIns="0" bIns="0" rtlCol="0">
            <a:spAutoFit/>
          </a:bodyPr>
          <a:lstStyle/>
          <a:p>
            <a:pPr marL="12700">
              <a:lnSpc>
                <a:spcPct val="100000"/>
              </a:lnSpc>
              <a:spcBef>
                <a:spcPts val="100"/>
              </a:spcBef>
            </a:pPr>
            <a:r>
              <a:rPr sz="1150" dirty="0">
                <a:solidFill>
                  <a:srgbClr val="5A6B80"/>
                </a:solidFill>
                <a:latin typeface="Lucida Sans Unicode"/>
                <a:cs typeface="Lucida Sans Unicode"/>
              </a:rPr>
              <a:t>Project sized</a:t>
            </a:r>
            <a:endParaRPr sz="1150">
              <a:latin typeface="Lucida Sans Unicode"/>
              <a:cs typeface="Lucida Sans Unicode"/>
            </a:endParaRPr>
          </a:p>
        </p:txBody>
      </p:sp>
      <p:sp>
        <p:nvSpPr>
          <p:cNvPr id="44" name="object 44"/>
          <p:cNvSpPr txBox="1"/>
          <p:nvPr/>
        </p:nvSpPr>
        <p:spPr>
          <a:xfrm>
            <a:off x="901700" y="8144764"/>
            <a:ext cx="179705" cy="314960"/>
          </a:xfrm>
          <a:prstGeom prst="rect">
            <a:avLst/>
          </a:prstGeom>
        </p:spPr>
        <p:txBody>
          <a:bodyPr vert="horz" wrap="square" lIns="0" tIns="12700" rIns="0" bIns="0" rtlCol="0">
            <a:spAutoFit/>
          </a:bodyPr>
          <a:lstStyle/>
          <a:p>
            <a:pPr marL="12700">
              <a:lnSpc>
                <a:spcPct val="100000"/>
              </a:lnSpc>
              <a:spcBef>
                <a:spcPts val="100"/>
              </a:spcBef>
            </a:pPr>
            <a:r>
              <a:rPr sz="1900" spc="-50" dirty="0">
                <a:solidFill>
                  <a:srgbClr val="022C5E"/>
                </a:solidFill>
                <a:latin typeface="Arial Black"/>
                <a:cs typeface="Arial Black"/>
              </a:rPr>
              <a:t>6</a:t>
            </a:r>
            <a:endParaRPr sz="1900">
              <a:latin typeface="Arial Black"/>
              <a:cs typeface="Arial Black"/>
            </a:endParaRPr>
          </a:p>
        </p:txBody>
      </p:sp>
      <p:sp>
        <p:nvSpPr>
          <p:cNvPr id="45" name="object 45"/>
          <p:cNvSpPr txBox="1"/>
          <p:nvPr/>
        </p:nvSpPr>
        <p:spPr>
          <a:xfrm>
            <a:off x="1413764" y="8046697"/>
            <a:ext cx="2328545" cy="534035"/>
          </a:xfrm>
          <a:prstGeom prst="rect">
            <a:avLst/>
          </a:prstGeom>
        </p:spPr>
        <p:txBody>
          <a:bodyPr vert="horz" wrap="square" lIns="0" tIns="78105" rIns="0" bIns="0" rtlCol="0">
            <a:spAutoFit/>
          </a:bodyPr>
          <a:lstStyle/>
          <a:p>
            <a:pPr marL="12700">
              <a:lnSpc>
                <a:spcPct val="100000"/>
              </a:lnSpc>
              <a:spcBef>
                <a:spcPts val="615"/>
              </a:spcBef>
            </a:pPr>
            <a:r>
              <a:rPr sz="1400" u="heavy" spc="-30" dirty="0">
                <a:solidFill>
                  <a:srgbClr val="0563C1"/>
                </a:solidFill>
                <a:uFill>
                  <a:solidFill>
                    <a:srgbClr val="0563C1"/>
                  </a:solidFill>
                </a:uFill>
                <a:latin typeface="Arial Black"/>
                <a:cs typeface="Arial Black"/>
                <a:hlinkClick r:id="rId2"/>
              </a:rPr>
              <a:t>HSC Cloning QC</a:t>
            </a:r>
            <a:endParaRPr sz="1400">
              <a:latin typeface="Arial Black"/>
              <a:cs typeface="Arial Black"/>
            </a:endParaRPr>
          </a:p>
          <a:p>
            <a:pPr marL="12700">
              <a:lnSpc>
                <a:spcPct val="100000"/>
              </a:lnSpc>
              <a:spcBef>
                <a:spcPts val="425"/>
              </a:spcBef>
            </a:pPr>
            <a:r>
              <a:rPr sz="1150" spc="-10" dirty="0">
                <a:solidFill>
                  <a:srgbClr val="5A6B80"/>
                </a:solidFill>
                <a:latin typeface="Calibri"/>
                <a:cs typeface="Calibri"/>
              </a:rPr>
              <a:t>D  ·  NHLBI</a:t>
            </a:r>
            <a:endParaRPr sz="1150">
              <a:latin typeface="Calibri"/>
              <a:cs typeface="Calibri"/>
            </a:endParaRPr>
          </a:p>
        </p:txBody>
      </p:sp>
      <p:sp>
        <p:nvSpPr>
          <p:cNvPr id="46" name="object 46"/>
          <p:cNvSpPr txBox="1"/>
          <p:nvPr/>
        </p:nvSpPr>
        <p:spPr>
          <a:xfrm>
            <a:off x="5943041" y="8160004"/>
            <a:ext cx="662940" cy="269240"/>
          </a:xfrm>
          <a:prstGeom prst="rect">
            <a:avLst/>
          </a:prstGeom>
        </p:spPr>
        <p:txBody>
          <a:bodyPr vert="horz" wrap="square" lIns="0" tIns="12700" rIns="0" bIns="0" rtlCol="0">
            <a:spAutoFit/>
          </a:bodyPr>
          <a:lstStyle/>
          <a:p>
            <a:pPr marL="12700">
              <a:lnSpc>
                <a:spcPct val="100000"/>
              </a:lnSpc>
              <a:spcBef>
                <a:spcPts val="100"/>
              </a:spcBef>
            </a:pPr>
            <a:r>
              <a:rPr sz="1600" spc="-110" dirty="0">
                <a:solidFill>
                  <a:srgbClr val="022C5E"/>
                </a:solidFill>
                <a:latin typeface="Arial Black"/>
                <a:cs typeface="Arial Black"/>
              </a:rPr>
              <a:t>$400K</a:t>
            </a:r>
            <a:endParaRPr sz="1600">
              <a:latin typeface="Arial Black"/>
              <a:cs typeface="Arial Black"/>
            </a:endParaRPr>
          </a:p>
        </p:txBody>
      </p:sp>
      <p:sp>
        <p:nvSpPr>
          <p:cNvPr id="47" name="object 47"/>
          <p:cNvSpPr txBox="1"/>
          <p:nvPr/>
        </p:nvSpPr>
        <p:spPr>
          <a:xfrm>
            <a:off x="7970203" y="8186420"/>
            <a:ext cx="683895" cy="254000"/>
          </a:xfrm>
          <a:prstGeom prst="rect">
            <a:avLst/>
          </a:prstGeom>
        </p:spPr>
        <p:txBody>
          <a:bodyPr vert="horz" wrap="square" lIns="0" tIns="12700" rIns="0" bIns="0" rtlCol="0">
            <a:spAutoFit/>
          </a:bodyPr>
          <a:lstStyle/>
          <a:p>
            <a:pPr marL="12700">
              <a:lnSpc>
                <a:spcPct val="100000"/>
              </a:lnSpc>
              <a:spcBef>
                <a:spcPts val="100"/>
              </a:spcBef>
            </a:pPr>
            <a:r>
              <a:rPr sz="1500" spc="-120" dirty="0">
                <a:solidFill>
                  <a:srgbClr val="36404F"/>
                </a:solidFill>
                <a:latin typeface="Arial Black"/>
                <a:cs typeface="Arial Black"/>
              </a:rPr>
              <a:t>$3.0M</a:t>
            </a:r>
            <a:endParaRPr sz="1500">
              <a:latin typeface="Arial Black"/>
              <a:cs typeface="Arial Black"/>
            </a:endParaRPr>
          </a:p>
        </p:txBody>
      </p:sp>
      <p:sp>
        <p:nvSpPr>
          <p:cNvPr id="82" name="object 82"/>
          <p:cNvSpPr txBox="1"/>
          <p:nvPr/>
        </p:nvSpPr>
        <p:spPr>
          <a:xfrm>
            <a:off x="9634220" y="8144764"/>
            <a:ext cx="254000" cy="314960"/>
          </a:xfrm>
          <a:prstGeom prst="rect">
            <a:avLst/>
          </a:prstGeom>
        </p:spPr>
        <p:txBody>
          <a:bodyPr vert="horz" wrap="square" lIns="0" tIns="12700" rIns="0" bIns="0" rtlCol="0">
            <a:spAutoFit/>
          </a:bodyPr>
          <a:lstStyle/>
          <a:p>
            <a:pPr marL="12700">
              <a:lnSpc>
                <a:spcPct val="100000"/>
              </a:lnSpc>
              <a:spcBef>
                <a:spcPts val="100"/>
              </a:spcBef>
            </a:pPr>
            <a:r>
              <a:rPr sz="1900" spc="-395" dirty="0">
                <a:solidFill>
                  <a:srgbClr val="022C5E"/>
                </a:solidFill>
                <a:latin typeface="Arial Black"/>
                <a:cs typeface="Arial Black"/>
              </a:rPr>
              <a:t>12</a:t>
            </a:r>
            <a:endParaRPr sz="1900">
              <a:latin typeface="Arial Black"/>
              <a:cs typeface="Arial Black"/>
            </a:endParaRPr>
          </a:p>
        </p:txBody>
      </p:sp>
      <p:sp>
        <p:nvSpPr>
          <p:cNvPr id="83" name="object 83"/>
          <p:cNvSpPr txBox="1"/>
          <p:nvPr/>
        </p:nvSpPr>
        <p:spPr>
          <a:xfrm>
            <a:off x="10146284" y="8046697"/>
            <a:ext cx="2903220" cy="534035"/>
          </a:xfrm>
          <a:prstGeom prst="rect">
            <a:avLst/>
          </a:prstGeom>
        </p:spPr>
        <p:txBody>
          <a:bodyPr vert="horz" wrap="square" lIns="0" tIns="78105" rIns="0" bIns="0" rtlCol="0">
            <a:spAutoFit/>
          </a:bodyPr>
          <a:lstStyle/>
          <a:p>
            <a:pPr marL="12700">
              <a:lnSpc>
                <a:spcPct val="100000"/>
              </a:lnSpc>
              <a:spcBef>
                <a:spcPts val="615"/>
              </a:spcBef>
            </a:pPr>
            <a:r>
              <a:rPr sz="1400" u="heavy" spc="-80" dirty="0">
                <a:solidFill>
                  <a:srgbClr val="0563C1"/>
                </a:solidFill>
                <a:uFill>
                  <a:solidFill>
                    <a:srgbClr val="0563C1"/>
                  </a:solidFill>
                </a:uFill>
                <a:latin typeface="Arial Black"/>
                <a:cs typeface="Arial Black"/>
                <a:hlinkClick r:id="rId6"/>
              </a:rPr>
              <a:t>Peer Reviewed Medical Program</a:t>
            </a:r>
            <a:endParaRPr sz="1400">
              <a:latin typeface="Arial Black"/>
              <a:cs typeface="Arial Black"/>
            </a:endParaRPr>
          </a:p>
          <a:p>
            <a:pPr marL="12700">
              <a:lnSpc>
                <a:spcPct val="100000"/>
              </a:lnSpc>
              <a:spcBef>
                <a:spcPts val="425"/>
              </a:spcBef>
            </a:pPr>
            <a:r>
              <a:rPr sz="1150" spc="-10" dirty="0">
                <a:solidFill>
                  <a:srgbClr val="5A6B80"/>
                </a:solidFill>
                <a:latin typeface="Calibri"/>
                <a:cs typeface="Calibri"/>
              </a:rPr>
              <a:t>C  ·  DoD CDMRP</a:t>
            </a:r>
            <a:endParaRPr sz="1150">
              <a:latin typeface="Calibri"/>
              <a:cs typeface="Calibri"/>
            </a:endParaRPr>
          </a:p>
        </p:txBody>
      </p:sp>
      <p:sp>
        <p:nvSpPr>
          <p:cNvPr id="84" name="object 84"/>
          <p:cNvSpPr txBox="1"/>
          <p:nvPr/>
        </p:nvSpPr>
        <p:spPr>
          <a:xfrm>
            <a:off x="14726350" y="8160004"/>
            <a:ext cx="612140" cy="269240"/>
          </a:xfrm>
          <a:prstGeom prst="rect">
            <a:avLst/>
          </a:prstGeom>
        </p:spPr>
        <p:txBody>
          <a:bodyPr vert="horz" wrap="square" lIns="0" tIns="12700" rIns="0" bIns="0" rtlCol="0">
            <a:spAutoFit/>
          </a:bodyPr>
          <a:lstStyle/>
          <a:p>
            <a:pPr marL="12700">
              <a:lnSpc>
                <a:spcPct val="100000"/>
              </a:lnSpc>
              <a:spcBef>
                <a:spcPts val="100"/>
              </a:spcBef>
            </a:pPr>
            <a:r>
              <a:rPr sz="1600" spc="-120" dirty="0">
                <a:solidFill>
                  <a:srgbClr val="022C5E"/>
                </a:solidFill>
                <a:latin typeface="Arial Black"/>
                <a:cs typeface="Arial Black"/>
              </a:rPr>
              <a:t>$1.0M</a:t>
            </a:r>
            <a:endParaRPr sz="1600">
              <a:latin typeface="Arial Black"/>
              <a:cs typeface="Arial Black"/>
            </a:endParaRPr>
          </a:p>
        </p:txBody>
      </p:sp>
      <p:sp>
        <p:nvSpPr>
          <p:cNvPr id="85" name="object 85"/>
          <p:cNvSpPr txBox="1"/>
          <p:nvPr/>
        </p:nvSpPr>
        <p:spPr>
          <a:xfrm>
            <a:off x="16411457" y="8214868"/>
            <a:ext cx="975360" cy="200660"/>
          </a:xfrm>
          <a:prstGeom prst="rect">
            <a:avLst/>
          </a:prstGeom>
        </p:spPr>
        <p:txBody>
          <a:bodyPr vert="horz" wrap="square" lIns="0" tIns="12700" rIns="0" bIns="0" rtlCol="0">
            <a:spAutoFit/>
          </a:bodyPr>
          <a:lstStyle/>
          <a:p>
            <a:pPr marL="12700">
              <a:lnSpc>
                <a:spcPct val="100000"/>
              </a:lnSpc>
              <a:spcBef>
                <a:spcPts val="100"/>
              </a:spcBef>
            </a:pPr>
            <a:r>
              <a:rPr sz="1150" dirty="0">
                <a:solidFill>
                  <a:srgbClr val="5A6B80"/>
                </a:solidFill>
                <a:latin typeface="Lucida Sans Unicode"/>
                <a:cs typeface="Lucida Sans Unicode"/>
              </a:rPr>
              <a:t>Single award</a:t>
            </a:r>
            <a:endParaRPr sz="1150">
              <a:latin typeface="Lucida Sans Unicode"/>
              <a:cs typeface="Lucida Sans Unicode"/>
            </a:endParaRPr>
          </a:p>
        </p:txBody>
      </p:sp>
      <p:sp>
        <p:nvSpPr>
          <p:cNvPr id="86" name="object 86"/>
          <p:cNvSpPr txBox="1"/>
          <p:nvPr/>
        </p:nvSpPr>
        <p:spPr>
          <a:xfrm>
            <a:off x="901700" y="9377172"/>
            <a:ext cx="14067155" cy="528320"/>
          </a:xfrm>
          <a:prstGeom prst="rect">
            <a:avLst/>
          </a:prstGeom>
        </p:spPr>
        <p:txBody>
          <a:bodyPr vert="horz" wrap="square" lIns="0" tIns="12700" rIns="0" bIns="0" rtlCol="0">
            <a:spAutoFit/>
          </a:bodyPr>
          <a:lstStyle/>
          <a:p>
            <a:pPr marL="12700" marR="5080">
              <a:lnSpc>
                <a:spcPct val="100000"/>
              </a:lnSpc>
              <a:spcBef>
                <a:spcPts val="100"/>
              </a:spcBef>
            </a:pPr>
            <a:r>
              <a:rPr sz="1100" i="1" spc="-10" dirty="0">
                <a:solidFill>
                  <a:srgbClr val="5A6B80"/>
                </a:solidFill>
                <a:latin typeface="Calibri"/>
                <a:cs typeface="Calibri"/>
              </a:rPr>
              <a:t>NCI, NHLBI and NIA figures are those institutes’ published ceilings; NCATS, NIBIB, NEI, NINDS, NIAMS and NIGMS are carried at the SBA guideline ($323,090 / $2,153,927) pending per-institute verification in pre-assessment. Phase I is what gets filed; Phase II follow-on is a separate later application contingent on the Phase I succeeding, and the two are not additive in the same year. The September 2027 date falls under the expected FY2028 reissue of the parent announcements, which is not yet published. The NEI application can convert to Direct-to-Phase-II priced against the published Iowa feasibility. Letters A-D are the platform components on the previous page. The ARMI call is sized to project and excluded from the arithmetic. Combined across the other eleven: $27.7M, arithmetic, not a quoted figure.</a:t>
            </a:r>
            <a:endParaRPr sz="1100">
              <a:latin typeface="Calibri"/>
              <a:cs typeface="Calibri"/>
            </a:endParaRPr>
          </a:p>
        </p:txBody>
      </p:sp>
      <p:sp>
        <p:nvSpPr>
          <p:cNvPr id="3" name="object 3"/>
          <p:cNvSpPr txBox="1"/>
          <p:nvPr/>
        </p:nvSpPr>
        <p:spPr>
          <a:xfrm>
            <a:off x="15733985" y="9692132"/>
            <a:ext cx="1650364" cy="208279"/>
          </a:xfrm>
          <a:prstGeom prst="rect">
            <a:avLst/>
          </a:prstGeom>
        </p:spPr>
        <p:txBody>
          <a:bodyPr vert="horz" wrap="square" lIns="0" tIns="12700" rIns="0" bIns="0" rtlCol="0">
            <a:spAutoFit/>
          </a:bodyPr>
          <a:lstStyle/>
          <a:p>
            <a:pPr marL="12700">
              <a:lnSpc>
                <a:spcPct val="100000"/>
              </a:lnSpc>
              <a:spcBef>
                <a:spcPts val="100"/>
              </a:spcBef>
            </a:pPr>
            <a:r>
              <a:rPr sz="1200" u="heavy" spc="-10" dirty="0">
                <a:solidFill>
                  <a:srgbClr val="0563C1"/>
                </a:solidFill>
                <a:uFill>
                  <a:solidFill>
                    <a:srgbClr val="0563C1"/>
                  </a:solidFill>
                </a:uFill>
                <a:latin typeface="Calibri"/>
                <a:cs typeface="Calibri"/>
                <a:hlinkClick r:id="rId7"/>
              </a:rPr>
              <a:t>www.bwcoconsulting.com</a:t>
            </a:r>
            <a:endParaRPr sz="12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330960" cy="1549400"/>
          </a:xfrm>
          <a:prstGeom prst="rect">
            <a:avLst/>
          </a:prstGeom>
        </p:spPr>
        <p:txBody>
          <a:bodyPr vert="horz" wrap="square" lIns="0" tIns="12700" rIns="0" bIns="0" rtlCol="0">
            <a:spAutoFit/>
          </a:bodyPr>
          <a:lstStyle/>
          <a:p>
            <a:pPr marL="12700">
              <a:lnSpc>
                <a:spcPct val="100000"/>
              </a:lnSpc>
              <a:spcBef>
                <a:spcPts val="100"/>
              </a:spcBef>
            </a:pPr>
            <a:r>
              <a:rPr sz="10000" spc="-1565" dirty="0">
                <a:solidFill>
                  <a:srgbClr val="DDE4ED"/>
                </a:solidFill>
                <a:latin typeface="Arial Black"/>
                <a:cs typeface="Arial Black"/>
              </a:rPr>
              <a:t>01</a:t>
            </a:r>
            <a:endParaRPr sz="10000">
              <a:latin typeface="Arial Black"/>
              <a:cs typeface="Arial Black"/>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43300"/>
              </a:lnSpc>
              <a:spcBef>
                <a:spcPts val="100"/>
              </a:spcBef>
            </a:pPr>
            <a:r>
              <a:rPr spc="-330" dirty="0"/>
              <a:t>NIH SBIR at NCATS: Clone Selection Standard</a:t>
            </a:r>
          </a:p>
        </p:txBody>
      </p:sp>
      <p:grpSp>
        <p:nvGrpSpPr>
          <p:cNvPr id="6" name="object 6"/>
          <p:cNvGrpSpPr/>
          <p:nvPr/>
        </p:nvGrpSpPr>
        <p:grpSpPr>
          <a:xfrm>
            <a:off x="13846810" y="926338"/>
            <a:ext cx="3441700" cy="762635"/>
            <a:chOff x="13846810" y="926338"/>
            <a:chExt cx="3441700" cy="762635"/>
          </a:xfrm>
        </p:grpSpPr>
        <p:sp>
          <p:nvSpPr>
            <p:cNvPr id="7" name="object 7"/>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8" name="object 8"/>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9" name="object 9"/>
          <p:cNvSpPr txBox="1"/>
          <p:nvPr/>
        </p:nvSpPr>
        <p:spPr>
          <a:xfrm>
            <a:off x="15030964" y="1140459"/>
            <a:ext cx="1073785" cy="314960"/>
          </a:xfrm>
          <a:prstGeom prst="rect">
            <a:avLst/>
          </a:prstGeom>
        </p:spPr>
        <p:txBody>
          <a:bodyPr vert="horz" wrap="square" lIns="0" tIns="12700" rIns="0" bIns="0" rtlCol="0">
            <a:spAutoFit/>
          </a:bodyPr>
          <a:lstStyle/>
          <a:p>
            <a:pPr marL="12700">
              <a:lnSpc>
                <a:spcPct val="100000"/>
              </a:lnSpc>
              <a:spcBef>
                <a:spcPts val="100"/>
              </a:spcBef>
            </a:pPr>
            <a:r>
              <a:rPr sz="1900" spc="-20" dirty="0">
                <a:solidFill>
                  <a:srgbClr val="FFFFFF"/>
                </a:solidFill>
                <a:latin typeface="Arial Black"/>
                <a:cs typeface="Arial Black"/>
              </a:rPr>
              <a:t>99 days</a:t>
            </a:r>
            <a:endParaRPr sz="1900">
              <a:latin typeface="Arial Black"/>
              <a:cs typeface="Arial Black"/>
            </a:endParaRPr>
          </a:p>
        </p:txBody>
      </p:sp>
      <p:sp>
        <p:nvSpPr>
          <p:cNvPr id="5" name="object 5"/>
          <p:cNvSpPr txBox="1"/>
          <p:nvPr/>
        </p:nvSpPr>
        <p:spPr>
          <a:xfrm>
            <a:off x="3050540" y="2627883"/>
            <a:ext cx="5774690" cy="269240"/>
          </a:xfrm>
          <a:prstGeom prst="rect">
            <a:avLst/>
          </a:prstGeom>
        </p:spPr>
        <p:txBody>
          <a:bodyPr vert="horz" wrap="square" lIns="0" tIns="12700" rIns="0" bIns="0" rtlCol="0">
            <a:spAutoFit/>
          </a:bodyPr>
          <a:lstStyle/>
          <a:p>
            <a:pPr marL="12700">
              <a:lnSpc>
                <a:spcPct val="100000"/>
              </a:lnSpc>
              <a:spcBef>
                <a:spcPts val="100"/>
              </a:spcBef>
              <a:tabLst>
                <a:tab pos="1428115" algn="l"/>
                <a:tab pos="1616710" algn="l"/>
              </a:tabLst>
            </a:pPr>
            <a:r>
              <a:rPr sz="1600" spc="-10" dirty="0">
                <a:solidFill>
                  <a:srgbClr val="5A6B80"/>
                </a:solidFill>
                <a:latin typeface="Calibri"/>
                <a:cs typeface="Calibri"/>
              </a:rPr>
              <a:t>COMPONENT B	·	Nat. Center for Advancing Translational Sciences · PA-27-100</a:t>
            </a:r>
            <a:endParaRPr sz="1600">
              <a:latin typeface="Calibri"/>
              <a:cs typeface="Calibri"/>
            </a:endParaRPr>
          </a:p>
        </p:txBody>
      </p:sp>
      <p:sp>
        <p:nvSpPr>
          <p:cNvPr id="10" name="object 10"/>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$323K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ceiling: $323,090</a:t>
            </a:r>
            <a:endParaRPr sz="1200">
              <a:latin typeface="Calibri"/>
              <a:cs typeface="Calibri"/>
            </a:endParaRPr>
          </a:p>
        </p:txBody>
      </p:sp>
      <p:sp>
        <p:nvSpPr>
          <p:cNvPr id="11" name="object 11"/>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$2.15M</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ceiling: $2,153,927</a:t>
            </a:r>
            <a:endParaRPr sz="1200">
              <a:latin typeface="Calibri"/>
              <a:cs typeface="Calibri"/>
            </a:endParaRPr>
          </a:p>
        </p:txBody>
      </p:sp>
      <p:sp>
        <p:nvSpPr>
          <p:cNvPr id="12" name="object 12"/>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Jan 5, 2027</a:t>
            </a:r>
            <a:endParaRPr sz="2000">
              <a:latin typeface="Arial Black"/>
              <a:cs typeface="Arial Black"/>
            </a:endParaRPr>
          </a:p>
        </p:txBody>
      </p:sp>
      <p:sp>
        <p:nvSpPr>
          <p:cNvPr id="13" name="object 13"/>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4" name="object 14"/>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5" name="object 15"/>
          <p:cNvSpPr txBox="1"/>
          <p:nvPr/>
        </p:nvSpPr>
        <p:spPr>
          <a:xfrm>
            <a:off x="901700" y="6281420"/>
            <a:ext cx="10713720" cy="345440"/>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36404F"/>
                </a:solidFill>
                <a:latin typeface="Calibri"/>
                <a:cs typeface="Calibri"/>
              </a:rPr>
              <a:t>Funds disease-agnostic translational technology; NCATS small business priorities name iPSC technologies, cell-based platforms and manufacturing by name.</a:t>
            </a:r>
            <a:endParaRPr sz="2100">
              <a:latin typeface="Calibri"/>
              <a:cs typeface="Calibri"/>
            </a:endParaRPr>
          </a:p>
        </p:txBody>
      </p:sp>
      <p:sp>
        <p:nvSpPr>
          <p:cNvPr id="16" name="object 16"/>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7" name="object 17"/>
          <p:cNvSpPr txBox="1"/>
          <p:nvPr/>
        </p:nvSpPr>
        <p:spPr>
          <a:xfrm>
            <a:off x="901700" y="7707883"/>
            <a:ext cx="1079500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Standardized image-based clone selection and release is the bottleneck NCATS exists to fund, and the 2020 in-process characterization paper is the preliminary data.</a:t>
            </a:r>
            <a:endParaRPr sz="2100">
              <a:latin typeface="Calibri"/>
              <a:cs typeface="Calibri"/>
            </a:endParaRPr>
          </a:p>
        </p:txBody>
      </p:sp>
      <p:grpSp>
        <p:nvGrpSpPr>
          <p:cNvPr id="18" name="object 18"/>
          <p:cNvGrpSpPr/>
          <p:nvPr/>
        </p:nvGrpSpPr>
        <p:grpSpPr>
          <a:xfrm>
            <a:off x="908050" y="8534145"/>
            <a:ext cx="16471900" cy="26034"/>
            <a:chOff x="908050" y="8534145"/>
            <a:chExt cx="16471900" cy="26034"/>
          </a:xfrm>
        </p:grpSpPr>
        <p:sp>
          <p:nvSpPr>
            <p:cNvPr id="19" name="object 19"/>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20" name="object 20"/>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1" name="object 21"/>
          <p:cNvSpPr txBox="1"/>
          <p:nvPr/>
        </p:nvSpPr>
        <p:spPr>
          <a:xfrm>
            <a:off x="901700" y="8644064"/>
            <a:ext cx="4394835"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PA-27-100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2" name="object 22"/>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578610" cy="1549400"/>
          </a:xfrm>
          <a:prstGeom prst="rect">
            <a:avLst/>
          </a:prstGeom>
        </p:spPr>
        <p:txBody>
          <a:bodyPr vert="horz" wrap="square" lIns="0" tIns="12700" rIns="0" bIns="0" rtlCol="0">
            <a:spAutoFit/>
          </a:bodyPr>
          <a:lstStyle/>
          <a:p>
            <a:pPr marL="12700">
              <a:lnSpc>
                <a:spcPct val="100000"/>
              </a:lnSpc>
              <a:spcBef>
                <a:spcPts val="100"/>
              </a:spcBef>
            </a:pPr>
            <a:r>
              <a:rPr sz="10000" spc="-630" dirty="0">
                <a:solidFill>
                  <a:srgbClr val="DDE4ED"/>
                </a:solidFill>
                <a:latin typeface="Arial Black"/>
                <a:cs typeface="Arial Black"/>
              </a:rPr>
              <a:t>02</a:t>
            </a:r>
            <a:endParaRPr sz="10000">
              <a:latin typeface="Arial Black"/>
              <a:cs typeface="Arial Black"/>
            </a:endParaRPr>
          </a:p>
        </p:txBody>
      </p:sp>
      <p:sp>
        <p:nvSpPr>
          <p:cNvPr id="4" name="object 4"/>
          <p:cNvSpPr txBox="1"/>
          <p:nvPr/>
        </p:nvSpPr>
        <p:spPr>
          <a:xfrm>
            <a:off x="3050540" y="727963"/>
            <a:ext cx="6959600"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SBIR at NIBIB:</a:t>
            </a:r>
            <a:endParaRPr sz="3600">
              <a:latin typeface="Arial Black"/>
              <a:cs typeface="Arial Black"/>
            </a:endParaRPr>
          </a:p>
          <a:p>
            <a:pPr marL="12700">
              <a:lnSpc>
                <a:spcPct val="100000"/>
              </a:lnSpc>
              <a:spcBef>
                <a:spcPts val="1875"/>
              </a:spcBef>
            </a:pPr>
            <a:r>
              <a:rPr sz="3600" spc="-120" dirty="0">
                <a:solidFill>
                  <a:srgbClr val="162739"/>
                </a:solidFill>
                <a:latin typeface="Arial Black"/>
                <a:cs typeface="Arial Black"/>
              </a:rPr>
              <a:t>Manufacturing Measurement</a:t>
            </a:r>
            <a:endParaRPr sz="3600">
              <a:latin typeface="Arial Black"/>
              <a:cs typeface="Arial Black"/>
            </a:endParaRPr>
          </a:p>
          <a:p>
            <a:pPr marL="12700">
              <a:lnSpc>
                <a:spcPct val="100000"/>
              </a:lnSpc>
              <a:spcBef>
                <a:spcPts val="2575"/>
              </a:spcBef>
              <a:tabLst>
                <a:tab pos="1418590" algn="l"/>
                <a:tab pos="1607820" algn="l"/>
              </a:tabLst>
            </a:pPr>
            <a:r>
              <a:rPr sz="1600" dirty="0">
                <a:solidFill>
                  <a:srgbClr val="5A6B80"/>
                </a:solidFill>
                <a:latin typeface="Calibri"/>
                <a:cs typeface="Calibri"/>
              </a:rPr>
              <a:t>COMPONENT B	·	Nat. Inst. of Biomedical Imaging and Bioengineering · PA-27-100</a:t>
            </a:r>
            <a:endParaRPr sz="1600">
              <a:latin typeface="Calibri"/>
              <a:cs typeface="Calibri"/>
            </a:endParaRPr>
          </a:p>
        </p:txBody>
      </p:sp>
      <p:grpSp>
        <p:nvGrpSpPr>
          <p:cNvPr id="5" name="object 5"/>
          <p:cNvGrpSpPr/>
          <p:nvPr/>
        </p:nvGrpSpPr>
        <p:grpSpPr>
          <a:xfrm>
            <a:off x="13846810" y="926338"/>
            <a:ext cx="3441700" cy="762635"/>
            <a:chOff x="13846810" y="926338"/>
            <a:chExt cx="3441700" cy="762635"/>
          </a:xfrm>
        </p:grpSpPr>
        <p:sp>
          <p:nvSpPr>
            <p:cNvPr id="6" name="object 6"/>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7" name="object 7"/>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8" name="object 8"/>
          <p:cNvSpPr txBox="1"/>
          <p:nvPr/>
        </p:nvSpPr>
        <p:spPr>
          <a:xfrm>
            <a:off x="15030964" y="1140459"/>
            <a:ext cx="1073785" cy="314960"/>
          </a:xfrm>
          <a:prstGeom prst="rect">
            <a:avLst/>
          </a:prstGeom>
        </p:spPr>
        <p:txBody>
          <a:bodyPr vert="horz" wrap="square" lIns="0" tIns="12700" rIns="0" bIns="0" rtlCol="0">
            <a:spAutoFit/>
          </a:bodyPr>
          <a:lstStyle/>
          <a:p>
            <a:pPr marL="12700">
              <a:lnSpc>
                <a:spcPct val="100000"/>
              </a:lnSpc>
              <a:spcBef>
                <a:spcPts val="100"/>
              </a:spcBef>
            </a:pPr>
            <a:r>
              <a:rPr sz="1900" spc="-20" dirty="0">
                <a:solidFill>
                  <a:srgbClr val="FFFFFF"/>
                </a:solidFill>
                <a:latin typeface="Arial Black"/>
                <a:cs typeface="Arial Black"/>
              </a:rPr>
              <a:t>99 days</a:t>
            </a:r>
            <a:endParaRPr sz="1900">
              <a:latin typeface="Arial Black"/>
              <a:cs typeface="Arial Black"/>
            </a:endParaRPr>
          </a:p>
        </p:txBody>
      </p:sp>
      <p:sp>
        <p:nvSpPr>
          <p:cNvPr id="9" name="object 9"/>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55" dirty="0">
                <a:solidFill>
                  <a:srgbClr val="162739"/>
                </a:solidFill>
                <a:latin typeface="Arial Black"/>
                <a:cs typeface="Arial Black"/>
              </a:rPr>
              <a:t>$323K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ceiling: $323,090</a:t>
            </a:r>
            <a:endParaRPr sz="1200">
              <a:latin typeface="Calibri"/>
              <a:cs typeface="Calibri"/>
            </a:endParaRPr>
          </a:p>
        </p:txBody>
      </p:sp>
      <p:sp>
        <p:nvSpPr>
          <p:cNvPr id="10" name="object 10"/>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285" dirty="0">
                <a:solidFill>
                  <a:srgbClr val="162739"/>
                </a:solidFill>
                <a:latin typeface="Arial Black"/>
                <a:cs typeface="Arial Black"/>
              </a:rPr>
              <a:t>$2.15M</a:t>
            </a:r>
            <a:endParaRPr sz="3200">
              <a:latin typeface="Arial Black"/>
              <a:cs typeface="Arial Black"/>
            </a:endParaRPr>
          </a:p>
          <a:p>
            <a:pPr marL="274320">
              <a:lnSpc>
                <a:spcPct val="100000"/>
              </a:lnSpc>
              <a:spcBef>
                <a:spcPts val="2550"/>
              </a:spcBef>
            </a:pPr>
            <a:r>
              <a:rPr sz="1200" spc="-10" dirty="0">
                <a:solidFill>
                  <a:srgbClr val="5A6B80"/>
                </a:solidFill>
                <a:latin typeface="Calibri"/>
                <a:cs typeface="Calibri"/>
              </a:rPr>
              <a:t>SBA guideline ceiling: $2,153,927</a:t>
            </a:r>
            <a:endParaRPr sz="1200">
              <a:latin typeface="Calibri"/>
              <a:cs typeface="Calibri"/>
            </a:endParaRPr>
          </a:p>
        </p:txBody>
      </p:sp>
      <p:sp>
        <p:nvSpPr>
          <p:cNvPr id="11" name="object 11"/>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Jan 5, 2027</a:t>
            </a:r>
            <a:endParaRPr sz="2000">
              <a:latin typeface="Arial Black"/>
              <a:cs typeface="Arial Black"/>
            </a:endParaRPr>
          </a:p>
        </p:txBody>
      </p:sp>
      <p:sp>
        <p:nvSpPr>
          <p:cNvPr id="12" name="object 12"/>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3" name="object 13"/>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4" name="object 14"/>
          <p:cNvSpPr txBox="1"/>
          <p:nvPr/>
        </p:nvSpPr>
        <p:spPr>
          <a:xfrm>
            <a:off x="901700" y="6281420"/>
            <a:ext cx="1094232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The bioengineering institute’s door for enabling technologies in regenerative medicine manufacturing, AI and ML in engineering included.</a:t>
            </a:r>
            <a:endParaRPr sz="2100">
              <a:latin typeface="Calibri"/>
              <a:cs typeface="Calibri"/>
            </a:endParaRPr>
          </a:p>
        </p:txBody>
      </p:sp>
      <p:sp>
        <p:nvSpPr>
          <p:cNvPr id="15" name="object 15"/>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6" name="object 16"/>
          <p:cNvSpPr txBox="1"/>
          <p:nvPr/>
        </p:nvSpPr>
        <p:spPr>
          <a:xfrm>
            <a:off x="901700" y="7707883"/>
            <a:ext cx="1274699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The one institute where the open question, whether image-based ML predicts critical quality attributes, is fundable as the research aim rather than assumed.</a:t>
            </a:r>
            <a:endParaRPr sz="2100">
              <a:latin typeface="Calibri"/>
              <a:cs typeface="Calibri"/>
            </a:endParaRPr>
          </a:p>
        </p:txBody>
      </p:sp>
      <p:grpSp>
        <p:nvGrpSpPr>
          <p:cNvPr id="17" name="object 17"/>
          <p:cNvGrpSpPr/>
          <p:nvPr/>
        </p:nvGrpSpPr>
        <p:grpSpPr>
          <a:xfrm>
            <a:off x="908050" y="8534145"/>
            <a:ext cx="16471900" cy="26034"/>
            <a:chOff x="908050" y="8534145"/>
            <a:chExt cx="16471900" cy="26034"/>
          </a:xfrm>
        </p:grpSpPr>
        <p:sp>
          <p:nvSpPr>
            <p:cNvPr id="18" name="object 18"/>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19" name="object 19"/>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0" name="object 20"/>
          <p:cNvSpPr txBox="1"/>
          <p:nvPr/>
        </p:nvSpPr>
        <p:spPr>
          <a:xfrm>
            <a:off x="901700" y="8644064"/>
            <a:ext cx="461010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PA-27-100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spc="-10"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1" name="object 2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621790" cy="1549400"/>
          </a:xfrm>
          <a:prstGeom prst="rect">
            <a:avLst/>
          </a:prstGeom>
        </p:spPr>
        <p:txBody>
          <a:bodyPr vert="horz" wrap="square" lIns="0" tIns="12700" rIns="0" bIns="0" rtlCol="0">
            <a:spAutoFit/>
          </a:bodyPr>
          <a:lstStyle/>
          <a:p>
            <a:pPr marL="12700">
              <a:lnSpc>
                <a:spcPct val="100000"/>
              </a:lnSpc>
              <a:spcBef>
                <a:spcPts val="100"/>
              </a:spcBef>
            </a:pPr>
            <a:r>
              <a:rPr sz="10000" spc="-430" dirty="0">
                <a:solidFill>
                  <a:srgbClr val="DDE4ED"/>
                </a:solidFill>
                <a:latin typeface="Arial Black"/>
                <a:cs typeface="Arial Black"/>
              </a:rPr>
              <a:t>03</a:t>
            </a:r>
            <a:endParaRPr sz="10000">
              <a:latin typeface="Arial Black"/>
              <a:cs typeface="Arial Black"/>
            </a:endParaRPr>
          </a:p>
        </p:txBody>
      </p:sp>
      <p:sp>
        <p:nvSpPr>
          <p:cNvPr id="4" name="object 4"/>
          <p:cNvSpPr txBox="1"/>
          <p:nvPr/>
        </p:nvSpPr>
        <p:spPr>
          <a:xfrm>
            <a:off x="3050540" y="727963"/>
            <a:ext cx="6068695"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STTR at NEI:</a:t>
            </a:r>
            <a:endParaRPr sz="3600">
              <a:latin typeface="Arial Black"/>
              <a:cs typeface="Arial Black"/>
            </a:endParaRPr>
          </a:p>
          <a:p>
            <a:pPr marL="12700">
              <a:lnSpc>
                <a:spcPct val="100000"/>
              </a:lnSpc>
              <a:spcBef>
                <a:spcPts val="1875"/>
              </a:spcBef>
            </a:pPr>
            <a:r>
              <a:rPr sz="3600" spc="-55" dirty="0">
                <a:solidFill>
                  <a:srgbClr val="162739"/>
                </a:solidFill>
                <a:latin typeface="Arial Black"/>
                <a:cs typeface="Arial Black"/>
              </a:rPr>
              <a:t>Retinal iPSC Scale-Out</a:t>
            </a:r>
            <a:endParaRPr sz="3600">
              <a:latin typeface="Arial Black"/>
              <a:cs typeface="Arial Black"/>
            </a:endParaRPr>
          </a:p>
          <a:p>
            <a:pPr marL="12700">
              <a:lnSpc>
                <a:spcPct val="100000"/>
              </a:lnSpc>
              <a:spcBef>
                <a:spcPts val="2575"/>
              </a:spcBef>
              <a:tabLst>
                <a:tab pos="1418590" algn="l"/>
                <a:tab pos="1607820" algn="l"/>
              </a:tabLst>
            </a:pPr>
            <a:r>
              <a:rPr sz="1600" spc="-10" dirty="0">
                <a:solidFill>
                  <a:srgbClr val="5A6B80"/>
                </a:solidFill>
                <a:latin typeface="Calibri"/>
                <a:cs typeface="Calibri"/>
              </a:rPr>
              <a:t>COMPONENT A	·	National Eye Institute · PA-27-102 · STTR with the University of Iowa</a:t>
            </a:r>
            <a:endParaRPr sz="1600">
              <a:latin typeface="Calibri"/>
              <a:cs typeface="Calibri"/>
            </a:endParaRPr>
          </a:p>
        </p:txBody>
      </p:sp>
      <p:grpSp>
        <p:nvGrpSpPr>
          <p:cNvPr id="5" name="object 5"/>
          <p:cNvGrpSpPr/>
          <p:nvPr/>
        </p:nvGrpSpPr>
        <p:grpSpPr>
          <a:xfrm>
            <a:off x="13846810" y="926338"/>
            <a:ext cx="3441700" cy="762635"/>
            <a:chOff x="13846810" y="926338"/>
            <a:chExt cx="3441700" cy="762635"/>
          </a:xfrm>
        </p:grpSpPr>
        <p:sp>
          <p:nvSpPr>
            <p:cNvPr id="6" name="object 6"/>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7" name="object 7"/>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8" name="object 8"/>
          <p:cNvSpPr txBox="1"/>
          <p:nvPr/>
        </p:nvSpPr>
        <p:spPr>
          <a:xfrm>
            <a:off x="15030964" y="1140459"/>
            <a:ext cx="1073785" cy="314960"/>
          </a:xfrm>
          <a:prstGeom prst="rect">
            <a:avLst/>
          </a:prstGeom>
        </p:spPr>
        <p:txBody>
          <a:bodyPr vert="horz" wrap="square" lIns="0" tIns="12700" rIns="0" bIns="0" rtlCol="0">
            <a:spAutoFit/>
          </a:bodyPr>
          <a:lstStyle/>
          <a:p>
            <a:pPr marL="12700">
              <a:lnSpc>
                <a:spcPct val="100000"/>
              </a:lnSpc>
              <a:spcBef>
                <a:spcPts val="100"/>
              </a:spcBef>
            </a:pPr>
            <a:r>
              <a:rPr sz="1900" spc="-20" dirty="0">
                <a:solidFill>
                  <a:srgbClr val="FFFFFF"/>
                </a:solidFill>
                <a:latin typeface="Arial Black"/>
                <a:cs typeface="Arial Black"/>
              </a:rPr>
              <a:t>99 days</a:t>
            </a:r>
            <a:endParaRPr sz="1900">
              <a:latin typeface="Arial Black"/>
              <a:cs typeface="Arial Black"/>
            </a:endParaRPr>
          </a:p>
        </p:txBody>
      </p:sp>
      <p:sp>
        <p:nvSpPr>
          <p:cNvPr id="9" name="object 9"/>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$323K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NEI ceiling to be verified</a:t>
            </a:r>
            <a:endParaRPr sz="1200">
              <a:latin typeface="Calibri"/>
              <a:cs typeface="Calibri"/>
            </a:endParaRPr>
          </a:p>
        </p:txBody>
      </p:sp>
      <p:sp>
        <p:nvSpPr>
          <p:cNvPr id="10" name="object 10"/>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$2.15M</a:t>
            </a:r>
            <a:endParaRPr sz="3200">
              <a:latin typeface="Arial Black"/>
              <a:cs typeface="Arial Black"/>
            </a:endParaRPr>
          </a:p>
          <a:p>
            <a:pPr marL="274320" marR="640715">
              <a:lnSpc>
                <a:spcPct val="100000"/>
              </a:lnSpc>
              <a:spcBef>
                <a:spcPts val="1830"/>
              </a:spcBef>
            </a:pPr>
            <a:r>
              <a:rPr sz="1200" dirty="0">
                <a:solidFill>
                  <a:srgbClr val="5A6B80"/>
                </a:solidFill>
                <a:latin typeface="Calibri"/>
                <a:cs typeface="Calibri"/>
              </a:rPr>
              <a:t>SBA guideline; Direct-to-Phase-II conversion open</a:t>
            </a:r>
            <a:endParaRPr sz="1200">
              <a:latin typeface="Calibri"/>
              <a:cs typeface="Calibri"/>
            </a:endParaRPr>
          </a:p>
        </p:txBody>
      </p:sp>
      <p:sp>
        <p:nvSpPr>
          <p:cNvPr id="11" name="object 11"/>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Jan 5, 2027</a:t>
            </a:r>
            <a:endParaRPr sz="2000">
              <a:latin typeface="Arial Black"/>
              <a:cs typeface="Arial Black"/>
            </a:endParaRPr>
          </a:p>
        </p:txBody>
      </p:sp>
      <p:sp>
        <p:nvSpPr>
          <p:cNvPr id="12" name="object 12"/>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3" name="object 13"/>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4" name="object 14"/>
          <p:cNvSpPr txBox="1"/>
          <p:nvPr/>
        </p:nvSpPr>
        <p:spPr>
          <a:xfrm>
            <a:off x="901700" y="6281420"/>
            <a:ext cx="1029271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Funds regenerative vision translation under the Audacious Goals Initiative, regenerating neurons of the retina.</a:t>
            </a:r>
            <a:endParaRPr sz="2100">
              <a:latin typeface="Calibri"/>
              <a:cs typeface="Calibri"/>
            </a:endParaRPr>
          </a:p>
        </p:txBody>
      </p:sp>
      <p:sp>
        <p:nvSpPr>
          <p:cNvPr id="15" name="object 15"/>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6" name="object 16"/>
          <p:cNvSpPr txBox="1"/>
          <p:nvPr/>
        </p:nvSpPr>
        <p:spPr>
          <a:xfrm>
            <a:off x="901700" y="7707883"/>
            <a:ext cx="12916535" cy="345440"/>
          </a:xfrm>
          <a:prstGeom prst="rect">
            <a:avLst/>
          </a:prstGeom>
        </p:spPr>
        <p:txBody>
          <a:bodyPr vert="horz" wrap="square" lIns="0" tIns="12700" rIns="0" bIns="0" rtlCol="0">
            <a:spAutoFit/>
          </a:bodyPr>
          <a:lstStyle/>
          <a:p>
            <a:pPr marL="12700">
              <a:lnSpc>
                <a:spcPct val="100000"/>
              </a:lnSpc>
              <a:spcBef>
                <a:spcPts val="100"/>
              </a:spcBef>
            </a:pPr>
            <a:r>
              <a:rPr sz="2100" spc="-20" dirty="0">
                <a:solidFill>
                  <a:srgbClr val="36404F"/>
                </a:solidFill>
                <a:latin typeface="Calibri"/>
                <a:cs typeface="Calibri"/>
              </a:rPr>
              <a:t>The only institute with third-party clinical-grade platform data in print: 21 lines, ABCA4 and CRB1 patients, organoids indistinguishable from manual production.</a:t>
            </a:r>
            <a:endParaRPr sz="2100">
              <a:latin typeface="Calibri"/>
              <a:cs typeface="Calibri"/>
            </a:endParaRPr>
          </a:p>
        </p:txBody>
      </p:sp>
      <p:grpSp>
        <p:nvGrpSpPr>
          <p:cNvPr id="17" name="object 17"/>
          <p:cNvGrpSpPr/>
          <p:nvPr/>
        </p:nvGrpSpPr>
        <p:grpSpPr>
          <a:xfrm>
            <a:off x="908050" y="8534145"/>
            <a:ext cx="16471900" cy="26034"/>
            <a:chOff x="908050" y="8534145"/>
            <a:chExt cx="16471900" cy="26034"/>
          </a:xfrm>
        </p:grpSpPr>
        <p:sp>
          <p:nvSpPr>
            <p:cNvPr id="18" name="object 18"/>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19" name="object 19"/>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0" name="object 20"/>
          <p:cNvSpPr txBox="1"/>
          <p:nvPr/>
        </p:nvSpPr>
        <p:spPr>
          <a:xfrm>
            <a:off x="901700" y="8644064"/>
            <a:ext cx="461010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PA-27-102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spc="-10"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1" name="object 2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713230" cy="1549400"/>
          </a:xfrm>
          <a:prstGeom prst="rect">
            <a:avLst/>
          </a:prstGeom>
        </p:spPr>
        <p:txBody>
          <a:bodyPr vert="horz" wrap="square" lIns="0" tIns="12700" rIns="0" bIns="0" rtlCol="0">
            <a:spAutoFit/>
          </a:bodyPr>
          <a:lstStyle/>
          <a:p>
            <a:pPr marL="12700">
              <a:lnSpc>
                <a:spcPct val="100000"/>
              </a:lnSpc>
              <a:spcBef>
                <a:spcPts val="100"/>
              </a:spcBef>
            </a:pPr>
            <a:r>
              <a:rPr sz="10000" spc="-25" dirty="0">
                <a:solidFill>
                  <a:srgbClr val="DDE4ED"/>
                </a:solidFill>
                <a:latin typeface="Arial Black"/>
                <a:cs typeface="Arial Black"/>
              </a:rPr>
              <a:t>04</a:t>
            </a:r>
            <a:endParaRPr sz="10000">
              <a:latin typeface="Arial Black"/>
              <a:cs typeface="Arial Black"/>
            </a:endParaRPr>
          </a:p>
        </p:txBody>
      </p:sp>
      <p:sp>
        <p:nvSpPr>
          <p:cNvPr id="4" name="object 4"/>
          <p:cNvSpPr txBox="1"/>
          <p:nvPr/>
        </p:nvSpPr>
        <p:spPr>
          <a:xfrm>
            <a:off x="3063860" y="618858"/>
            <a:ext cx="5767705"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SBIR at NINDS:</a:t>
            </a:r>
            <a:endParaRPr sz="3600" dirty="0">
              <a:latin typeface="Arial Black"/>
              <a:cs typeface="Arial Black"/>
            </a:endParaRPr>
          </a:p>
          <a:p>
            <a:pPr marL="12700">
              <a:lnSpc>
                <a:spcPct val="100000"/>
              </a:lnSpc>
              <a:spcBef>
                <a:spcPts val="1875"/>
              </a:spcBef>
            </a:pPr>
            <a:r>
              <a:rPr sz="3600" spc="-65" dirty="0">
                <a:solidFill>
                  <a:srgbClr val="162739"/>
                </a:solidFill>
                <a:latin typeface="Arial Black"/>
                <a:cs typeface="Arial Black"/>
              </a:rPr>
              <a:t>Neural Therapy QC Tool</a:t>
            </a:r>
            <a:endParaRPr sz="3600" dirty="0">
              <a:latin typeface="Arial Black"/>
              <a:cs typeface="Arial Black"/>
            </a:endParaRPr>
          </a:p>
          <a:p>
            <a:pPr marL="12700">
              <a:lnSpc>
                <a:spcPct val="100000"/>
              </a:lnSpc>
              <a:spcBef>
                <a:spcPts val="2575"/>
              </a:spcBef>
              <a:tabLst>
                <a:tab pos="1421130" algn="l"/>
                <a:tab pos="1609725" algn="l"/>
              </a:tabLst>
            </a:pPr>
            <a:r>
              <a:rPr sz="1600" spc="-10" dirty="0">
                <a:solidFill>
                  <a:srgbClr val="5A6B80"/>
                </a:solidFill>
                <a:latin typeface="Calibri"/>
                <a:cs typeface="Calibri"/>
              </a:rPr>
              <a:t>COMPONENT A	·	Nat. Inst. of Neurological Disorders and Stroke · PA-27-100</a:t>
            </a:r>
            <a:endParaRPr sz="1600" dirty="0">
              <a:latin typeface="Calibri"/>
              <a:cs typeface="Calibri"/>
            </a:endParaRPr>
          </a:p>
        </p:txBody>
      </p:sp>
      <p:grpSp>
        <p:nvGrpSpPr>
          <p:cNvPr id="5" name="object 5"/>
          <p:cNvGrpSpPr/>
          <p:nvPr/>
        </p:nvGrpSpPr>
        <p:grpSpPr>
          <a:xfrm>
            <a:off x="13846810" y="926338"/>
            <a:ext cx="3441700" cy="762635"/>
            <a:chOff x="13846810" y="926338"/>
            <a:chExt cx="3441700" cy="762635"/>
          </a:xfrm>
        </p:grpSpPr>
        <p:sp>
          <p:nvSpPr>
            <p:cNvPr id="6" name="object 6"/>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7" name="object 7"/>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8" name="object 8"/>
          <p:cNvSpPr txBox="1"/>
          <p:nvPr/>
        </p:nvSpPr>
        <p:spPr>
          <a:xfrm>
            <a:off x="15030964" y="1140459"/>
            <a:ext cx="1073785" cy="314960"/>
          </a:xfrm>
          <a:prstGeom prst="rect">
            <a:avLst/>
          </a:prstGeom>
        </p:spPr>
        <p:txBody>
          <a:bodyPr vert="horz" wrap="square" lIns="0" tIns="12700" rIns="0" bIns="0" rtlCol="0">
            <a:spAutoFit/>
          </a:bodyPr>
          <a:lstStyle/>
          <a:p>
            <a:pPr marL="12700">
              <a:lnSpc>
                <a:spcPct val="100000"/>
              </a:lnSpc>
              <a:spcBef>
                <a:spcPts val="100"/>
              </a:spcBef>
            </a:pPr>
            <a:r>
              <a:rPr sz="1900" spc="-60" dirty="0">
                <a:solidFill>
                  <a:srgbClr val="FFFFFF"/>
                </a:solidFill>
                <a:latin typeface="Arial Black"/>
                <a:cs typeface="Arial Black"/>
              </a:rPr>
              <a:t>189 days</a:t>
            </a:r>
            <a:endParaRPr sz="1900">
              <a:latin typeface="Arial Black"/>
              <a:cs typeface="Arial Black"/>
            </a:endParaRPr>
          </a:p>
        </p:txBody>
      </p:sp>
      <p:sp>
        <p:nvSpPr>
          <p:cNvPr id="9" name="object 9"/>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$323K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NINDS ceiling to be verified</a:t>
            </a:r>
            <a:endParaRPr sz="1200">
              <a:latin typeface="Calibri"/>
              <a:cs typeface="Calibri"/>
            </a:endParaRPr>
          </a:p>
        </p:txBody>
      </p:sp>
      <p:sp>
        <p:nvSpPr>
          <p:cNvPr id="10" name="object 10"/>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$2.15M</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ceiling: $2,153,927</a:t>
            </a:r>
            <a:endParaRPr sz="1200">
              <a:latin typeface="Calibri"/>
              <a:cs typeface="Calibri"/>
            </a:endParaRPr>
          </a:p>
        </p:txBody>
      </p:sp>
      <p:sp>
        <p:nvSpPr>
          <p:cNvPr id="11" name="object 11"/>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Apr 5, 2027</a:t>
            </a:r>
            <a:endParaRPr sz="2000">
              <a:latin typeface="Arial Black"/>
              <a:cs typeface="Arial Black"/>
            </a:endParaRPr>
          </a:p>
        </p:txBody>
      </p:sp>
      <p:sp>
        <p:nvSpPr>
          <p:cNvPr id="12" name="object 12"/>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3" name="object 13"/>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4" name="object 14"/>
          <p:cNvSpPr txBox="1"/>
          <p:nvPr/>
        </p:nvSpPr>
        <p:spPr>
          <a:xfrm>
            <a:off x="901700" y="6281420"/>
            <a:ext cx="1030351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Runs translational tool programs supporting cell therapies for Parkinson’s disease and ALS, where manufacturing consistency is a named barrier.</a:t>
            </a:r>
            <a:endParaRPr sz="2100">
              <a:latin typeface="Calibri"/>
              <a:cs typeface="Calibri"/>
            </a:endParaRPr>
          </a:p>
        </p:txBody>
      </p:sp>
      <p:sp>
        <p:nvSpPr>
          <p:cNvPr id="15" name="object 15"/>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6" name="object 16"/>
          <p:cNvSpPr txBox="1"/>
          <p:nvPr/>
        </p:nvSpPr>
        <p:spPr>
          <a:xfrm>
            <a:off x="901700" y="7707883"/>
            <a:ext cx="12579985" cy="345440"/>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36404F"/>
                </a:solidFill>
                <a:latin typeface="Calibri"/>
                <a:cs typeface="Calibri"/>
              </a:rPr>
              <a:t>The Aspen license proves commercial pull in exactly this indication; the concept filed is the generalized clone-selection and scale-out QC tool, not Aspen’s product.</a:t>
            </a:r>
            <a:endParaRPr sz="2100">
              <a:latin typeface="Calibri"/>
              <a:cs typeface="Calibri"/>
            </a:endParaRPr>
          </a:p>
        </p:txBody>
      </p:sp>
      <p:grpSp>
        <p:nvGrpSpPr>
          <p:cNvPr id="17" name="object 17"/>
          <p:cNvGrpSpPr/>
          <p:nvPr/>
        </p:nvGrpSpPr>
        <p:grpSpPr>
          <a:xfrm>
            <a:off x="908050" y="8534145"/>
            <a:ext cx="16471900" cy="26034"/>
            <a:chOff x="908050" y="8534145"/>
            <a:chExt cx="16471900" cy="26034"/>
          </a:xfrm>
        </p:grpSpPr>
        <p:sp>
          <p:nvSpPr>
            <p:cNvPr id="18" name="object 18"/>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19" name="object 19"/>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0" name="object 20"/>
          <p:cNvSpPr txBox="1"/>
          <p:nvPr/>
        </p:nvSpPr>
        <p:spPr>
          <a:xfrm>
            <a:off x="901700" y="8644064"/>
            <a:ext cx="4394835"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PA-27-100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1" name="object 2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678939" cy="1549400"/>
          </a:xfrm>
          <a:prstGeom prst="rect">
            <a:avLst/>
          </a:prstGeom>
        </p:spPr>
        <p:txBody>
          <a:bodyPr vert="horz" wrap="square" lIns="0" tIns="12700" rIns="0" bIns="0" rtlCol="0">
            <a:spAutoFit/>
          </a:bodyPr>
          <a:lstStyle/>
          <a:p>
            <a:pPr marL="12700">
              <a:lnSpc>
                <a:spcPct val="100000"/>
              </a:lnSpc>
              <a:spcBef>
                <a:spcPts val="100"/>
              </a:spcBef>
            </a:pPr>
            <a:r>
              <a:rPr sz="10000" spc="-140" dirty="0">
                <a:solidFill>
                  <a:srgbClr val="DDE4ED"/>
                </a:solidFill>
                <a:latin typeface="Arial Black"/>
                <a:cs typeface="Arial Black"/>
              </a:rPr>
              <a:t>05</a:t>
            </a:r>
            <a:endParaRPr sz="10000">
              <a:latin typeface="Arial Black"/>
              <a:cs typeface="Arial Black"/>
            </a:endParaRPr>
          </a:p>
        </p:txBody>
      </p:sp>
      <p:sp>
        <p:nvSpPr>
          <p:cNvPr id="4" name="object 4"/>
          <p:cNvSpPr txBox="1"/>
          <p:nvPr/>
        </p:nvSpPr>
        <p:spPr>
          <a:xfrm>
            <a:off x="3050540" y="727963"/>
            <a:ext cx="6244590"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STTR at NIAMS:</a:t>
            </a:r>
            <a:endParaRPr sz="3600">
              <a:latin typeface="Arial Black"/>
              <a:cs typeface="Arial Black"/>
            </a:endParaRPr>
          </a:p>
          <a:p>
            <a:pPr marL="12700">
              <a:lnSpc>
                <a:spcPct val="100000"/>
              </a:lnSpc>
              <a:spcBef>
                <a:spcPts val="1875"/>
              </a:spcBef>
            </a:pPr>
            <a:r>
              <a:rPr sz="3600" spc="-140" dirty="0">
                <a:solidFill>
                  <a:srgbClr val="162739"/>
                </a:solidFill>
                <a:latin typeface="Arial Black"/>
                <a:cs typeface="Arial Black"/>
              </a:rPr>
              <a:t>CTP Potency Assay</a:t>
            </a:r>
            <a:endParaRPr sz="3600">
              <a:latin typeface="Arial Black"/>
              <a:cs typeface="Arial Black"/>
            </a:endParaRPr>
          </a:p>
          <a:p>
            <a:pPr marL="12700">
              <a:lnSpc>
                <a:spcPct val="100000"/>
              </a:lnSpc>
              <a:spcBef>
                <a:spcPts val="2575"/>
              </a:spcBef>
              <a:tabLst>
                <a:tab pos="1418590" algn="l"/>
                <a:tab pos="1607820" algn="l"/>
              </a:tabLst>
            </a:pPr>
            <a:r>
              <a:rPr sz="1600" spc="-20" dirty="0">
                <a:solidFill>
                  <a:srgbClr val="5A6B80"/>
                </a:solidFill>
                <a:latin typeface="Calibri"/>
                <a:cs typeface="Calibri"/>
              </a:rPr>
              <a:t>COMPONENT C	·	Nat. Inst. of Arthritis and Musculoskeletal and Skin Diseases · PA-27-102</a:t>
            </a:r>
            <a:endParaRPr sz="1600">
              <a:latin typeface="Calibri"/>
              <a:cs typeface="Calibri"/>
            </a:endParaRPr>
          </a:p>
        </p:txBody>
      </p:sp>
      <p:grpSp>
        <p:nvGrpSpPr>
          <p:cNvPr id="5" name="object 5"/>
          <p:cNvGrpSpPr/>
          <p:nvPr/>
        </p:nvGrpSpPr>
        <p:grpSpPr>
          <a:xfrm>
            <a:off x="13846810" y="926338"/>
            <a:ext cx="3441700" cy="762635"/>
            <a:chOff x="13846810" y="926338"/>
            <a:chExt cx="3441700" cy="762635"/>
          </a:xfrm>
        </p:grpSpPr>
        <p:sp>
          <p:nvSpPr>
            <p:cNvPr id="6" name="object 6"/>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7" name="object 7"/>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8" name="object 8"/>
          <p:cNvSpPr txBox="1"/>
          <p:nvPr/>
        </p:nvSpPr>
        <p:spPr>
          <a:xfrm>
            <a:off x="15030964" y="1140459"/>
            <a:ext cx="1073785" cy="314960"/>
          </a:xfrm>
          <a:prstGeom prst="rect">
            <a:avLst/>
          </a:prstGeom>
        </p:spPr>
        <p:txBody>
          <a:bodyPr vert="horz" wrap="square" lIns="0" tIns="12700" rIns="0" bIns="0" rtlCol="0">
            <a:spAutoFit/>
          </a:bodyPr>
          <a:lstStyle/>
          <a:p>
            <a:pPr marL="12700">
              <a:lnSpc>
                <a:spcPct val="100000"/>
              </a:lnSpc>
              <a:spcBef>
                <a:spcPts val="100"/>
              </a:spcBef>
            </a:pPr>
            <a:r>
              <a:rPr sz="1900" spc="-60" dirty="0">
                <a:solidFill>
                  <a:srgbClr val="FFFFFF"/>
                </a:solidFill>
                <a:latin typeface="Arial Black"/>
                <a:cs typeface="Arial Black"/>
              </a:rPr>
              <a:t>189 days</a:t>
            </a:r>
            <a:endParaRPr sz="1900">
              <a:latin typeface="Arial Black"/>
              <a:cs typeface="Arial Black"/>
            </a:endParaRPr>
          </a:p>
        </p:txBody>
      </p:sp>
      <p:sp>
        <p:nvSpPr>
          <p:cNvPr id="9" name="object 9"/>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55" dirty="0">
                <a:solidFill>
                  <a:srgbClr val="162739"/>
                </a:solidFill>
                <a:latin typeface="Arial Black"/>
                <a:cs typeface="Arial Black"/>
              </a:rPr>
              <a:t>$323K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ceiling: $323,090</a:t>
            </a:r>
            <a:endParaRPr sz="1200">
              <a:latin typeface="Calibri"/>
              <a:cs typeface="Calibri"/>
            </a:endParaRPr>
          </a:p>
        </p:txBody>
      </p:sp>
      <p:sp>
        <p:nvSpPr>
          <p:cNvPr id="10" name="object 10"/>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285" dirty="0">
                <a:solidFill>
                  <a:srgbClr val="162739"/>
                </a:solidFill>
                <a:latin typeface="Arial Black"/>
                <a:cs typeface="Arial Black"/>
              </a:rPr>
              <a:t>$2.15M</a:t>
            </a:r>
            <a:endParaRPr sz="3200">
              <a:latin typeface="Arial Black"/>
              <a:cs typeface="Arial Black"/>
            </a:endParaRPr>
          </a:p>
          <a:p>
            <a:pPr marL="274320">
              <a:lnSpc>
                <a:spcPct val="100000"/>
              </a:lnSpc>
              <a:spcBef>
                <a:spcPts val="2550"/>
              </a:spcBef>
            </a:pPr>
            <a:r>
              <a:rPr sz="1200" spc="-10" dirty="0">
                <a:solidFill>
                  <a:srgbClr val="5A6B80"/>
                </a:solidFill>
                <a:latin typeface="Calibri"/>
                <a:cs typeface="Calibri"/>
              </a:rPr>
              <a:t>SBA guideline ceiling: $2,153,927</a:t>
            </a:r>
            <a:endParaRPr sz="1200">
              <a:latin typeface="Calibri"/>
              <a:cs typeface="Calibri"/>
            </a:endParaRPr>
          </a:p>
        </p:txBody>
      </p:sp>
      <p:sp>
        <p:nvSpPr>
          <p:cNvPr id="11" name="object 11"/>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Apr 5, 2027</a:t>
            </a:r>
            <a:endParaRPr sz="2000">
              <a:latin typeface="Arial Black"/>
              <a:cs typeface="Arial Black"/>
            </a:endParaRPr>
          </a:p>
        </p:txBody>
      </p:sp>
      <p:sp>
        <p:nvSpPr>
          <p:cNvPr id="12" name="object 12"/>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3" name="object 13"/>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4" name="object 14"/>
          <p:cNvSpPr txBox="1"/>
          <p:nvPr/>
        </p:nvSpPr>
        <p:spPr>
          <a:xfrm>
            <a:off x="901700" y="6281420"/>
            <a:ext cx="10675620" cy="345440"/>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36404F"/>
                </a:solidFill>
                <a:latin typeface="Calibri"/>
                <a:cs typeface="Calibri"/>
              </a:rPr>
              <a:t>Funds regenerative medicine for musculoskeletal repair and rigor in orthobiologics, a field the institute knows is measurement-starved.</a:t>
            </a:r>
            <a:endParaRPr sz="2100">
              <a:latin typeface="Calibri"/>
              <a:cs typeface="Calibri"/>
            </a:endParaRPr>
          </a:p>
        </p:txBody>
      </p:sp>
      <p:sp>
        <p:nvSpPr>
          <p:cNvPr id="15" name="object 15"/>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6" name="object 16"/>
          <p:cNvSpPr txBox="1"/>
          <p:nvPr/>
        </p:nvSpPr>
        <p:spPr>
          <a:xfrm>
            <a:off x="901700" y="7707883"/>
            <a:ext cx="13009880" cy="345440"/>
          </a:xfrm>
          <a:prstGeom prst="rect">
            <a:avLst/>
          </a:prstGeom>
        </p:spPr>
        <p:txBody>
          <a:bodyPr vert="horz" wrap="square" lIns="0" tIns="12700" rIns="0" bIns="0" rtlCol="0">
            <a:spAutoFit/>
          </a:bodyPr>
          <a:lstStyle/>
          <a:p>
            <a:pPr marL="12700">
              <a:lnSpc>
                <a:spcPct val="100000"/>
              </a:lnSpc>
              <a:spcBef>
                <a:spcPts val="100"/>
              </a:spcBef>
            </a:pPr>
            <a:r>
              <a:rPr sz="2100" spc="-20" dirty="0">
                <a:solidFill>
                  <a:srgbClr val="36404F"/>
                </a:solidFill>
                <a:latin typeface="Calibri"/>
                <a:cs typeface="Calibri"/>
              </a:rPr>
              <a:t>The founders invented this measurement science; the 2017 and 2020 papers are its direct record, and Muschler can sit on the institution side of an STTR.</a:t>
            </a:r>
            <a:endParaRPr sz="2100">
              <a:latin typeface="Calibri"/>
              <a:cs typeface="Calibri"/>
            </a:endParaRPr>
          </a:p>
        </p:txBody>
      </p:sp>
      <p:grpSp>
        <p:nvGrpSpPr>
          <p:cNvPr id="17" name="object 17"/>
          <p:cNvGrpSpPr/>
          <p:nvPr/>
        </p:nvGrpSpPr>
        <p:grpSpPr>
          <a:xfrm>
            <a:off x="908050" y="8534145"/>
            <a:ext cx="16471900" cy="26034"/>
            <a:chOff x="908050" y="8534145"/>
            <a:chExt cx="16471900" cy="26034"/>
          </a:xfrm>
        </p:grpSpPr>
        <p:sp>
          <p:nvSpPr>
            <p:cNvPr id="18" name="object 18"/>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19" name="object 19"/>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0" name="object 20"/>
          <p:cNvSpPr txBox="1"/>
          <p:nvPr/>
        </p:nvSpPr>
        <p:spPr>
          <a:xfrm>
            <a:off x="901700" y="8644064"/>
            <a:ext cx="461010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PA-27-102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spc="-10"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1" name="object 2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662430" cy="1549400"/>
          </a:xfrm>
          <a:prstGeom prst="rect">
            <a:avLst/>
          </a:prstGeom>
        </p:spPr>
        <p:txBody>
          <a:bodyPr vert="horz" wrap="square" lIns="0" tIns="12700" rIns="0" bIns="0" rtlCol="0">
            <a:spAutoFit/>
          </a:bodyPr>
          <a:lstStyle/>
          <a:p>
            <a:pPr marL="12700">
              <a:lnSpc>
                <a:spcPct val="100000"/>
              </a:lnSpc>
              <a:spcBef>
                <a:spcPts val="100"/>
              </a:spcBef>
            </a:pPr>
            <a:r>
              <a:rPr sz="10000" spc="-295" dirty="0">
                <a:solidFill>
                  <a:srgbClr val="DDE4ED"/>
                </a:solidFill>
                <a:latin typeface="Arial Black"/>
                <a:cs typeface="Arial Black"/>
              </a:rPr>
              <a:t>06</a:t>
            </a:r>
            <a:endParaRPr sz="10000">
              <a:latin typeface="Arial Black"/>
              <a:cs typeface="Arial Black"/>
            </a:endParaRPr>
          </a:p>
        </p:txBody>
      </p:sp>
      <p:sp>
        <p:nvSpPr>
          <p:cNvPr id="4" name="object 4"/>
          <p:cNvSpPr txBox="1"/>
          <p:nvPr/>
        </p:nvSpPr>
        <p:spPr>
          <a:xfrm>
            <a:off x="3050540" y="727963"/>
            <a:ext cx="6664959"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SBIR at NHLBI:</a:t>
            </a:r>
            <a:endParaRPr sz="3600">
              <a:latin typeface="Arial Black"/>
              <a:cs typeface="Arial Black"/>
            </a:endParaRPr>
          </a:p>
          <a:p>
            <a:pPr marL="12700">
              <a:lnSpc>
                <a:spcPct val="100000"/>
              </a:lnSpc>
              <a:spcBef>
                <a:spcPts val="1875"/>
              </a:spcBef>
            </a:pPr>
            <a:r>
              <a:rPr sz="3600" spc="-10" dirty="0">
                <a:solidFill>
                  <a:srgbClr val="162739"/>
                </a:solidFill>
                <a:latin typeface="Arial Black"/>
                <a:cs typeface="Arial Black"/>
              </a:rPr>
              <a:t>HSC Cloning QC</a:t>
            </a:r>
            <a:endParaRPr sz="3600">
              <a:latin typeface="Arial Black"/>
              <a:cs typeface="Arial Black"/>
            </a:endParaRPr>
          </a:p>
          <a:p>
            <a:pPr marL="12700">
              <a:lnSpc>
                <a:spcPct val="100000"/>
              </a:lnSpc>
              <a:spcBef>
                <a:spcPts val="2575"/>
              </a:spcBef>
              <a:tabLst>
                <a:tab pos="1418590" algn="l"/>
                <a:tab pos="1607820" algn="l"/>
              </a:tabLst>
            </a:pPr>
            <a:r>
              <a:rPr sz="1600" spc="-10" dirty="0">
                <a:solidFill>
                  <a:srgbClr val="5A6B80"/>
                </a:solidFill>
                <a:latin typeface="Calibri"/>
                <a:cs typeface="Calibri"/>
              </a:rPr>
              <a:t>COMPONENT D	·	National Heart, Lung, and Blood Institute · PA-27-100</a:t>
            </a:r>
            <a:endParaRPr sz="1600">
              <a:latin typeface="Calibri"/>
              <a:cs typeface="Calibri"/>
            </a:endParaRPr>
          </a:p>
        </p:txBody>
      </p:sp>
      <p:grpSp>
        <p:nvGrpSpPr>
          <p:cNvPr id="5" name="object 5"/>
          <p:cNvGrpSpPr/>
          <p:nvPr/>
        </p:nvGrpSpPr>
        <p:grpSpPr>
          <a:xfrm>
            <a:off x="13846810" y="926338"/>
            <a:ext cx="3441700" cy="762635"/>
            <a:chOff x="13846810" y="926338"/>
            <a:chExt cx="3441700" cy="762635"/>
          </a:xfrm>
        </p:grpSpPr>
        <p:sp>
          <p:nvSpPr>
            <p:cNvPr id="6" name="object 6"/>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7" name="object 7"/>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8" name="object 8"/>
          <p:cNvSpPr txBox="1"/>
          <p:nvPr/>
        </p:nvSpPr>
        <p:spPr>
          <a:xfrm>
            <a:off x="15030964" y="1140459"/>
            <a:ext cx="1073785" cy="314960"/>
          </a:xfrm>
          <a:prstGeom prst="rect">
            <a:avLst/>
          </a:prstGeom>
        </p:spPr>
        <p:txBody>
          <a:bodyPr vert="horz" wrap="square" lIns="0" tIns="12700" rIns="0" bIns="0" rtlCol="0">
            <a:spAutoFit/>
          </a:bodyPr>
          <a:lstStyle/>
          <a:p>
            <a:pPr marL="12700">
              <a:lnSpc>
                <a:spcPct val="100000"/>
              </a:lnSpc>
              <a:spcBef>
                <a:spcPts val="100"/>
              </a:spcBef>
            </a:pPr>
            <a:r>
              <a:rPr sz="1900" spc="-60" dirty="0">
                <a:solidFill>
                  <a:srgbClr val="FFFFFF"/>
                </a:solidFill>
                <a:latin typeface="Arial Black"/>
                <a:cs typeface="Arial Black"/>
              </a:rPr>
              <a:t>189 days</a:t>
            </a:r>
            <a:endParaRPr sz="1900">
              <a:latin typeface="Arial Black"/>
              <a:cs typeface="Arial Black"/>
            </a:endParaRPr>
          </a:p>
        </p:txBody>
      </p:sp>
      <p:sp>
        <p:nvSpPr>
          <p:cNvPr id="9" name="object 9"/>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55" dirty="0">
                <a:solidFill>
                  <a:srgbClr val="162739"/>
                </a:solidFill>
                <a:latin typeface="Arial Black"/>
                <a:cs typeface="Arial Black"/>
              </a:rPr>
              <a:t>$400K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NHLBI published Phase I ceiling</a:t>
            </a:r>
            <a:endParaRPr sz="1200">
              <a:latin typeface="Calibri"/>
              <a:cs typeface="Calibri"/>
            </a:endParaRPr>
          </a:p>
        </p:txBody>
      </p:sp>
      <p:sp>
        <p:nvSpPr>
          <p:cNvPr id="10" name="object 10"/>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285" dirty="0">
                <a:solidFill>
                  <a:srgbClr val="162739"/>
                </a:solidFill>
                <a:latin typeface="Arial Black"/>
                <a:cs typeface="Arial Black"/>
              </a:rPr>
              <a:t>$3.0M</a:t>
            </a:r>
            <a:endParaRPr sz="3200">
              <a:latin typeface="Arial Black"/>
              <a:cs typeface="Arial Black"/>
            </a:endParaRPr>
          </a:p>
          <a:p>
            <a:pPr marL="274320">
              <a:lnSpc>
                <a:spcPct val="100000"/>
              </a:lnSpc>
              <a:spcBef>
                <a:spcPts val="2550"/>
              </a:spcBef>
            </a:pPr>
            <a:r>
              <a:rPr sz="1200" spc="-10" dirty="0">
                <a:solidFill>
                  <a:srgbClr val="5A6B80"/>
                </a:solidFill>
                <a:latin typeface="Calibri"/>
                <a:cs typeface="Calibri"/>
              </a:rPr>
              <a:t>NHLBI published Phase II ceiling, highest in the slate</a:t>
            </a:r>
            <a:endParaRPr sz="1200">
              <a:latin typeface="Calibri"/>
              <a:cs typeface="Calibri"/>
            </a:endParaRPr>
          </a:p>
        </p:txBody>
      </p:sp>
      <p:sp>
        <p:nvSpPr>
          <p:cNvPr id="11" name="object 11"/>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Apr 5, 2027</a:t>
            </a:r>
            <a:endParaRPr sz="2000">
              <a:latin typeface="Arial Black"/>
              <a:cs typeface="Arial Black"/>
            </a:endParaRPr>
          </a:p>
        </p:txBody>
      </p:sp>
      <p:sp>
        <p:nvSpPr>
          <p:cNvPr id="12" name="object 12"/>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3" name="object 13"/>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4" name="object 14"/>
          <p:cNvSpPr txBox="1"/>
          <p:nvPr/>
        </p:nvSpPr>
        <p:spPr>
          <a:xfrm>
            <a:off x="901700" y="6281420"/>
            <a:ext cx="10873105" cy="345440"/>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36404F"/>
                </a:solidFill>
                <a:latin typeface="Calibri"/>
                <a:cs typeface="Calibri"/>
              </a:rPr>
              <a:t>Funds manufacturing priorities descended from the Cure Sickle Cell Initiative, including the access and cost of autologous gene therapy.</a:t>
            </a:r>
            <a:endParaRPr sz="2100">
              <a:latin typeface="Calibri"/>
              <a:cs typeface="Calibri"/>
            </a:endParaRPr>
          </a:p>
        </p:txBody>
      </p:sp>
      <p:sp>
        <p:nvSpPr>
          <p:cNvPr id="15" name="object 15"/>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6" name="object 16"/>
          <p:cNvSpPr txBox="1"/>
          <p:nvPr/>
        </p:nvSpPr>
        <p:spPr>
          <a:xfrm>
            <a:off x="901700" y="7707883"/>
            <a:ext cx="1070610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Closed, automated single-cell cloning and expansion QC for autologous HSC gene therapies; files only once the company confirms HSC runs exist.</a:t>
            </a:r>
            <a:endParaRPr sz="2100">
              <a:latin typeface="Calibri"/>
              <a:cs typeface="Calibri"/>
            </a:endParaRPr>
          </a:p>
        </p:txBody>
      </p:sp>
      <p:grpSp>
        <p:nvGrpSpPr>
          <p:cNvPr id="17" name="object 17"/>
          <p:cNvGrpSpPr/>
          <p:nvPr/>
        </p:nvGrpSpPr>
        <p:grpSpPr>
          <a:xfrm>
            <a:off x="908050" y="8534145"/>
            <a:ext cx="16471900" cy="26034"/>
            <a:chOff x="908050" y="8534145"/>
            <a:chExt cx="16471900" cy="26034"/>
          </a:xfrm>
        </p:grpSpPr>
        <p:sp>
          <p:nvSpPr>
            <p:cNvPr id="18" name="object 18"/>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19" name="object 19"/>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0" name="object 20"/>
          <p:cNvSpPr txBox="1"/>
          <p:nvPr/>
        </p:nvSpPr>
        <p:spPr>
          <a:xfrm>
            <a:off x="901700" y="8644064"/>
            <a:ext cx="461010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PA-27-100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spc="-10"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1" name="object 2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532890" cy="1549400"/>
          </a:xfrm>
          <a:prstGeom prst="rect">
            <a:avLst/>
          </a:prstGeom>
        </p:spPr>
        <p:txBody>
          <a:bodyPr vert="horz" wrap="square" lIns="0" tIns="12700" rIns="0" bIns="0" rtlCol="0">
            <a:spAutoFit/>
          </a:bodyPr>
          <a:lstStyle/>
          <a:p>
            <a:pPr marL="12700">
              <a:lnSpc>
                <a:spcPct val="100000"/>
              </a:lnSpc>
              <a:spcBef>
                <a:spcPts val="100"/>
              </a:spcBef>
            </a:pPr>
            <a:r>
              <a:rPr sz="10000" spc="-830" dirty="0">
                <a:solidFill>
                  <a:srgbClr val="DDE4ED"/>
                </a:solidFill>
                <a:latin typeface="Arial Black"/>
                <a:cs typeface="Arial Black"/>
              </a:rPr>
              <a:t>07</a:t>
            </a:r>
            <a:endParaRPr sz="10000">
              <a:latin typeface="Arial Black"/>
              <a:cs typeface="Arial Black"/>
            </a:endParaRPr>
          </a:p>
        </p:txBody>
      </p:sp>
      <p:sp>
        <p:nvSpPr>
          <p:cNvPr id="4" name="object 4"/>
          <p:cNvSpPr txBox="1"/>
          <p:nvPr/>
        </p:nvSpPr>
        <p:spPr>
          <a:xfrm>
            <a:off x="3050540" y="727963"/>
            <a:ext cx="6216015"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SBIR at NIGMS:</a:t>
            </a:r>
            <a:endParaRPr sz="3600">
              <a:latin typeface="Arial Black"/>
              <a:cs typeface="Arial Black"/>
            </a:endParaRPr>
          </a:p>
          <a:p>
            <a:pPr marL="12700">
              <a:lnSpc>
                <a:spcPct val="100000"/>
              </a:lnSpc>
              <a:spcBef>
                <a:spcPts val="1875"/>
              </a:spcBef>
            </a:pPr>
            <a:r>
              <a:rPr sz="3600" spc="-165" dirty="0">
                <a:solidFill>
                  <a:srgbClr val="162739"/>
                </a:solidFill>
                <a:latin typeface="Arial Black"/>
                <a:cs typeface="Arial Black"/>
              </a:rPr>
              <a:t>General Research Tool</a:t>
            </a:r>
            <a:endParaRPr sz="3600">
              <a:latin typeface="Arial Black"/>
              <a:cs typeface="Arial Black"/>
            </a:endParaRPr>
          </a:p>
          <a:p>
            <a:pPr marL="12700">
              <a:lnSpc>
                <a:spcPct val="100000"/>
              </a:lnSpc>
              <a:spcBef>
                <a:spcPts val="2575"/>
              </a:spcBef>
              <a:tabLst>
                <a:tab pos="1418590" algn="l"/>
                <a:tab pos="1607820" algn="l"/>
              </a:tabLst>
            </a:pPr>
            <a:r>
              <a:rPr sz="1600" spc="-10" dirty="0">
                <a:solidFill>
                  <a:srgbClr val="5A6B80"/>
                </a:solidFill>
                <a:latin typeface="Calibri"/>
                <a:cs typeface="Calibri"/>
              </a:rPr>
              <a:t>COMPONENT B	·	Nat. Inst. of General Medical Sciences</a:t>
            </a:r>
            <a:endParaRPr sz="1600">
              <a:latin typeface="Calibri"/>
              <a:cs typeface="Calibri"/>
            </a:endParaRPr>
          </a:p>
        </p:txBody>
      </p:sp>
      <p:grpSp>
        <p:nvGrpSpPr>
          <p:cNvPr id="6" name="object 6"/>
          <p:cNvGrpSpPr/>
          <p:nvPr/>
        </p:nvGrpSpPr>
        <p:grpSpPr>
          <a:xfrm>
            <a:off x="13846810" y="926338"/>
            <a:ext cx="3441700" cy="762635"/>
            <a:chOff x="13846810" y="926338"/>
            <a:chExt cx="3441700" cy="762635"/>
          </a:xfrm>
        </p:grpSpPr>
        <p:sp>
          <p:nvSpPr>
            <p:cNvPr id="7" name="object 7"/>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8" name="object 8"/>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9" name="object 9"/>
          <p:cNvSpPr txBox="1"/>
          <p:nvPr/>
        </p:nvSpPr>
        <p:spPr>
          <a:xfrm>
            <a:off x="14998033" y="1140459"/>
            <a:ext cx="1139825" cy="314960"/>
          </a:xfrm>
          <a:prstGeom prst="rect">
            <a:avLst/>
          </a:prstGeom>
        </p:spPr>
        <p:txBody>
          <a:bodyPr vert="horz" wrap="square" lIns="0" tIns="12700" rIns="0" bIns="0" rtlCol="0">
            <a:spAutoFit/>
          </a:bodyPr>
          <a:lstStyle/>
          <a:p>
            <a:pPr marL="12700">
              <a:lnSpc>
                <a:spcPct val="100000"/>
              </a:lnSpc>
              <a:spcBef>
                <a:spcPts val="100"/>
              </a:spcBef>
            </a:pPr>
            <a:r>
              <a:rPr sz="1900" spc="-20" dirty="0">
                <a:solidFill>
                  <a:srgbClr val="FFFFFF"/>
                </a:solidFill>
                <a:latin typeface="Arial Black"/>
                <a:cs typeface="Arial Black"/>
              </a:rPr>
              <a:t>342 days</a:t>
            </a:r>
            <a:endParaRPr sz="1900">
              <a:latin typeface="Arial Black"/>
              <a:cs typeface="Arial Black"/>
            </a:endParaRPr>
          </a:p>
        </p:txBody>
      </p:sp>
      <p:sp>
        <p:nvSpPr>
          <p:cNvPr id="5" name="object 5"/>
          <p:cNvSpPr txBox="1"/>
          <p:nvPr/>
        </p:nvSpPr>
        <p:spPr>
          <a:xfrm>
            <a:off x="9332489" y="2627883"/>
            <a:ext cx="1270635" cy="269240"/>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5A6B80"/>
                </a:solidFill>
                <a:latin typeface="Calibri"/>
                <a:cs typeface="Calibri"/>
              </a:rPr>
              <a:t>· PA-28 reissue</a:t>
            </a:r>
            <a:endParaRPr sz="1600">
              <a:latin typeface="Calibri"/>
              <a:cs typeface="Calibri"/>
            </a:endParaRPr>
          </a:p>
        </p:txBody>
      </p:sp>
      <p:sp>
        <p:nvSpPr>
          <p:cNvPr id="10" name="object 10"/>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$323K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NIGMS ceiling to be verified</a:t>
            </a:r>
            <a:endParaRPr sz="1200">
              <a:latin typeface="Calibri"/>
              <a:cs typeface="Calibri"/>
            </a:endParaRPr>
          </a:p>
        </p:txBody>
      </p:sp>
      <p:sp>
        <p:nvSpPr>
          <p:cNvPr id="11" name="object 11"/>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$2.15M</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SBA guideline; the screen notes favorable caps</a:t>
            </a:r>
            <a:endParaRPr sz="1200">
              <a:latin typeface="Calibri"/>
              <a:cs typeface="Calibri"/>
            </a:endParaRPr>
          </a:p>
        </p:txBody>
      </p:sp>
      <p:sp>
        <p:nvSpPr>
          <p:cNvPr id="12" name="object 12"/>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Sep 5, 2027</a:t>
            </a:r>
            <a:endParaRPr sz="2000">
              <a:latin typeface="Arial Black"/>
              <a:cs typeface="Arial Black"/>
            </a:endParaRPr>
          </a:p>
          <a:p>
            <a:pPr>
              <a:lnSpc>
                <a:spcPct val="100000"/>
              </a:lnSpc>
              <a:spcBef>
                <a:spcPts val="405"/>
              </a:spcBef>
            </a:pPr>
            <a:endParaRPr sz="2000">
              <a:latin typeface="Arial Black"/>
              <a:cs typeface="Arial Black"/>
            </a:endParaRPr>
          </a:p>
          <a:p>
            <a:pPr marL="274320">
              <a:lnSpc>
                <a:spcPct val="100000"/>
              </a:lnSpc>
            </a:pPr>
            <a:r>
              <a:rPr sz="1200" spc="-10" dirty="0">
                <a:solidFill>
                  <a:srgbClr val="5A6B80"/>
                </a:solidFill>
                <a:latin typeface="Calibri"/>
                <a:cs typeface="Calibri"/>
              </a:rPr>
              <a:t>Under the expected FY2028 reissue</a:t>
            </a:r>
            <a:endParaRPr sz="1200">
              <a:latin typeface="Calibri"/>
              <a:cs typeface="Calibri"/>
            </a:endParaRPr>
          </a:p>
        </p:txBody>
      </p:sp>
      <p:sp>
        <p:nvSpPr>
          <p:cNvPr id="13" name="object 13"/>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4" name="object 14"/>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5" name="object 15"/>
          <p:cNvSpPr txBox="1"/>
          <p:nvPr/>
        </p:nvSpPr>
        <p:spPr>
          <a:xfrm>
            <a:off x="901700" y="6281420"/>
            <a:ext cx="996632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NIH’s biggest funder of research tools and instrumentation, carrying the NIH-wide rigor and reproducibility mandate.</a:t>
            </a:r>
            <a:endParaRPr sz="2100">
              <a:latin typeface="Calibri"/>
              <a:cs typeface="Calibri"/>
            </a:endParaRPr>
          </a:p>
        </p:txBody>
      </p:sp>
      <p:sp>
        <p:nvSpPr>
          <p:cNvPr id="16" name="object 16"/>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7" name="object 17"/>
          <p:cNvSpPr txBox="1"/>
          <p:nvPr/>
        </p:nvSpPr>
        <p:spPr>
          <a:xfrm>
            <a:off x="901700" y="7707883"/>
            <a:ext cx="1293431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Celligent as a general instrument for reproducible stem cell culture in ordinary labs; held behind NCATS to settle the primary-versus-co-funder question first.</a:t>
            </a:r>
            <a:endParaRPr sz="2100">
              <a:latin typeface="Calibri"/>
              <a:cs typeface="Calibri"/>
            </a:endParaRPr>
          </a:p>
        </p:txBody>
      </p:sp>
      <p:grpSp>
        <p:nvGrpSpPr>
          <p:cNvPr id="18" name="object 18"/>
          <p:cNvGrpSpPr/>
          <p:nvPr/>
        </p:nvGrpSpPr>
        <p:grpSpPr>
          <a:xfrm>
            <a:off x="908050" y="8534145"/>
            <a:ext cx="16471900" cy="26034"/>
            <a:chOff x="908050" y="8534145"/>
            <a:chExt cx="16471900" cy="26034"/>
          </a:xfrm>
        </p:grpSpPr>
        <p:sp>
          <p:nvSpPr>
            <p:cNvPr id="19" name="object 19"/>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20" name="object 20"/>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1" name="object 21"/>
          <p:cNvSpPr txBox="1"/>
          <p:nvPr/>
        </p:nvSpPr>
        <p:spPr>
          <a:xfrm>
            <a:off x="901700" y="8644064"/>
            <a:ext cx="461010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PA-27-100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spc="-10"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2" name="object 22"/>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676400" cy="1549400"/>
          </a:xfrm>
          <a:prstGeom prst="rect">
            <a:avLst/>
          </a:prstGeom>
        </p:spPr>
        <p:txBody>
          <a:bodyPr vert="horz" wrap="square" lIns="0" tIns="12700" rIns="0" bIns="0" rtlCol="0">
            <a:spAutoFit/>
          </a:bodyPr>
          <a:lstStyle/>
          <a:p>
            <a:pPr marL="12700">
              <a:lnSpc>
                <a:spcPct val="100000"/>
              </a:lnSpc>
              <a:spcBef>
                <a:spcPts val="100"/>
              </a:spcBef>
            </a:pPr>
            <a:r>
              <a:rPr sz="10000" spc="-150" dirty="0">
                <a:solidFill>
                  <a:srgbClr val="DDE4ED"/>
                </a:solidFill>
                <a:latin typeface="Arial Black"/>
                <a:cs typeface="Arial Black"/>
              </a:rPr>
              <a:t>08</a:t>
            </a:r>
            <a:endParaRPr sz="10000">
              <a:latin typeface="Arial Black"/>
              <a:cs typeface="Arial Black"/>
            </a:endParaRPr>
          </a:p>
        </p:txBody>
      </p:sp>
      <p:sp>
        <p:nvSpPr>
          <p:cNvPr id="4" name="object 4"/>
          <p:cNvSpPr txBox="1"/>
          <p:nvPr/>
        </p:nvSpPr>
        <p:spPr>
          <a:xfrm>
            <a:off x="3050540" y="727963"/>
            <a:ext cx="5305425"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STTR at NIA:</a:t>
            </a:r>
            <a:endParaRPr sz="3600">
              <a:latin typeface="Arial Black"/>
              <a:cs typeface="Arial Black"/>
            </a:endParaRPr>
          </a:p>
          <a:p>
            <a:pPr marL="12700">
              <a:lnSpc>
                <a:spcPct val="100000"/>
              </a:lnSpc>
              <a:spcBef>
                <a:spcPts val="1875"/>
              </a:spcBef>
            </a:pPr>
            <a:r>
              <a:rPr sz="3600" spc="-195" dirty="0">
                <a:solidFill>
                  <a:srgbClr val="162739"/>
                </a:solidFill>
                <a:latin typeface="Arial Black"/>
                <a:cs typeface="Arial Black"/>
              </a:rPr>
              <a:t>Aging iPSC Panels</a:t>
            </a:r>
            <a:endParaRPr sz="3600">
              <a:latin typeface="Arial Black"/>
              <a:cs typeface="Arial Black"/>
            </a:endParaRPr>
          </a:p>
          <a:p>
            <a:pPr marL="12700">
              <a:lnSpc>
                <a:spcPct val="100000"/>
              </a:lnSpc>
              <a:spcBef>
                <a:spcPts val="2575"/>
              </a:spcBef>
              <a:tabLst>
                <a:tab pos="1418590" algn="l"/>
                <a:tab pos="1607820" algn="l"/>
              </a:tabLst>
            </a:pPr>
            <a:r>
              <a:rPr sz="1600" spc="-10" dirty="0">
                <a:solidFill>
                  <a:srgbClr val="5A6B80"/>
                </a:solidFill>
                <a:latin typeface="Calibri"/>
                <a:cs typeface="Calibri"/>
              </a:rPr>
              <a:t>COMPONENT A	·	National Institute on Aging · PA-28 reissue</a:t>
            </a:r>
            <a:endParaRPr sz="1600">
              <a:latin typeface="Calibri"/>
              <a:cs typeface="Calibri"/>
            </a:endParaRPr>
          </a:p>
        </p:txBody>
      </p:sp>
      <p:grpSp>
        <p:nvGrpSpPr>
          <p:cNvPr id="5" name="object 5"/>
          <p:cNvGrpSpPr/>
          <p:nvPr/>
        </p:nvGrpSpPr>
        <p:grpSpPr>
          <a:xfrm>
            <a:off x="13846810" y="926338"/>
            <a:ext cx="3441700" cy="762635"/>
            <a:chOff x="13846810" y="926338"/>
            <a:chExt cx="3441700" cy="762635"/>
          </a:xfrm>
        </p:grpSpPr>
        <p:sp>
          <p:nvSpPr>
            <p:cNvPr id="6" name="object 6"/>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7" name="object 7"/>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8" name="object 8"/>
          <p:cNvSpPr txBox="1"/>
          <p:nvPr/>
        </p:nvSpPr>
        <p:spPr>
          <a:xfrm>
            <a:off x="14998033" y="1140459"/>
            <a:ext cx="1139825" cy="314960"/>
          </a:xfrm>
          <a:prstGeom prst="rect">
            <a:avLst/>
          </a:prstGeom>
        </p:spPr>
        <p:txBody>
          <a:bodyPr vert="horz" wrap="square" lIns="0" tIns="12700" rIns="0" bIns="0" rtlCol="0">
            <a:spAutoFit/>
          </a:bodyPr>
          <a:lstStyle/>
          <a:p>
            <a:pPr marL="12700">
              <a:lnSpc>
                <a:spcPct val="100000"/>
              </a:lnSpc>
              <a:spcBef>
                <a:spcPts val="100"/>
              </a:spcBef>
            </a:pPr>
            <a:r>
              <a:rPr sz="1900" spc="-20" dirty="0">
                <a:solidFill>
                  <a:srgbClr val="FFFFFF"/>
                </a:solidFill>
                <a:latin typeface="Arial Black"/>
                <a:cs typeface="Arial Black"/>
              </a:rPr>
              <a:t>342 days</a:t>
            </a:r>
            <a:endParaRPr sz="1900">
              <a:latin typeface="Arial Black"/>
              <a:cs typeface="Arial Black"/>
            </a:endParaRPr>
          </a:p>
        </p:txBody>
      </p:sp>
      <p:sp>
        <p:nvSpPr>
          <p:cNvPr id="9" name="object 9"/>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$700K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NIA published Phase I ceiling, highest at NIH</a:t>
            </a:r>
            <a:endParaRPr sz="1200">
              <a:latin typeface="Calibri"/>
              <a:cs typeface="Calibri"/>
            </a:endParaRPr>
          </a:p>
        </p:txBody>
      </p:sp>
      <p:sp>
        <p:nvSpPr>
          <p:cNvPr id="10" name="object 10"/>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$3.0M</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NIA published Phase II ceiling</a:t>
            </a:r>
            <a:endParaRPr sz="1200">
              <a:latin typeface="Calibri"/>
              <a:cs typeface="Calibri"/>
            </a:endParaRPr>
          </a:p>
        </p:txBody>
      </p:sp>
      <p:sp>
        <p:nvSpPr>
          <p:cNvPr id="11" name="object 11"/>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Sep 5, 2027</a:t>
            </a:r>
            <a:endParaRPr sz="2000">
              <a:latin typeface="Arial Black"/>
              <a:cs typeface="Arial Black"/>
            </a:endParaRPr>
          </a:p>
          <a:p>
            <a:pPr>
              <a:lnSpc>
                <a:spcPct val="100000"/>
              </a:lnSpc>
              <a:spcBef>
                <a:spcPts val="405"/>
              </a:spcBef>
            </a:pPr>
            <a:endParaRPr sz="2000">
              <a:latin typeface="Arial Black"/>
              <a:cs typeface="Arial Black"/>
            </a:endParaRPr>
          </a:p>
          <a:p>
            <a:pPr marL="274320">
              <a:lnSpc>
                <a:spcPct val="100000"/>
              </a:lnSpc>
            </a:pPr>
            <a:r>
              <a:rPr sz="1200" spc="-10" dirty="0">
                <a:solidFill>
                  <a:srgbClr val="5A6B80"/>
                </a:solidFill>
                <a:latin typeface="Calibri"/>
                <a:cs typeface="Calibri"/>
              </a:rPr>
              <a:t>Under the expected FY2028 reissue</a:t>
            </a:r>
            <a:endParaRPr sz="1200">
              <a:latin typeface="Calibri"/>
              <a:cs typeface="Calibri"/>
            </a:endParaRPr>
          </a:p>
        </p:txBody>
      </p:sp>
      <p:sp>
        <p:nvSpPr>
          <p:cNvPr id="12" name="object 12"/>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3" name="object 13"/>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4" name="object 14"/>
          <p:cNvSpPr txBox="1"/>
          <p:nvPr/>
        </p:nvSpPr>
        <p:spPr>
          <a:xfrm>
            <a:off x="901700" y="6281420"/>
            <a:ext cx="955548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Funds AD/ADRD translational infrastructure and research resources, with the highest small business caps at NIH.</a:t>
            </a:r>
            <a:endParaRPr sz="2100">
              <a:latin typeface="Calibri"/>
              <a:cs typeface="Calibri"/>
            </a:endParaRPr>
          </a:p>
        </p:txBody>
      </p:sp>
      <p:sp>
        <p:nvSpPr>
          <p:cNvPr id="15" name="object 15"/>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6" name="object 16"/>
          <p:cNvSpPr txBox="1"/>
          <p:nvPr/>
        </p:nvSpPr>
        <p:spPr>
          <a:xfrm>
            <a:off x="901700" y="7707883"/>
            <a:ext cx="1361122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Automated generation and QC of isogenic iPSC line panels for AD/ADRD research; a resource-production pitch that is STTR-shaped and needs a disease-scientist partner.</a:t>
            </a:r>
            <a:endParaRPr sz="2100">
              <a:latin typeface="Calibri"/>
              <a:cs typeface="Calibri"/>
            </a:endParaRPr>
          </a:p>
        </p:txBody>
      </p:sp>
      <p:grpSp>
        <p:nvGrpSpPr>
          <p:cNvPr id="17" name="object 17"/>
          <p:cNvGrpSpPr/>
          <p:nvPr/>
        </p:nvGrpSpPr>
        <p:grpSpPr>
          <a:xfrm>
            <a:off x="908050" y="8534145"/>
            <a:ext cx="16471900" cy="26034"/>
            <a:chOff x="908050" y="8534145"/>
            <a:chExt cx="16471900" cy="26034"/>
          </a:xfrm>
        </p:grpSpPr>
        <p:sp>
          <p:nvSpPr>
            <p:cNvPr id="18" name="object 18"/>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19" name="object 19"/>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0" name="object 20"/>
          <p:cNvSpPr txBox="1"/>
          <p:nvPr/>
        </p:nvSpPr>
        <p:spPr>
          <a:xfrm>
            <a:off x="901700" y="8644064"/>
            <a:ext cx="461010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PA-27-100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spc="-10" dirty="0">
                <a:solidFill>
                  <a:srgbClr val="0563C1"/>
                </a:solidFill>
                <a:uFill>
                  <a:solidFill>
                    <a:srgbClr val="0563C1"/>
                  </a:solidFill>
                </a:uFill>
                <a:latin typeface="Calibri"/>
                <a:cs typeface="Calibri"/>
                <a:hlinkClick r:id="rId3"/>
              </a:rPr>
              <a:t>HHS approved topics</a:t>
            </a:r>
            <a:endParaRPr sz="1600">
              <a:latin typeface="Calibri"/>
              <a:cs typeface="Calibri"/>
            </a:endParaRPr>
          </a:p>
        </p:txBody>
      </p:sp>
      <p:sp>
        <p:nvSpPr>
          <p:cNvPr id="21" name="object 21"/>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634489" cy="1549400"/>
          </a:xfrm>
          <a:prstGeom prst="rect">
            <a:avLst/>
          </a:prstGeom>
        </p:spPr>
        <p:txBody>
          <a:bodyPr vert="horz" wrap="square" lIns="0" tIns="12700" rIns="0" bIns="0" rtlCol="0">
            <a:spAutoFit/>
          </a:bodyPr>
          <a:lstStyle/>
          <a:p>
            <a:pPr marL="12700">
              <a:lnSpc>
                <a:spcPct val="100000"/>
              </a:lnSpc>
              <a:spcBef>
                <a:spcPts val="100"/>
              </a:spcBef>
            </a:pPr>
            <a:r>
              <a:rPr sz="10000" spc="-430" dirty="0">
                <a:solidFill>
                  <a:srgbClr val="DDE4ED"/>
                </a:solidFill>
                <a:latin typeface="Arial Black"/>
                <a:cs typeface="Arial Black"/>
              </a:rPr>
              <a:t>09</a:t>
            </a:r>
            <a:endParaRPr sz="10000">
              <a:latin typeface="Arial Black"/>
              <a:cs typeface="Arial Black"/>
            </a:endParaRPr>
          </a:p>
        </p:txBody>
      </p:sp>
      <p:sp>
        <p:nvSpPr>
          <p:cNvPr id="4" name="object 4"/>
          <p:cNvSpPr txBox="1"/>
          <p:nvPr/>
        </p:nvSpPr>
        <p:spPr>
          <a:xfrm>
            <a:off x="3050540" y="727963"/>
            <a:ext cx="6529705" cy="2169160"/>
          </a:xfrm>
          <a:prstGeom prst="rect">
            <a:avLst/>
          </a:prstGeom>
        </p:spPr>
        <p:txBody>
          <a:bodyPr vert="horz" wrap="square" lIns="0" tIns="250190" rIns="0" bIns="0" rtlCol="0">
            <a:spAutoFit/>
          </a:bodyPr>
          <a:lstStyle/>
          <a:p>
            <a:pPr marL="12700">
              <a:lnSpc>
                <a:spcPct val="100000"/>
              </a:lnSpc>
              <a:spcBef>
                <a:spcPts val="1970"/>
              </a:spcBef>
            </a:pPr>
            <a:r>
              <a:rPr sz="3600" spc="-330" dirty="0">
                <a:solidFill>
                  <a:srgbClr val="162739"/>
                </a:solidFill>
                <a:latin typeface="Arial Black"/>
                <a:cs typeface="Arial Black"/>
              </a:rPr>
              <a:t>NIH SBIR at NCI:</a:t>
            </a:r>
            <a:endParaRPr sz="3600">
              <a:latin typeface="Arial Black"/>
              <a:cs typeface="Arial Black"/>
            </a:endParaRPr>
          </a:p>
          <a:p>
            <a:pPr marL="12700">
              <a:lnSpc>
                <a:spcPct val="100000"/>
              </a:lnSpc>
              <a:spcBef>
                <a:spcPts val="1875"/>
              </a:spcBef>
            </a:pPr>
            <a:r>
              <a:rPr sz="3600" spc="-135" dirty="0">
                <a:solidFill>
                  <a:srgbClr val="162739"/>
                </a:solidFill>
                <a:latin typeface="Arial Black"/>
                <a:cs typeface="Arial Black"/>
              </a:rPr>
              <a:t>Immune Cell Automation</a:t>
            </a:r>
            <a:endParaRPr sz="3600">
              <a:latin typeface="Arial Black"/>
              <a:cs typeface="Arial Black"/>
            </a:endParaRPr>
          </a:p>
          <a:p>
            <a:pPr marL="12700">
              <a:lnSpc>
                <a:spcPct val="100000"/>
              </a:lnSpc>
              <a:spcBef>
                <a:spcPts val="2575"/>
              </a:spcBef>
              <a:tabLst>
                <a:tab pos="1418590" algn="l"/>
                <a:tab pos="1607820" algn="l"/>
              </a:tabLst>
            </a:pPr>
            <a:r>
              <a:rPr sz="1600" spc="-10" dirty="0">
                <a:solidFill>
                  <a:srgbClr val="5A6B80"/>
                </a:solidFill>
                <a:latin typeface="Calibri"/>
                <a:cs typeface="Calibri"/>
              </a:rPr>
              <a:t>COMPONENT D	·	National Cancer Institute</a:t>
            </a:r>
            <a:endParaRPr sz="1600">
              <a:latin typeface="Calibri"/>
              <a:cs typeface="Calibri"/>
            </a:endParaRPr>
          </a:p>
        </p:txBody>
      </p:sp>
      <p:grpSp>
        <p:nvGrpSpPr>
          <p:cNvPr id="6" name="object 6"/>
          <p:cNvGrpSpPr/>
          <p:nvPr/>
        </p:nvGrpSpPr>
        <p:grpSpPr>
          <a:xfrm>
            <a:off x="13846810" y="926338"/>
            <a:ext cx="3441700" cy="762635"/>
            <a:chOff x="13846810" y="926338"/>
            <a:chExt cx="3441700" cy="762635"/>
          </a:xfrm>
        </p:grpSpPr>
        <p:sp>
          <p:nvSpPr>
            <p:cNvPr id="7" name="object 7"/>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8" name="object 8"/>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9" name="object 9"/>
          <p:cNvSpPr txBox="1"/>
          <p:nvPr/>
        </p:nvSpPr>
        <p:spPr>
          <a:xfrm>
            <a:off x="14998033" y="1140459"/>
            <a:ext cx="1139825" cy="314960"/>
          </a:xfrm>
          <a:prstGeom prst="rect">
            <a:avLst/>
          </a:prstGeom>
        </p:spPr>
        <p:txBody>
          <a:bodyPr vert="horz" wrap="square" lIns="0" tIns="12700" rIns="0" bIns="0" rtlCol="0">
            <a:spAutoFit/>
          </a:bodyPr>
          <a:lstStyle/>
          <a:p>
            <a:pPr marL="12700">
              <a:lnSpc>
                <a:spcPct val="100000"/>
              </a:lnSpc>
              <a:spcBef>
                <a:spcPts val="100"/>
              </a:spcBef>
            </a:pPr>
            <a:r>
              <a:rPr sz="1900" spc="-20" dirty="0">
                <a:solidFill>
                  <a:srgbClr val="FFFFFF"/>
                </a:solidFill>
                <a:latin typeface="Arial Black"/>
                <a:cs typeface="Arial Black"/>
              </a:rPr>
              <a:t>342 days</a:t>
            </a:r>
            <a:endParaRPr sz="1900">
              <a:latin typeface="Arial Black"/>
              <a:cs typeface="Arial Black"/>
            </a:endParaRPr>
          </a:p>
        </p:txBody>
      </p:sp>
      <p:sp>
        <p:nvSpPr>
          <p:cNvPr id="5" name="object 5"/>
          <p:cNvSpPr txBox="1"/>
          <p:nvPr/>
        </p:nvSpPr>
        <p:spPr>
          <a:xfrm>
            <a:off x="9646078" y="2627883"/>
            <a:ext cx="1270635" cy="269240"/>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5A6B80"/>
                </a:solidFill>
                <a:latin typeface="Calibri"/>
                <a:cs typeface="Calibri"/>
              </a:rPr>
              <a:t>· PA-28 reissue</a:t>
            </a:r>
            <a:endParaRPr sz="1600">
              <a:latin typeface="Calibri"/>
              <a:cs typeface="Calibri"/>
            </a:endParaRPr>
          </a:p>
        </p:txBody>
      </p:sp>
      <p:sp>
        <p:nvSpPr>
          <p:cNvPr id="10" name="object 10"/>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55" dirty="0">
                <a:solidFill>
                  <a:srgbClr val="162739"/>
                </a:solidFill>
                <a:latin typeface="Arial Black"/>
                <a:cs typeface="Arial Black"/>
              </a:rPr>
              <a:t>$700K</a:t>
            </a:r>
            <a:endParaRPr sz="3200">
              <a:latin typeface="Arial Black"/>
              <a:cs typeface="Arial Black"/>
            </a:endParaRPr>
          </a:p>
          <a:p>
            <a:pPr marL="274320">
              <a:lnSpc>
                <a:spcPct val="100000"/>
              </a:lnSpc>
              <a:spcBef>
                <a:spcPts val="2550"/>
              </a:spcBef>
            </a:pPr>
            <a:r>
              <a:rPr sz="1200" dirty="0">
                <a:solidFill>
                  <a:srgbClr val="5A6B80"/>
                </a:solidFill>
                <a:latin typeface="Calibri"/>
                <a:cs typeface="Calibri"/>
              </a:rPr>
              <a:t>NCI published Phase I ceiling, requested in full</a:t>
            </a:r>
            <a:endParaRPr sz="1200">
              <a:latin typeface="Calibri"/>
              <a:cs typeface="Calibri"/>
            </a:endParaRPr>
          </a:p>
        </p:txBody>
      </p:sp>
      <p:sp>
        <p:nvSpPr>
          <p:cNvPr id="11" name="object 11"/>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285" dirty="0">
                <a:solidFill>
                  <a:srgbClr val="162739"/>
                </a:solidFill>
                <a:latin typeface="Arial Black"/>
                <a:cs typeface="Arial Black"/>
              </a:rPr>
              <a:t>$2.5M</a:t>
            </a:r>
            <a:endParaRPr sz="3200">
              <a:latin typeface="Arial Black"/>
              <a:cs typeface="Arial Black"/>
            </a:endParaRPr>
          </a:p>
          <a:p>
            <a:pPr marL="274320">
              <a:lnSpc>
                <a:spcPct val="100000"/>
              </a:lnSpc>
              <a:spcBef>
                <a:spcPts val="2550"/>
              </a:spcBef>
            </a:pPr>
            <a:r>
              <a:rPr sz="1200" spc="-10" dirty="0">
                <a:solidFill>
                  <a:srgbClr val="5A6B80"/>
                </a:solidFill>
                <a:latin typeface="Calibri"/>
                <a:cs typeface="Calibri"/>
              </a:rPr>
              <a:t>NCI published Phase II ceiling</a:t>
            </a:r>
            <a:endParaRPr sz="1200">
              <a:latin typeface="Calibri"/>
              <a:cs typeface="Calibri"/>
            </a:endParaRPr>
          </a:p>
        </p:txBody>
      </p:sp>
      <p:sp>
        <p:nvSpPr>
          <p:cNvPr id="12" name="object 12"/>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20" dirty="0">
                <a:solidFill>
                  <a:srgbClr val="162739"/>
                </a:solidFill>
                <a:latin typeface="Arial Black"/>
                <a:cs typeface="Arial Black"/>
              </a:rPr>
              <a:t>Sep 5, 2027</a:t>
            </a:r>
            <a:endParaRPr sz="2000">
              <a:latin typeface="Arial Black"/>
              <a:cs typeface="Arial Black"/>
            </a:endParaRPr>
          </a:p>
          <a:p>
            <a:pPr>
              <a:lnSpc>
                <a:spcPct val="100000"/>
              </a:lnSpc>
              <a:spcBef>
                <a:spcPts val="405"/>
              </a:spcBef>
            </a:pPr>
            <a:endParaRPr sz="2000">
              <a:latin typeface="Arial Black"/>
              <a:cs typeface="Arial Black"/>
            </a:endParaRPr>
          </a:p>
          <a:p>
            <a:pPr marL="274320">
              <a:lnSpc>
                <a:spcPct val="100000"/>
              </a:lnSpc>
            </a:pPr>
            <a:r>
              <a:rPr sz="1200" spc="-10" dirty="0">
                <a:solidFill>
                  <a:srgbClr val="5A6B80"/>
                </a:solidFill>
                <a:latin typeface="Calibri"/>
                <a:cs typeface="Calibri"/>
              </a:rPr>
              <a:t>Under the expected FY2028 reissue</a:t>
            </a:r>
            <a:endParaRPr sz="1200">
              <a:latin typeface="Calibri"/>
              <a:cs typeface="Calibri"/>
            </a:endParaRPr>
          </a:p>
        </p:txBody>
      </p:sp>
      <p:sp>
        <p:nvSpPr>
          <p:cNvPr id="13" name="object 13"/>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50" dirty="0">
                <a:solidFill>
                  <a:srgbClr val="162739"/>
                </a:solidFill>
                <a:latin typeface="Arial Black"/>
                <a:cs typeface="Arial Black"/>
              </a:rPr>
              <a:t>Grant · Phase I </a:t>
            </a:r>
            <a:r>
              <a:rPr sz="1800" b="1" dirty="0">
                <a:solidFill>
                  <a:srgbClr val="162739"/>
                </a:solidFill>
                <a:latin typeface="Arial"/>
                <a:cs typeface="Arial"/>
              </a:rPr>
              <a:t>→ </a:t>
            </a:r>
            <a:r>
              <a:rPr sz="1800" spc="-80" dirty="0">
                <a:solidFill>
                  <a:srgbClr val="162739"/>
                </a:solidFill>
                <a:latin typeface="Arial Black"/>
                <a:cs typeface="Arial Black"/>
              </a:rPr>
              <a:t>Phase II</a:t>
            </a:r>
            <a:endParaRPr sz="1800">
              <a:latin typeface="Arial Black"/>
              <a:cs typeface="Arial Black"/>
            </a:endParaRPr>
          </a:p>
        </p:txBody>
      </p:sp>
      <p:sp>
        <p:nvSpPr>
          <p:cNvPr id="14" name="object 14"/>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5" name="object 15"/>
          <p:cNvSpPr txBox="1"/>
          <p:nvPr/>
        </p:nvSpPr>
        <p:spPr>
          <a:xfrm>
            <a:off x="901700" y="6281420"/>
            <a:ext cx="10695940" cy="345440"/>
          </a:xfrm>
          <a:prstGeom prst="rect">
            <a:avLst/>
          </a:prstGeom>
        </p:spPr>
        <p:txBody>
          <a:bodyPr vert="horz" wrap="square" lIns="0" tIns="12700" rIns="0" bIns="0" rtlCol="0">
            <a:spAutoFit/>
          </a:bodyPr>
          <a:lstStyle/>
          <a:p>
            <a:pPr marL="12700">
              <a:lnSpc>
                <a:spcPct val="100000"/>
              </a:lnSpc>
              <a:spcBef>
                <a:spcPts val="100"/>
              </a:spcBef>
            </a:pPr>
            <a:r>
              <a:rPr sz="2100" spc="-20" dirty="0">
                <a:solidFill>
                  <a:srgbClr val="36404F"/>
                </a:solidFill>
                <a:latin typeface="Calibri"/>
                <a:cs typeface="Calibri"/>
              </a:rPr>
              <a:t>The biggest small business wallet at NIH, with cell-based immunotherapy manufacturing among its stated interests.</a:t>
            </a:r>
            <a:endParaRPr sz="2100">
              <a:latin typeface="Calibri"/>
              <a:cs typeface="Calibri"/>
            </a:endParaRPr>
          </a:p>
        </p:txBody>
      </p:sp>
      <p:sp>
        <p:nvSpPr>
          <p:cNvPr id="16" name="object 16"/>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7" name="object 17"/>
          <p:cNvSpPr txBox="1"/>
          <p:nvPr/>
        </p:nvSpPr>
        <p:spPr>
          <a:xfrm>
            <a:off x="901700" y="7707883"/>
            <a:ext cx="11625580"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Image-guided automated TIL and immune-cell process development; files only if the company shows TIL runs, the thinnest evidence in the slate.</a:t>
            </a:r>
            <a:endParaRPr sz="2100">
              <a:latin typeface="Calibri"/>
              <a:cs typeface="Calibri"/>
            </a:endParaRPr>
          </a:p>
        </p:txBody>
      </p:sp>
      <p:grpSp>
        <p:nvGrpSpPr>
          <p:cNvPr id="18" name="object 18"/>
          <p:cNvGrpSpPr/>
          <p:nvPr/>
        </p:nvGrpSpPr>
        <p:grpSpPr>
          <a:xfrm>
            <a:off x="908050" y="8534145"/>
            <a:ext cx="16471900" cy="26034"/>
            <a:chOff x="908050" y="8534145"/>
            <a:chExt cx="16471900" cy="26034"/>
          </a:xfrm>
        </p:grpSpPr>
        <p:sp>
          <p:nvSpPr>
            <p:cNvPr id="19" name="object 19"/>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20" name="object 20"/>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1" name="object 21"/>
          <p:cNvSpPr txBox="1"/>
          <p:nvPr/>
        </p:nvSpPr>
        <p:spPr>
          <a:xfrm>
            <a:off x="901700" y="8644064"/>
            <a:ext cx="461010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649855" algn="l"/>
                <a:tab pos="2884805" algn="l"/>
              </a:tabLst>
            </a:pPr>
            <a:r>
              <a:rPr sz="1600" u="heavy" spc="-10" dirty="0">
                <a:solidFill>
                  <a:srgbClr val="0563C1"/>
                </a:solidFill>
                <a:uFill>
                  <a:solidFill>
                    <a:srgbClr val="0563C1"/>
                  </a:solidFill>
                </a:uFill>
                <a:latin typeface="Calibri"/>
                <a:cs typeface="Calibri"/>
                <a:hlinkClick r:id="rId2"/>
              </a:rPr>
              <a:t>PA-27-100 full announcement</a:t>
            </a:r>
            <a:r>
              <a:rPr sz="1600" dirty="0">
                <a:solidFill>
                  <a:srgbClr val="0563C1"/>
                </a:solidFill>
                <a:latin typeface="Calibri"/>
                <a:cs typeface="Calibri"/>
              </a:rPr>
              <a:t>	</a:t>
            </a:r>
            <a:r>
              <a:rPr sz="1600" spc="-50" dirty="0">
                <a:solidFill>
                  <a:srgbClr val="5A6B80"/>
                </a:solidFill>
                <a:latin typeface="Calibri"/>
                <a:cs typeface="Calibri"/>
              </a:rPr>
              <a:t>·	</a:t>
            </a:r>
            <a:r>
              <a:rPr sz="1600" u="heavy" spc="-10" dirty="0">
                <a:solidFill>
                  <a:srgbClr val="0563C1"/>
                </a:solidFill>
                <a:uFill>
                  <a:solidFill>
                    <a:srgbClr val="0563C1"/>
                  </a:solidFill>
                </a:uFill>
                <a:latin typeface="Calibri"/>
                <a:cs typeface="Calibri"/>
                <a:hlinkClick r:id="rId3"/>
              </a:rPr>
              <a:t>NCI omnibus page</a:t>
            </a:r>
            <a:endParaRPr sz="1600">
              <a:latin typeface="Calibri"/>
              <a:cs typeface="Calibri"/>
            </a:endParaRPr>
          </a:p>
        </p:txBody>
      </p:sp>
      <p:sp>
        <p:nvSpPr>
          <p:cNvPr id="22" name="object 22"/>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330960" cy="1549400"/>
          </a:xfrm>
          <a:prstGeom prst="rect">
            <a:avLst/>
          </a:prstGeom>
        </p:spPr>
        <p:txBody>
          <a:bodyPr vert="horz" wrap="square" lIns="0" tIns="12700" rIns="0" bIns="0" rtlCol="0">
            <a:spAutoFit/>
          </a:bodyPr>
          <a:lstStyle/>
          <a:p>
            <a:pPr marL="12700">
              <a:lnSpc>
                <a:spcPct val="100000"/>
              </a:lnSpc>
              <a:spcBef>
                <a:spcPts val="100"/>
              </a:spcBef>
            </a:pPr>
            <a:r>
              <a:rPr sz="10000" spc="-1565" dirty="0">
                <a:solidFill>
                  <a:srgbClr val="DDE4ED"/>
                </a:solidFill>
                <a:latin typeface="Arial Black"/>
                <a:cs typeface="Arial Black"/>
              </a:rPr>
              <a:t>10</a:t>
            </a:r>
            <a:endParaRPr sz="10000">
              <a:latin typeface="Arial Black"/>
              <a:cs typeface="Arial Black"/>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43300"/>
              </a:lnSpc>
              <a:spcBef>
                <a:spcPts val="100"/>
              </a:spcBef>
            </a:pPr>
            <a:r>
              <a:rPr spc="-105" dirty="0"/>
              <a:t>NSF SBIR/STTR: America’s Seed Fund</a:t>
            </a:r>
          </a:p>
        </p:txBody>
      </p:sp>
      <p:grpSp>
        <p:nvGrpSpPr>
          <p:cNvPr id="6" name="object 6"/>
          <p:cNvGrpSpPr/>
          <p:nvPr/>
        </p:nvGrpSpPr>
        <p:grpSpPr>
          <a:xfrm>
            <a:off x="13846810" y="926338"/>
            <a:ext cx="3441700" cy="762635"/>
            <a:chOff x="13846810" y="926338"/>
            <a:chExt cx="3441700" cy="762635"/>
          </a:xfrm>
        </p:grpSpPr>
        <p:sp>
          <p:nvSpPr>
            <p:cNvPr id="7" name="object 7"/>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8" name="object 8"/>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9" name="object 9"/>
          <p:cNvSpPr txBox="1"/>
          <p:nvPr/>
        </p:nvSpPr>
        <p:spPr>
          <a:xfrm>
            <a:off x="14660160" y="1140459"/>
            <a:ext cx="1815464" cy="314960"/>
          </a:xfrm>
          <a:prstGeom prst="rect">
            <a:avLst/>
          </a:prstGeom>
        </p:spPr>
        <p:txBody>
          <a:bodyPr vert="horz" wrap="square" lIns="0" tIns="12700" rIns="0" bIns="0" rtlCol="0">
            <a:spAutoFit/>
          </a:bodyPr>
          <a:lstStyle/>
          <a:p>
            <a:pPr marL="12700">
              <a:lnSpc>
                <a:spcPct val="100000"/>
              </a:lnSpc>
              <a:spcBef>
                <a:spcPts val="100"/>
              </a:spcBef>
            </a:pPr>
            <a:r>
              <a:rPr sz="1900" spc="-10" dirty="0">
                <a:solidFill>
                  <a:srgbClr val="FFFFFF"/>
                </a:solidFill>
                <a:latin typeface="Arial Black"/>
                <a:cs typeface="Arial Black"/>
              </a:rPr>
              <a:t>Rolling pitch</a:t>
            </a:r>
            <a:endParaRPr sz="1900">
              <a:latin typeface="Arial Black"/>
              <a:cs typeface="Arial Black"/>
            </a:endParaRPr>
          </a:p>
        </p:txBody>
      </p:sp>
      <p:sp>
        <p:nvSpPr>
          <p:cNvPr id="5" name="object 5"/>
          <p:cNvSpPr txBox="1"/>
          <p:nvPr/>
        </p:nvSpPr>
        <p:spPr>
          <a:xfrm>
            <a:off x="3050540" y="2627883"/>
            <a:ext cx="5721350" cy="269240"/>
          </a:xfrm>
          <a:prstGeom prst="rect">
            <a:avLst/>
          </a:prstGeom>
        </p:spPr>
        <p:txBody>
          <a:bodyPr vert="horz" wrap="square" lIns="0" tIns="12700" rIns="0" bIns="0" rtlCol="0">
            <a:spAutoFit/>
          </a:bodyPr>
          <a:lstStyle/>
          <a:p>
            <a:pPr marL="12700">
              <a:lnSpc>
                <a:spcPct val="100000"/>
              </a:lnSpc>
              <a:spcBef>
                <a:spcPts val="100"/>
              </a:spcBef>
              <a:tabLst>
                <a:tab pos="1421130" algn="l"/>
                <a:tab pos="1609725" algn="l"/>
              </a:tabLst>
            </a:pPr>
            <a:r>
              <a:rPr sz="1600" spc="-10" dirty="0">
                <a:solidFill>
                  <a:srgbClr val="5A6B80"/>
                </a:solidFill>
                <a:latin typeface="Calibri"/>
                <a:cs typeface="Calibri"/>
              </a:rPr>
              <a:t>COMPONENT B	·	National Science Foundation · NSF 26-510</a:t>
            </a:r>
            <a:endParaRPr sz="1600">
              <a:latin typeface="Calibri"/>
              <a:cs typeface="Calibri"/>
            </a:endParaRPr>
          </a:p>
        </p:txBody>
      </p:sp>
      <p:sp>
        <p:nvSpPr>
          <p:cNvPr id="10" name="object 10"/>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PHASE I</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10" dirty="0">
                <a:solidFill>
                  <a:srgbClr val="162739"/>
                </a:solidFill>
                <a:latin typeface="Arial Black"/>
                <a:cs typeface="Arial Black"/>
              </a:rPr>
              <a:t>$305K</a:t>
            </a:r>
            <a:endParaRPr sz="3200">
              <a:latin typeface="Arial Black"/>
              <a:cs typeface="Arial Black"/>
            </a:endParaRPr>
          </a:p>
          <a:p>
            <a:pPr marL="274320">
              <a:lnSpc>
                <a:spcPct val="100000"/>
              </a:lnSpc>
              <a:spcBef>
                <a:spcPts val="2550"/>
              </a:spcBef>
            </a:pPr>
            <a:r>
              <a:rPr sz="1200" spc="-10" dirty="0">
                <a:solidFill>
                  <a:srgbClr val="5A6B80"/>
                </a:solidFill>
                <a:latin typeface="Calibri"/>
                <a:cs typeface="Calibri"/>
              </a:rPr>
              <a:t>NSF published Phase I ceiling</a:t>
            </a:r>
            <a:endParaRPr sz="1200">
              <a:latin typeface="Calibri"/>
              <a:cs typeface="Calibri"/>
            </a:endParaRPr>
          </a:p>
        </p:txBody>
      </p:sp>
      <p:sp>
        <p:nvSpPr>
          <p:cNvPr id="11" name="object 11"/>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pPr>
            <a:endParaRPr sz="1200">
              <a:latin typeface="Calibri"/>
              <a:cs typeface="Calibri"/>
            </a:endParaRPr>
          </a:p>
          <a:p>
            <a:pPr>
              <a:lnSpc>
                <a:spcPct val="100000"/>
              </a:lnSpc>
              <a:spcBef>
                <a:spcPts val="25"/>
              </a:spcBef>
            </a:pPr>
            <a:endParaRPr sz="1200">
              <a:latin typeface="Calibri"/>
              <a:cs typeface="Calibri"/>
            </a:endParaRPr>
          </a:p>
          <a:p>
            <a:pPr marL="274320">
              <a:lnSpc>
                <a:spcPct val="100000"/>
              </a:lnSpc>
              <a:spcBef>
                <a:spcPts val="5"/>
              </a:spcBef>
            </a:pPr>
            <a:r>
              <a:rPr sz="2200" spc="-95" dirty="0">
                <a:solidFill>
                  <a:srgbClr val="5A6B80"/>
                </a:solidFill>
                <a:latin typeface="Arial Black"/>
                <a:cs typeface="Arial Black"/>
              </a:rPr>
              <a:t>$1.25M</a:t>
            </a:r>
            <a:endParaRPr sz="2200">
              <a:latin typeface="Arial Black"/>
              <a:cs typeface="Arial Black"/>
            </a:endParaRPr>
          </a:p>
          <a:p>
            <a:pPr>
              <a:lnSpc>
                <a:spcPct val="100000"/>
              </a:lnSpc>
              <a:spcBef>
                <a:spcPts val="5"/>
              </a:spcBef>
            </a:pPr>
            <a:endParaRPr sz="2200">
              <a:latin typeface="Arial Black"/>
              <a:cs typeface="Arial Black"/>
            </a:endParaRPr>
          </a:p>
          <a:p>
            <a:pPr marL="274320">
              <a:lnSpc>
                <a:spcPct val="100000"/>
              </a:lnSpc>
              <a:spcBef>
                <a:spcPts val="5"/>
              </a:spcBef>
            </a:pPr>
            <a:r>
              <a:rPr sz="1200" spc="-10" dirty="0">
                <a:solidFill>
                  <a:srgbClr val="5A6B80"/>
                </a:solidFill>
                <a:latin typeface="Calibri"/>
                <a:cs typeface="Calibri"/>
              </a:rPr>
              <a:t>NSF published Phase II ceiling</a:t>
            </a:r>
            <a:endParaRPr sz="1200">
              <a:latin typeface="Calibri"/>
              <a:cs typeface="Calibri"/>
            </a:endParaRPr>
          </a:p>
        </p:txBody>
      </p:sp>
      <p:sp>
        <p:nvSpPr>
          <p:cNvPr id="12" name="object 12"/>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10" dirty="0">
                <a:solidFill>
                  <a:srgbClr val="162739"/>
                </a:solidFill>
                <a:latin typeface="Arial Black"/>
                <a:cs typeface="Arial Black"/>
              </a:rPr>
              <a:t>Project Pitch any time</a:t>
            </a:r>
            <a:endParaRPr sz="2000">
              <a:latin typeface="Arial Black"/>
              <a:cs typeface="Arial Black"/>
            </a:endParaRPr>
          </a:p>
          <a:p>
            <a:pPr>
              <a:lnSpc>
                <a:spcPct val="100000"/>
              </a:lnSpc>
              <a:spcBef>
                <a:spcPts val="405"/>
              </a:spcBef>
            </a:pPr>
            <a:endParaRPr sz="2000">
              <a:latin typeface="Arial Black"/>
              <a:cs typeface="Arial Black"/>
            </a:endParaRPr>
          </a:p>
          <a:p>
            <a:pPr marL="274320">
              <a:lnSpc>
                <a:spcPct val="100000"/>
              </a:lnSpc>
            </a:pPr>
            <a:r>
              <a:rPr sz="1200" spc="-10" dirty="0">
                <a:solidFill>
                  <a:srgbClr val="5A6B80"/>
                </a:solidFill>
                <a:latin typeface="Calibri"/>
                <a:cs typeface="Calibri"/>
              </a:rPr>
              <a:t>Full proposal by invitation only</a:t>
            </a:r>
            <a:endParaRPr sz="1200">
              <a:latin typeface="Calibri"/>
              <a:cs typeface="Calibri"/>
            </a:endParaRPr>
          </a:p>
        </p:txBody>
      </p:sp>
      <p:sp>
        <p:nvSpPr>
          <p:cNvPr id="13" name="object 13"/>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spcBef>
                <a:spcPts val="670"/>
              </a:spcBef>
            </a:pPr>
            <a:endParaRPr sz="1200">
              <a:latin typeface="Calibri"/>
              <a:cs typeface="Calibri"/>
            </a:endParaRPr>
          </a:p>
          <a:p>
            <a:pPr marL="274320" marR="1075055">
              <a:lnSpc>
                <a:spcPct val="100000"/>
              </a:lnSpc>
            </a:pPr>
            <a:r>
              <a:rPr sz="1800" spc="-10" dirty="0">
                <a:solidFill>
                  <a:srgbClr val="162739"/>
                </a:solidFill>
                <a:latin typeface="Arial Black"/>
                <a:cs typeface="Arial Black"/>
              </a:rPr>
              <a:t>Grant · pitch, then Phase I</a:t>
            </a:r>
            <a:endParaRPr sz="1800">
              <a:latin typeface="Arial Black"/>
              <a:cs typeface="Arial Black"/>
            </a:endParaRPr>
          </a:p>
        </p:txBody>
      </p:sp>
      <p:sp>
        <p:nvSpPr>
          <p:cNvPr id="14" name="object 14"/>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5" name="object 15"/>
          <p:cNvSpPr txBox="1"/>
          <p:nvPr/>
        </p:nvSpPr>
        <p:spPr>
          <a:xfrm>
            <a:off x="901700" y="6281420"/>
            <a:ext cx="977074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Equity-free federal seed funding, relaunched in 2026 under NSF 26-510 with a $40M instrumentation-only pilot alongside (NSF 26-511).</a:t>
            </a:r>
            <a:endParaRPr sz="2100">
              <a:latin typeface="Calibri"/>
              <a:cs typeface="Calibri"/>
            </a:endParaRPr>
          </a:p>
        </p:txBody>
      </p:sp>
      <p:sp>
        <p:nvSpPr>
          <p:cNvPr id="16" name="object 16"/>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7" name="object 17"/>
          <p:cNvSpPr txBox="1"/>
          <p:nvPr/>
        </p:nvSpPr>
        <p:spPr>
          <a:xfrm>
            <a:off x="901700" y="7707883"/>
            <a:ext cx="1400746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A next-generation scientific instrument is what the instrumentation pilot names, and NSF sits entirely outside the nine-application NIH ceiling.</a:t>
            </a:r>
            <a:endParaRPr sz="2100">
              <a:latin typeface="Calibri"/>
              <a:cs typeface="Calibri"/>
            </a:endParaRPr>
          </a:p>
        </p:txBody>
      </p:sp>
      <p:grpSp>
        <p:nvGrpSpPr>
          <p:cNvPr id="18" name="object 18"/>
          <p:cNvGrpSpPr/>
          <p:nvPr/>
        </p:nvGrpSpPr>
        <p:grpSpPr>
          <a:xfrm>
            <a:off x="908050" y="8534145"/>
            <a:ext cx="16471900" cy="26034"/>
            <a:chOff x="908050" y="8534145"/>
            <a:chExt cx="16471900" cy="26034"/>
          </a:xfrm>
        </p:grpSpPr>
        <p:sp>
          <p:nvSpPr>
            <p:cNvPr id="19" name="object 19"/>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20" name="object 20"/>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1" name="object 21"/>
          <p:cNvSpPr txBox="1"/>
          <p:nvPr/>
        </p:nvSpPr>
        <p:spPr>
          <a:xfrm>
            <a:off x="901700" y="8644064"/>
            <a:ext cx="453136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tabLst>
                <a:tab pos="2505075" algn="l"/>
                <a:tab pos="2740025" algn="l"/>
              </a:tabLst>
            </a:pPr>
            <a:r>
              <a:rPr sz="1600" u="heavy" spc="-10" dirty="0">
                <a:solidFill>
                  <a:srgbClr val="0563C1"/>
                </a:solidFill>
                <a:uFill>
                  <a:solidFill>
                    <a:srgbClr val="0563C1"/>
                  </a:solidFill>
                </a:uFill>
                <a:latin typeface="Calibri"/>
                <a:cs typeface="Calibri"/>
                <a:hlinkClick r:id="rId2"/>
              </a:rPr>
              <a:t>America’s Seed Fund</a:t>
            </a:r>
            <a:r>
              <a:rPr sz="1600" dirty="0">
                <a:solidFill>
                  <a:srgbClr val="0563C1"/>
                </a:solidFill>
                <a:latin typeface="Calibri"/>
                <a:cs typeface="Calibri"/>
              </a:rPr>
              <a:t>	</a:t>
            </a:r>
            <a:r>
              <a:rPr sz="1600" spc="-50" dirty="0">
                <a:solidFill>
                  <a:srgbClr val="5A6B80"/>
                </a:solidFill>
                <a:latin typeface="Calibri"/>
                <a:cs typeface="Calibri"/>
              </a:rPr>
              <a:t>·	</a:t>
            </a:r>
            <a:r>
              <a:rPr sz="1600" u="heavy" dirty="0">
                <a:solidFill>
                  <a:srgbClr val="0563C1"/>
                </a:solidFill>
                <a:uFill>
                  <a:solidFill>
                    <a:srgbClr val="0563C1"/>
                  </a:solidFill>
                </a:uFill>
                <a:latin typeface="Calibri"/>
                <a:cs typeface="Calibri"/>
                <a:hlinkClick r:id="rId3"/>
              </a:rPr>
              <a:t>Project Pitch</a:t>
            </a:r>
            <a:endParaRPr sz="1600">
              <a:latin typeface="Calibri"/>
              <a:cs typeface="Calibri"/>
            </a:endParaRPr>
          </a:p>
        </p:txBody>
      </p:sp>
      <p:sp>
        <p:nvSpPr>
          <p:cNvPr id="22" name="object 22"/>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4"/>
              </a:rPr>
              <a:t>www.bwcoconsulting.com</a:t>
            </a:r>
            <a:endParaRPr sz="12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980440" cy="1549400"/>
          </a:xfrm>
          <a:prstGeom prst="rect">
            <a:avLst/>
          </a:prstGeom>
        </p:spPr>
        <p:txBody>
          <a:bodyPr vert="horz" wrap="square" lIns="0" tIns="12700" rIns="0" bIns="0" rtlCol="0">
            <a:spAutoFit/>
          </a:bodyPr>
          <a:lstStyle/>
          <a:p>
            <a:pPr marL="12700">
              <a:lnSpc>
                <a:spcPct val="100000"/>
              </a:lnSpc>
              <a:spcBef>
                <a:spcPts val="100"/>
              </a:spcBef>
            </a:pPr>
            <a:r>
              <a:rPr sz="10000" spc="-2965" dirty="0">
                <a:solidFill>
                  <a:srgbClr val="DDE4ED"/>
                </a:solidFill>
                <a:latin typeface="Arial Black"/>
                <a:cs typeface="Arial Black"/>
              </a:rPr>
              <a:t>11</a:t>
            </a:r>
            <a:endParaRPr sz="10000">
              <a:latin typeface="Arial Black"/>
              <a:cs typeface="Arial Black"/>
            </a:endParaRPr>
          </a:p>
        </p:txBody>
      </p:sp>
      <p:sp>
        <p:nvSpPr>
          <p:cNvPr id="4" name="object 4" descr="$PPTXTitle"/>
          <p:cNvSpPr txBox="1">
            <a:spLocks noGrp="1"/>
          </p:cNvSpPr>
          <p:nvPr>
            <p:ph type="title"/>
          </p:nvPr>
        </p:nvSpPr>
        <p:spPr>
          <a:prstGeom prst="rect">
            <a:avLst/>
          </a:prstGeom>
        </p:spPr>
        <p:txBody>
          <a:bodyPr vert="horz" wrap="square" lIns="0" tIns="12700" rIns="0" bIns="0" rtlCol="0">
            <a:spAutoFit/>
          </a:bodyPr>
          <a:lstStyle/>
          <a:p>
            <a:pPr marL="12700" marR="5080">
              <a:lnSpc>
                <a:spcPct val="143300"/>
              </a:lnSpc>
              <a:spcBef>
                <a:spcPts val="100"/>
              </a:spcBef>
            </a:pPr>
            <a:r>
              <a:rPr spc="-155" dirty="0"/>
              <a:t>ARMI BioFabUSA Member Project Call</a:t>
            </a:r>
          </a:p>
        </p:txBody>
      </p:sp>
      <p:grpSp>
        <p:nvGrpSpPr>
          <p:cNvPr id="6" name="object 6"/>
          <p:cNvGrpSpPr/>
          <p:nvPr/>
        </p:nvGrpSpPr>
        <p:grpSpPr>
          <a:xfrm>
            <a:off x="13846810" y="926338"/>
            <a:ext cx="3441700" cy="762635"/>
            <a:chOff x="13846810" y="926338"/>
            <a:chExt cx="3441700" cy="762635"/>
          </a:xfrm>
        </p:grpSpPr>
        <p:sp>
          <p:nvSpPr>
            <p:cNvPr id="7" name="object 7"/>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8" name="object 8"/>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9" name="object 9"/>
          <p:cNvSpPr txBox="1"/>
          <p:nvPr/>
        </p:nvSpPr>
        <p:spPr>
          <a:xfrm>
            <a:off x="14660160" y="1140459"/>
            <a:ext cx="1815464" cy="314960"/>
          </a:xfrm>
          <a:prstGeom prst="rect">
            <a:avLst/>
          </a:prstGeom>
        </p:spPr>
        <p:txBody>
          <a:bodyPr vert="horz" wrap="square" lIns="0" tIns="12700" rIns="0" bIns="0" rtlCol="0">
            <a:spAutoFit/>
          </a:bodyPr>
          <a:lstStyle/>
          <a:p>
            <a:pPr marL="12700">
              <a:lnSpc>
                <a:spcPct val="100000"/>
              </a:lnSpc>
              <a:spcBef>
                <a:spcPts val="100"/>
              </a:spcBef>
            </a:pPr>
            <a:r>
              <a:rPr sz="1900" spc="-10" dirty="0">
                <a:solidFill>
                  <a:srgbClr val="FFFFFF"/>
                </a:solidFill>
                <a:latin typeface="Arial Black"/>
                <a:cs typeface="Arial Black"/>
              </a:rPr>
              <a:t>Cycle pending</a:t>
            </a:r>
            <a:endParaRPr sz="1900">
              <a:latin typeface="Arial Black"/>
              <a:cs typeface="Arial Black"/>
            </a:endParaRPr>
          </a:p>
        </p:txBody>
      </p:sp>
      <p:sp>
        <p:nvSpPr>
          <p:cNvPr id="5" name="object 5"/>
          <p:cNvSpPr txBox="1"/>
          <p:nvPr/>
        </p:nvSpPr>
        <p:spPr>
          <a:xfrm>
            <a:off x="3050540" y="2627883"/>
            <a:ext cx="8145145" cy="269240"/>
          </a:xfrm>
          <a:prstGeom prst="rect">
            <a:avLst/>
          </a:prstGeom>
        </p:spPr>
        <p:txBody>
          <a:bodyPr vert="horz" wrap="square" lIns="0" tIns="12700" rIns="0" bIns="0" rtlCol="0">
            <a:spAutoFit/>
          </a:bodyPr>
          <a:lstStyle/>
          <a:p>
            <a:pPr marL="12700">
              <a:lnSpc>
                <a:spcPct val="100000"/>
              </a:lnSpc>
              <a:spcBef>
                <a:spcPts val="100"/>
              </a:spcBef>
              <a:tabLst>
                <a:tab pos="1421130" algn="l"/>
                <a:tab pos="1609725" algn="l"/>
              </a:tabLst>
            </a:pPr>
            <a:r>
              <a:rPr sz="1600" spc="-10" dirty="0">
                <a:solidFill>
                  <a:srgbClr val="5A6B80"/>
                </a:solidFill>
                <a:latin typeface="Calibri"/>
                <a:cs typeface="Calibri"/>
              </a:rPr>
              <a:t>COMPONENT B	·	Advanced Regenerative Manufacturing Institute · DoD Manufacturing USA</a:t>
            </a:r>
            <a:endParaRPr sz="1600">
              <a:latin typeface="Calibri"/>
              <a:cs typeface="Calibri"/>
            </a:endParaRPr>
          </a:p>
        </p:txBody>
      </p:sp>
      <p:sp>
        <p:nvSpPr>
          <p:cNvPr id="10" name="object 10"/>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AWARD</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285" dirty="0">
                <a:solidFill>
                  <a:srgbClr val="162739"/>
                </a:solidFill>
                <a:latin typeface="Arial Black"/>
                <a:cs typeface="Arial Black"/>
              </a:rPr>
              <a:t>Varies</a:t>
            </a:r>
            <a:endParaRPr sz="3200">
              <a:latin typeface="Arial Black"/>
              <a:cs typeface="Arial Black"/>
            </a:endParaRPr>
          </a:p>
          <a:p>
            <a:pPr marL="274320">
              <a:lnSpc>
                <a:spcPct val="100000"/>
              </a:lnSpc>
              <a:spcBef>
                <a:spcPts val="2550"/>
              </a:spcBef>
            </a:pPr>
            <a:r>
              <a:rPr sz="1200" spc="-10" dirty="0">
                <a:solidFill>
                  <a:srgbClr val="5A6B80"/>
                </a:solidFill>
                <a:latin typeface="Calibri"/>
                <a:cs typeface="Calibri"/>
              </a:rPr>
              <a:t>Sized to project; no published ceiling</a:t>
            </a:r>
            <a:endParaRPr sz="1200">
              <a:latin typeface="Calibri"/>
              <a:cs typeface="Calibri"/>
            </a:endParaRPr>
          </a:p>
        </p:txBody>
      </p:sp>
      <p:sp>
        <p:nvSpPr>
          <p:cNvPr id="11" name="object 11"/>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pPr>
            <a:endParaRPr sz="1200">
              <a:latin typeface="Calibri"/>
              <a:cs typeface="Calibri"/>
            </a:endParaRPr>
          </a:p>
          <a:p>
            <a:pPr>
              <a:lnSpc>
                <a:spcPct val="100000"/>
              </a:lnSpc>
              <a:spcBef>
                <a:spcPts val="25"/>
              </a:spcBef>
            </a:pPr>
            <a:endParaRPr sz="1200">
              <a:latin typeface="Calibri"/>
              <a:cs typeface="Calibri"/>
            </a:endParaRPr>
          </a:p>
          <a:p>
            <a:pPr marL="274320">
              <a:lnSpc>
                <a:spcPct val="100000"/>
              </a:lnSpc>
              <a:spcBef>
                <a:spcPts val="5"/>
              </a:spcBef>
            </a:pPr>
            <a:r>
              <a:rPr sz="2200" spc="-95" dirty="0">
                <a:solidFill>
                  <a:srgbClr val="5A6B80"/>
                </a:solidFill>
                <a:latin typeface="Arial Black"/>
                <a:cs typeface="Arial Black"/>
              </a:rPr>
              <a:t>Single award</a:t>
            </a:r>
            <a:endParaRPr sz="2200">
              <a:latin typeface="Arial Black"/>
              <a:cs typeface="Arial Black"/>
            </a:endParaRPr>
          </a:p>
          <a:p>
            <a:pPr>
              <a:lnSpc>
                <a:spcPct val="100000"/>
              </a:lnSpc>
              <a:spcBef>
                <a:spcPts val="5"/>
              </a:spcBef>
            </a:pPr>
            <a:endParaRPr sz="2200">
              <a:latin typeface="Arial Black"/>
              <a:cs typeface="Arial Black"/>
            </a:endParaRPr>
          </a:p>
          <a:p>
            <a:pPr marL="274320">
              <a:lnSpc>
                <a:spcPct val="100000"/>
              </a:lnSpc>
              <a:spcBef>
                <a:spcPts val="5"/>
              </a:spcBef>
            </a:pPr>
            <a:r>
              <a:rPr sz="1200" spc="-10" dirty="0">
                <a:solidFill>
                  <a:srgbClr val="5A6B80"/>
                </a:solidFill>
                <a:latin typeface="Calibri"/>
                <a:cs typeface="Calibri"/>
              </a:rPr>
              <a:t>Not phased</a:t>
            </a:r>
            <a:endParaRPr sz="1200">
              <a:latin typeface="Calibri"/>
              <a:cs typeface="Calibri"/>
            </a:endParaRPr>
          </a:p>
        </p:txBody>
      </p:sp>
      <p:sp>
        <p:nvSpPr>
          <p:cNvPr id="12" name="object 12"/>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10" dirty="0">
                <a:solidFill>
                  <a:srgbClr val="162739"/>
                </a:solidFill>
                <a:latin typeface="Arial Black"/>
                <a:cs typeface="Arial Black"/>
              </a:rPr>
              <a:t>Cycle pending</a:t>
            </a:r>
            <a:endParaRPr sz="2000">
              <a:latin typeface="Arial Black"/>
              <a:cs typeface="Arial Black"/>
            </a:endParaRPr>
          </a:p>
          <a:p>
            <a:pPr>
              <a:lnSpc>
                <a:spcPct val="100000"/>
              </a:lnSpc>
              <a:spcBef>
                <a:spcPts val="405"/>
              </a:spcBef>
            </a:pPr>
            <a:endParaRPr sz="2000">
              <a:latin typeface="Arial Black"/>
              <a:cs typeface="Arial Black"/>
            </a:endParaRPr>
          </a:p>
          <a:p>
            <a:pPr marL="274320">
              <a:lnSpc>
                <a:spcPct val="100000"/>
              </a:lnSpc>
            </a:pPr>
            <a:r>
              <a:rPr sz="1200" spc="-10" dirty="0">
                <a:solidFill>
                  <a:srgbClr val="5A6B80"/>
                </a:solidFill>
                <a:latin typeface="Calibri"/>
                <a:cs typeface="Calibri"/>
              </a:rPr>
              <a:t>Calls released to the membership periodically</a:t>
            </a:r>
            <a:endParaRPr sz="1200">
              <a:latin typeface="Calibri"/>
              <a:cs typeface="Calibri"/>
            </a:endParaRPr>
          </a:p>
        </p:txBody>
      </p:sp>
      <p:sp>
        <p:nvSpPr>
          <p:cNvPr id="13" name="object 13"/>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20" dirty="0">
                <a:solidFill>
                  <a:srgbClr val="162739"/>
                </a:solidFill>
                <a:latin typeface="Arial Black"/>
                <a:cs typeface="Arial Black"/>
              </a:rPr>
              <a:t>Member project call</a:t>
            </a:r>
            <a:endParaRPr sz="1800">
              <a:latin typeface="Arial Black"/>
              <a:cs typeface="Arial Black"/>
            </a:endParaRPr>
          </a:p>
        </p:txBody>
      </p:sp>
      <p:sp>
        <p:nvSpPr>
          <p:cNvPr id="14" name="object 14"/>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5" name="object 15"/>
          <p:cNvSpPr txBox="1"/>
          <p:nvPr/>
        </p:nvSpPr>
        <p:spPr>
          <a:xfrm>
            <a:off x="901700" y="6281420"/>
            <a:ext cx="1139253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The DoD Manufacturing USA institute for tissue biofabrication; named focus areas include cell selection, culture and scale-up, and tissue process automation.</a:t>
            </a:r>
            <a:endParaRPr sz="2100">
              <a:latin typeface="Calibri"/>
              <a:cs typeface="Calibri"/>
            </a:endParaRPr>
          </a:p>
        </p:txBody>
      </p:sp>
      <p:sp>
        <p:nvSpPr>
          <p:cNvPr id="16" name="object 16"/>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7" name="object 17"/>
          <p:cNvSpPr txBox="1"/>
          <p:nvPr/>
        </p:nvSpPr>
        <p:spPr>
          <a:xfrm>
            <a:off x="901700" y="7707883"/>
            <a:ext cx="13441680" cy="345440"/>
          </a:xfrm>
          <a:prstGeom prst="rect">
            <a:avLst/>
          </a:prstGeom>
        </p:spPr>
        <p:txBody>
          <a:bodyPr vert="horz" wrap="square" lIns="0" tIns="12700" rIns="0" bIns="0" rtlCol="0">
            <a:spAutoFit/>
          </a:bodyPr>
          <a:lstStyle/>
          <a:p>
            <a:pPr marL="12700">
              <a:lnSpc>
                <a:spcPct val="100000"/>
              </a:lnSpc>
              <a:spcBef>
                <a:spcPts val="100"/>
              </a:spcBef>
            </a:pPr>
            <a:r>
              <a:rPr sz="2100" dirty="0">
                <a:solidFill>
                  <a:srgbClr val="36404F"/>
                </a:solidFill>
                <a:latin typeface="Calibri"/>
                <a:cs typeface="Calibri"/>
              </a:rPr>
              <a:t>Cell X is already a BioFabUSA member, and the platform sits squarely inside two of the institute’s five named technical focus areas.</a:t>
            </a:r>
            <a:endParaRPr sz="2100">
              <a:latin typeface="Calibri"/>
              <a:cs typeface="Calibri"/>
            </a:endParaRPr>
          </a:p>
        </p:txBody>
      </p:sp>
      <p:grpSp>
        <p:nvGrpSpPr>
          <p:cNvPr id="18" name="object 18"/>
          <p:cNvGrpSpPr/>
          <p:nvPr/>
        </p:nvGrpSpPr>
        <p:grpSpPr>
          <a:xfrm>
            <a:off x="908050" y="8534145"/>
            <a:ext cx="16471900" cy="26034"/>
            <a:chOff x="908050" y="8534145"/>
            <a:chExt cx="16471900" cy="26034"/>
          </a:xfrm>
        </p:grpSpPr>
        <p:sp>
          <p:nvSpPr>
            <p:cNvPr id="19" name="object 19"/>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20" name="object 20"/>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1" name="object 21"/>
          <p:cNvSpPr txBox="1"/>
          <p:nvPr/>
        </p:nvSpPr>
        <p:spPr>
          <a:xfrm>
            <a:off x="901700" y="8644064"/>
            <a:ext cx="1121410"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pPr>
            <a:r>
              <a:rPr sz="1600" u="heavy" dirty="0">
                <a:solidFill>
                  <a:srgbClr val="0563C1"/>
                </a:solidFill>
                <a:uFill>
                  <a:solidFill>
                    <a:srgbClr val="0563C1"/>
                  </a:solidFill>
                </a:uFill>
                <a:latin typeface="Calibri"/>
                <a:cs typeface="Calibri"/>
                <a:hlinkClick r:id="rId2"/>
              </a:rPr>
              <a:t>BioFabUSA</a:t>
            </a:r>
            <a:endParaRPr sz="1600">
              <a:latin typeface="Calibri"/>
              <a:cs typeface="Calibri"/>
            </a:endParaRPr>
          </a:p>
        </p:txBody>
      </p:sp>
      <p:sp>
        <p:nvSpPr>
          <p:cNvPr id="22" name="object 22"/>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3"/>
              </a:rPr>
              <a:t>www.bwcoconsulting.com</a:t>
            </a:r>
            <a:endParaRPr sz="12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433472" y="417068"/>
            <a:ext cx="953135" cy="299720"/>
          </a:xfrm>
          <a:prstGeom prst="rect">
            <a:avLst/>
          </a:prstGeom>
        </p:spPr>
        <p:txBody>
          <a:bodyPr vert="horz" wrap="square" lIns="0" tIns="12700" rIns="0" bIns="0" rtlCol="0">
            <a:spAutoFit/>
          </a:bodyPr>
          <a:lstStyle/>
          <a:p>
            <a:pPr marL="12700">
              <a:lnSpc>
                <a:spcPct val="100000"/>
              </a:lnSpc>
              <a:spcBef>
                <a:spcPts val="100"/>
              </a:spcBef>
            </a:pPr>
            <a:r>
              <a:rPr sz="1800" spc="-75" dirty="0">
                <a:solidFill>
                  <a:srgbClr val="162739"/>
                </a:solidFill>
                <a:latin typeface="Arial Black"/>
                <a:cs typeface="Arial Black"/>
              </a:rPr>
              <a:t>BW&amp;CO</a:t>
            </a:r>
            <a:endParaRPr sz="1800">
              <a:latin typeface="Arial Black"/>
              <a:cs typeface="Arial Black"/>
            </a:endParaRPr>
          </a:p>
        </p:txBody>
      </p:sp>
      <p:sp>
        <p:nvSpPr>
          <p:cNvPr id="3" name="object 3"/>
          <p:cNvSpPr txBox="1"/>
          <p:nvPr/>
        </p:nvSpPr>
        <p:spPr>
          <a:xfrm>
            <a:off x="810260" y="779271"/>
            <a:ext cx="1228090" cy="1549400"/>
          </a:xfrm>
          <a:prstGeom prst="rect">
            <a:avLst/>
          </a:prstGeom>
        </p:spPr>
        <p:txBody>
          <a:bodyPr vert="horz" wrap="square" lIns="0" tIns="12700" rIns="0" bIns="0" rtlCol="0">
            <a:spAutoFit/>
          </a:bodyPr>
          <a:lstStyle/>
          <a:p>
            <a:pPr marL="12700">
              <a:lnSpc>
                <a:spcPct val="100000"/>
              </a:lnSpc>
              <a:spcBef>
                <a:spcPts val="100"/>
              </a:spcBef>
            </a:pPr>
            <a:r>
              <a:rPr sz="10000" spc="-2030" dirty="0">
                <a:solidFill>
                  <a:srgbClr val="DDE4ED"/>
                </a:solidFill>
                <a:latin typeface="Arial Black"/>
                <a:cs typeface="Arial Black"/>
              </a:rPr>
              <a:t>12</a:t>
            </a:r>
            <a:endParaRPr sz="10000">
              <a:latin typeface="Arial Black"/>
              <a:cs typeface="Arial Black"/>
            </a:endParaRPr>
          </a:p>
        </p:txBody>
      </p:sp>
      <p:sp>
        <p:nvSpPr>
          <p:cNvPr id="4" name="object 4" descr="$PPTXTitle"/>
          <p:cNvSpPr txBox="1">
            <a:spLocks noGrp="1"/>
          </p:cNvSpPr>
          <p:nvPr>
            <p:ph type="title"/>
          </p:nvPr>
        </p:nvSpPr>
        <p:spPr>
          <a:xfrm>
            <a:off x="3050540" y="406573"/>
            <a:ext cx="6508115" cy="1598295"/>
          </a:xfrm>
          <a:prstGeom prst="rect">
            <a:avLst/>
          </a:prstGeom>
        </p:spPr>
        <p:txBody>
          <a:bodyPr vert="horz" wrap="square" lIns="0" tIns="12700" rIns="0" bIns="0" rtlCol="0">
            <a:spAutoFit/>
          </a:bodyPr>
          <a:lstStyle/>
          <a:p>
            <a:pPr marL="12700" marR="5080">
              <a:lnSpc>
                <a:spcPct val="143300"/>
              </a:lnSpc>
              <a:spcBef>
                <a:spcPts val="100"/>
              </a:spcBef>
            </a:pPr>
            <a:r>
              <a:rPr spc="-50" dirty="0"/>
              <a:t>CDMRP Peer Reviewed Medical Research Program</a:t>
            </a:r>
          </a:p>
        </p:txBody>
      </p:sp>
      <p:grpSp>
        <p:nvGrpSpPr>
          <p:cNvPr id="6" name="object 6"/>
          <p:cNvGrpSpPr/>
          <p:nvPr/>
        </p:nvGrpSpPr>
        <p:grpSpPr>
          <a:xfrm>
            <a:off x="13846810" y="926338"/>
            <a:ext cx="3441700" cy="762635"/>
            <a:chOff x="13846810" y="926338"/>
            <a:chExt cx="3441700" cy="762635"/>
          </a:xfrm>
        </p:grpSpPr>
        <p:sp>
          <p:nvSpPr>
            <p:cNvPr id="7" name="object 7"/>
            <p:cNvSpPr/>
            <p:nvPr/>
          </p:nvSpPr>
          <p:spPr>
            <a:xfrm>
              <a:off x="13853160" y="932688"/>
              <a:ext cx="3429000" cy="749935"/>
            </a:xfrm>
            <a:custGeom>
              <a:avLst/>
              <a:gdLst/>
              <a:ahLst/>
              <a:cxnLst/>
              <a:rect l="l" t="t" r="r" b="b"/>
              <a:pathLst>
                <a:path w="3429000" h="749935">
                  <a:moveTo>
                    <a:pt x="3319272" y="749807"/>
                  </a:moveTo>
                  <a:lnTo>
                    <a:pt x="109727" y="749807"/>
                  </a:lnTo>
                  <a:lnTo>
                    <a:pt x="67016" y="741185"/>
                  </a:lnTo>
                  <a:lnTo>
                    <a:pt x="32138" y="717669"/>
                  </a:lnTo>
                  <a:lnTo>
                    <a:pt x="8622" y="682791"/>
                  </a:lnTo>
                  <a:lnTo>
                    <a:pt x="0" y="640081"/>
                  </a:lnTo>
                  <a:lnTo>
                    <a:pt x="0" y="109726"/>
                  </a:ln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close/>
                </a:path>
              </a:pathLst>
            </a:custGeom>
            <a:solidFill>
              <a:srgbClr val="022C5E"/>
            </a:solidFill>
          </p:spPr>
          <p:txBody>
            <a:bodyPr wrap="square" lIns="0" tIns="0" rIns="0" bIns="0" rtlCol="0"/>
            <a:lstStyle/>
            <a:p>
              <a:endParaRPr/>
            </a:p>
          </p:txBody>
        </p:sp>
        <p:sp>
          <p:nvSpPr>
            <p:cNvPr id="8" name="object 8"/>
            <p:cNvSpPr/>
            <p:nvPr/>
          </p:nvSpPr>
          <p:spPr>
            <a:xfrm>
              <a:off x="13853160" y="932688"/>
              <a:ext cx="3429000" cy="749935"/>
            </a:xfrm>
            <a:custGeom>
              <a:avLst/>
              <a:gdLst/>
              <a:ahLst/>
              <a:cxnLst/>
              <a:rect l="l" t="t" r="r" b="b"/>
              <a:pathLst>
                <a:path w="3429000" h="749935">
                  <a:moveTo>
                    <a:pt x="0" y="109726"/>
                  </a:moveTo>
                  <a:lnTo>
                    <a:pt x="8622" y="67016"/>
                  </a:lnTo>
                  <a:lnTo>
                    <a:pt x="32138" y="32138"/>
                  </a:lnTo>
                  <a:lnTo>
                    <a:pt x="67016" y="8622"/>
                  </a:lnTo>
                  <a:lnTo>
                    <a:pt x="109727" y="0"/>
                  </a:lnTo>
                  <a:lnTo>
                    <a:pt x="3319272" y="0"/>
                  </a:lnTo>
                  <a:lnTo>
                    <a:pt x="3361263" y="8352"/>
                  </a:lnTo>
                  <a:lnTo>
                    <a:pt x="3396862" y="32138"/>
                  </a:lnTo>
                  <a:lnTo>
                    <a:pt x="3420647" y="67736"/>
                  </a:lnTo>
                  <a:lnTo>
                    <a:pt x="3428999" y="109726"/>
                  </a:lnTo>
                  <a:lnTo>
                    <a:pt x="3428999" y="640081"/>
                  </a:lnTo>
                  <a:lnTo>
                    <a:pt x="3420376" y="682791"/>
                  </a:lnTo>
                  <a:lnTo>
                    <a:pt x="3396861" y="717669"/>
                  </a:lnTo>
                  <a:lnTo>
                    <a:pt x="3361983" y="741185"/>
                  </a:lnTo>
                  <a:lnTo>
                    <a:pt x="3319272" y="749807"/>
                  </a:lnTo>
                  <a:lnTo>
                    <a:pt x="109727" y="749807"/>
                  </a:lnTo>
                  <a:lnTo>
                    <a:pt x="67016" y="741185"/>
                  </a:lnTo>
                  <a:lnTo>
                    <a:pt x="32138" y="717669"/>
                  </a:lnTo>
                  <a:lnTo>
                    <a:pt x="8622" y="682791"/>
                  </a:lnTo>
                  <a:lnTo>
                    <a:pt x="0" y="640081"/>
                  </a:lnTo>
                  <a:lnTo>
                    <a:pt x="0" y="109726"/>
                  </a:lnTo>
                  <a:close/>
                </a:path>
              </a:pathLst>
            </a:custGeom>
            <a:ln w="12699">
              <a:solidFill>
                <a:srgbClr val="333333"/>
              </a:solidFill>
            </a:ln>
          </p:spPr>
          <p:txBody>
            <a:bodyPr wrap="square" lIns="0" tIns="0" rIns="0" bIns="0" rtlCol="0"/>
            <a:lstStyle/>
            <a:p>
              <a:endParaRPr/>
            </a:p>
          </p:txBody>
        </p:sp>
      </p:grpSp>
      <p:sp>
        <p:nvSpPr>
          <p:cNvPr id="9" name="object 9"/>
          <p:cNvSpPr txBox="1"/>
          <p:nvPr/>
        </p:nvSpPr>
        <p:spPr>
          <a:xfrm>
            <a:off x="14660160" y="1140459"/>
            <a:ext cx="1815464" cy="314960"/>
          </a:xfrm>
          <a:prstGeom prst="rect">
            <a:avLst/>
          </a:prstGeom>
        </p:spPr>
        <p:txBody>
          <a:bodyPr vert="horz" wrap="square" lIns="0" tIns="12700" rIns="0" bIns="0" rtlCol="0">
            <a:spAutoFit/>
          </a:bodyPr>
          <a:lstStyle/>
          <a:p>
            <a:pPr marL="12700">
              <a:lnSpc>
                <a:spcPct val="100000"/>
              </a:lnSpc>
              <a:spcBef>
                <a:spcPts val="100"/>
              </a:spcBef>
            </a:pPr>
            <a:r>
              <a:rPr sz="1900" spc="-10" dirty="0">
                <a:solidFill>
                  <a:srgbClr val="FFFFFF"/>
                </a:solidFill>
                <a:latin typeface="Arial Black"/>
                <a:cs typeface="Arial Black"/>
              </a:rPr>
              <a:t>Cycle pending</a:t>
            </a:r>
            <a:endParaRPr sz="1900">
              <a:latin typeface="Arial Black"/>
              <a:cs typeface="Arial Black"/>
            </a:endParaRPr>
          </a:p>
        </p:txBody>
      </p:sp>
      <p:sp>
        <p:nvSpPr>
          <p:cNvPr id="5" name="object 5"/>
          <p:cNvSpPr txBox="1"/>
          <p:nvPr/>
        </p:nvSpPr>
        <p:spPr>
          <a:xfrm>
            <a:off x="3050540" y="2627883"/>
            <a:ext cx="8152765" cy="269240"/>
          </a:xfrm>
          <a:prstGeom prst="rect">
            <a:avLst/>
          </a:prstGeom>
        </p:spPr>
        <p:txBody>
          <a:bodyPr vert="horz" wrap="square" lIns="0" tIns="12700" rIns="0" bIns="0" rtlCol="0">
            <a:spAutoFit/>
          </a:bodyPr>
          <a:lstStyle/>
          <a:p>
            <a:pPr marL="12700">
              <a:lnSpc>
                <a:spcPct val="100000"/>
              </a:lnSpc>
              <a:spcBef>
                <a:spcPts val="100"/>
              </a:spcBef>
              <a:tabLst>
                <a:tab pos="1428115" algn="l"/>
                <a:tab pos="1616710" algn="l"/>
              </a:tabLst>
            </a:pPr>
            <a:r>
              <a:rPr sz="1600" spc="-10" dirty="0">
                <a:solidFill>
                  <a:srgbClr val="5A6B80"/>
                </a:solidFill>
                <a:latin typeface="Calibri"/>
                <a:cs typeface="Calibri"/>
              </a:rPr>
              <a:t>COMPONENT C	·	Department of Defense · Congressionally Directed Medical Research Programs</a:t>
            </a:r>
            <a:endParaRPr sz="1600">
              <a:latin typeface="Calibri"/>
              <a:cs typeface="Calibri"/>
            </a:endParaRPr>
          </a:p>
        </p:txBody>
      </p:sp>
      <p:sp>
        <p:nvSpPr>
          <p:cNvPr id="10" name="object 10"/>
          <p:cNvSpPr txBox="1"/>
          <p:nvPr/>
        </p:nvSpPr>
        <p:spPr>
          <a:xfrm>
            <a:off x="914400"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AWARD</a:t>
            </a:r>
            <a:endParaRPr sz="1200">
              <a:latin typeface="Calibri"/>
              <a:cs typeface="Calibri"/>
            </a:endParaRPr>
          </a:p>
          <a:p>
            <a:pPr>
              <a:lnSpc>
                <a:spcPct val="100000"/>
              </a:lnSpc>
              <a:spcBef>
                <a:spcPts val="850"/>
              </a:spcBef>
            </a:pPr>
            <a:endParaRPr sz="1200">
              <a:latin typeface="Calibri"/>
              <a:cs typeface="Calibri"/>
            </a:endParaRPr>
          </a:p>
          <a:p>
            <a:pPr marL="274320">
              <a:lnSpc>
                <a:spcPct val="100000"/>
              </a:lnSpc>
              <a:spcBef>
                <a:spcPts val="5"/>
              </a:spcBef>
            </a:pPr>
            <a:r>
              <a:rPr sz="3200" spc="-285" dirty="0">
                <a:solidFill>
                  <a:srgbClr val="162739"/>
                </a:solidFill>
                <a:latin typeface="Arial Black"/>
                <a:cs typeface="Arial Black"/>
              </a:rPr>
              <a:t>$1.0M</a:t>
            </a:r>
            <a:endParaRPr sz="3200">
              <a:latin typeface="Arial Black"/>
              <a:cs typeface="Arial Black"/>
            </a:endParaRPr>
          </a:p>
          <a:p>
            <a:pPr marL="274320">
              <a:lnSpc>
                <a:spcPct val="100000"/>
              </a:lnSpc>
              <a:spcBef>
                <a:spcPts val="2550"/>
              </a:spcBef>
            </a:pPr>
            <a:r>
              <a:rPr sz="1200" spc="-10" dirty="0">
                <a:solidFill>
                  <a:srgbClr val="5A6B80"/>
                </a:solidFill>
                <a:latin typeface="Calibri"/>
                <a:cs typeface="Calibri"/>
              </a:rPr>
              <a:t>Estimated; varies by award mechanism</a:t>
            </a:r>
            <a:endParaRPr sz="1200">
              <a:latin typeface="Calibri"/>
              <a:cs typeface="Calibri"/>
            </a:endParaRPr>
          </a:p>
        </p:txBody>
      </p:sp>
      <p:sp>
        <p:nvSpPr>
          <p:cNvPr id="11" name="object 11"/>
          <p:cNvSpPr txBox="1"/>
          <p:nvPr/>
        </p:nvSpPr>
        <p:spPr>
          <a:xfrm>
            <a:off x="5093207"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25" dirty="0">
                <a:solidFill>
                  <a:srgbClr val="5A6B80"/>
                </a:solidFill>
                <a:latin typeface="Calibri"/>
                <a:cs typeface="Calibri"/>
              </a:rPr>
              <a:t>PHASE II FOLLOW-ON</a:t>
            </a:r>
            <a:endParaRPr sz="1200">
              <a:latin typeface="Calibri"/>
              <a:cs typeface="Calibri"/>
            </a:endParaRPr>
          </a:p>
          <a:p>
            <a:pPr>
              <a:lnSpc>
                <a:spcPct val="100000"/>
              </a:lnSpc>
            </a:pPr>
            <a:endParaRPr sz="1200">
              <a:latin typeface="Calibri"/>
              <a:cs typeface="Calibri"/>
            </a:endParaRPr>
          </a:p>
          <a:p>
            <a:pPr>
              <a:lnSpc>
                <a:spcPct val="100000"/>
              </a:lnSpc>
              <a:spcBef>
                <a:spcPts val="25"/>
              </a:spcBef>
            </a:pPr>
            <a:endParaRPr sz="1200">
              <a:latin typeface="Calibri"/>
              <a:cs typeface="Calibri"/>
            </a:endParaRPr>
          </a:p>
          <a:p>
            <a:pPr marL="274320">
              <a:lnSpc>
                <a:spcPct val="100000"/>
              </a:lnSpc>
              <a:spcBef>
                <a:spcPts val="5"/>
              </a:spcBef>
            </a:pPr>
            <a:r>
              <a:rPr sz="2200" spc="-95" dirty="0">
                <a:solidFill>
                  <a:srgbClr val="5A6B80"/>
                </a:solidFill>
                <a:latin typeface="Arial Black"/>
                <a:cs typeface="Arial Black"/>
              </a:rPr>
              <a:t>Single award</a:t>
            </a:r>
            <a:endParaRPr sz="2200">
              <a:latin typeface="Arial Black"/>
              <a:cs typeface="Arial Black"/>
            </a:endParaRPr>
          </a:p>
          <a:p>
            <a:pPr>
              <a:lnSpc>
                <a:spcPct val="100000"/>
              </a:lnSpc>
              <a:spcBef>
                <a:spcPts val="5"/>
              </a:spcBef>
            </a:pPr>
            <a:endParaRPr sz="2200">
              <a:latin typeface="Arial Black"/>
              <a:cs typeface="Arial Black"/>
            </a:endParaRPr>
          </a:p>
          <a:p>
            <a:pPr marL="274320">
              <a:lnSpc>
                <a:spcPct val="100000"/>
              </a:lnSpc>
              <a:spcBef>
                <a:spcPts val="5"/>
              </a:spcBef>
            </a:pPr>
            <a:r>
              <a:rPr sz="1200" spc="-10" dirty="0">
                <a:solidFill>
                  <a:srgbClr val="5A6B80"/>
                </a:solidFill>
                <a:latin typeface="Calibri"/>
                <a:cs typeface="Calibri"/>
              </a:rPr>
              <a:t>Not phased</a:t>
            </a:r>
            <a:endParaRPr sz="1200">
              <a:latin typeface="Calibri"/>
              <a:cs typeface="Calibri"/>
            </a:endParaRPr>
          </a:p>
        </p:txBody>
      </p:sp>
      <p:sp>
        <p:nvSpPr>
          <p:cNvPr id="12" name="object 12"/>
          <p:cNvSpPr txBox="1"/>
          <p:nvPr/>
        </p:nvSpPr>
        <p:spPr>
          <a:xfrm>
            <a:off x="9272015"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dirty="0">
                <a:solidFill>
                  <a:srgbClr val="5A6B80"/>
                </a:solidFill>
                <a:latin typeface="Calibri"/>
                <a:cs typeface="Calibri"/>
              </a:rPr>
              <a:t>FILING DATE</a:t>
            </a:r>
            <a:endParaRPr sz="1200">
              <a:latin typeface="Calibri"/>
              <a:cs typeface="Calibri"/>
            </a:endParaRPr>
          </a:p>
          <a:p>
            <a:pPr>
              <a:lnSpc>
                <a:spcPct val="100000"/>
              </a:lnSpc>
            </a:pPr>
            <a:endParaRPr sz="1200">
              <a:latin typeface="Calibri"/>
              <a:cs typeface="Calibri"/>
            </a:endParaRPr>
          </a:p>
          <a:p>
            <a:pPr>
              <a:lnSpc>
                <a:spcPct val="100000"/>
              </a:lnSpc>
              <a:spcBef>
                <a:spcPts val="155"/>
              </a:spcBef>
            </a:pPr>
            <a:endParaRPr sz="1200">
              <a:latin typeface="Calibri"/>
              <a:cs typeface="Calibri"/>
            </a:endParaRPr>
          </a:p>
          <a:p>
            <a:pPr marL="274320">
              <a:lnSpc>
                <a:spcPct val="100000"/>
              </a:lnSpc>
            </a:pPr>
            <a:r>
              <a:rPr sz="2000" spc="-10" dirty="0">
                <a:solidFill>
                  <a:srgbClr val="162739"/>
                </a:solidFill>
                <a:latin typeface="Arial Black"/>
                <a:cs typeface="Arial Black"/>
              </a:rPr>
              <a:t>Cycle pending</a:t>
            </a:r>
            <a:endParaRPr sz="2000">
              <a:latin typeface="Arial Black"/>
              <a:cs typeface="Arial Black"/>
            </a:endParaRPr>
          </a:p>
          <a:p>
            <a:pPr>
              <a:lnSpc>
                <a:spcPct val="100000"/>
              </a:lnSpc>
              <a:spcBef>
                <a:spcPts val="405"/>
              </a:spcBef>
            </a:pPr>
            <a:endParaRPr sz="2000">
              <a:latin typeface="Arial Black"/>
              <a:cs typeface="Arial Black"/>
            </a:endParaRPr>
          </a:p>
          <a:p>
            <a:pPr marL="274320">
              <a:lnSpc>
                <a:spcPct val="100000"/>
              </a:lnSpc>
            </a:pPr>
            <a:r>
              <a:rPr sz="1200" dirty="0">
                <a:solidFill>
                  <a:srgbClr val="5A6B80"/>
                </a:solidFill>
                <a:latin typeface="Calibri"/>
                <a:cs typeface="Calibri"/>
              </a:rPr>
              <a:t>Topic areas set annually by Congress</a:t>
            </a:r>
            <a:endParaRPr sz="1200">
              <a:latin typeface="Calibri"/>
              <a:cs typeface="Calibri"/>
            </a:endParaRPr>
          </a:p>
        </p:txBody>
      </p:sp>
      <p:sp>
        <p:nvSpPr>
          <p:cNvPr id="13" name="object 13"/>
          <p:cNvSpPr txBox="1"/>
          <p:nvPr/>
        </p:nvSpPr>
        <p:spPr>
          <a:xfrm>
            <a:off x="13450823" y="3310127"/>
            <a:ext cx="3931920" cy="1975485"/>
          </a:xfrm>
          <a:prstGeom prst="rect">
            <a:avLst/>
          </a:prstGeom>
          <a:solidFill>
            <a:srgbClr val="F4F6F9"/>
          </a:solidFill>
          <a:ln w="12699">
            <a:solidFill>
              <a:srgbClr val="333333"/>
            </a:solidFill>
          </a:ln>
        </p:spPr>
        <p:txBody>
          <a:bodyPr vert="horz" wrap="square" lIns="0" tIns="55880" rIns="0" bIns="0" rtlCol="0">
            <a:spAutoFit/>
          </a:bodyPr>
          <a:lstStyle/>
          <a:p>
            <a:pPr>
              <a:lnSpc>
                <a:spcPct val="100000"/>
              </a:lnSpc>
              <a:spcBef>
                <a:spcPts val="440"/>
              </a:spcBef>
            </a:pPr>
            <a:endParaRPr sz="1200">
              <a:latin typeface="Times New Roman"/>
              <a:cs typeface="Times New Roman"/>
            </a:endParaRPr>
          </a:p>
          <a:p>
            <a:pPr marL="274320">
              <a:lnSpc>
                <a:spcPct val="100000"/>
              </a:lnSpc>
              <a:spcBef>
                <a:spcPts val="5"/>
              </a:spcBef>
            </a:pPr>
            <a:r>
              <a:rPr sz="1200" b="1" spc="-10" dirty="0">
                <a:solidFill>
                  <a:srgbClr val="5A6B80"/>
                </a:solidFill>
                <a:latin typeface="Calibri"/>
                <a:cs typeface="Calibri"/>
              </a:rPr>
              <a:t>HOW IT IS AWARDED</a:t>
            </a:r>
            <a:endParaRPr sz="1200">
              <a:latin typeface="Calibri"/>
              <a:cs typeface="Calibri"/>
            </a:endParaRPr>
          </a:p>
          <a:p>
            <a:pPr>
              <a:lnSpc>
                <a:spcPct val="100000"/>
              </a:lnSpc>
            </a:pPr>
            <a:endParaRPr sz="1200">
              <a:latin typeface="Calibri"/>
              <a:cs typeface="Calibri"/>
            </a:endParaRPr>
          </a:p>
          <a:p>
            <a:pPr>
              <a:lnSpc>
                <a:spcPct val="100000"/>
              </a:lnSpc>
              <a:spcBef>
                <a:spcPts val="285"/>
              </a:spcBef>
            </a:pPr>
            <a:endParaRPr sz="1200">
              <a:latin typeface="Calibri"/>
              <a:cs typeface="Calibri"/>
            </a:endParaRPr>
          </a:p>
          <a:p>
            <a:pPr marL="274320">
              <a:lnSpc>
                <a:spcPct val="100000"/>
              </a:lnSpc>
            </a:pPr>
            <a:r>
              <a:rPr sz="1800" spc="-20" dirty="0">
                <a:solidFill>
                  <a:srgbClr val="162739"/>
                </a:solidFill>
                <a:latin typeface="Arial Black"/>
                <a:cs typeface="Arial Black"/>
              </a:rPr>
              <a:t>Pre-application then full</a:t>
            </a:r>
            <a:endParaRPr sz="1800">
              <a:latin typeface="Arial Black"/>
              <a:cs typeface="Arial Black"/>
            </a:endParaRPr>
          </a:p>
        </p:txBody>
      </p:sp>
      <p:sp>
        <p:nvSpPr>
          <p:cNvPr id="14" name="object 14"/>
          <p:cNvSpPr txBox="1"/>
          <p:nvPr/>
        </p:nvSpPr>
        <p:spPr>
          <a:xfrm>
            <a:off x="901700" y="5724652"/>
            <a:ext cx="770255" cy="223520"/>
          </a:xfrm>
          <a:prstGeom prst="rect">
            <a:avLst/>
          </a:prstGeom>
        </p:spPr>
        <p:txBody>
          <a:bodyPr vert="horz" wrap="square" lIns="0" tIns="12700" rIns="0" bIns="0" rtlCol="0">
            <a:spAutoFit/>
          </a:bodyPr>
          <a:lstStyle/>
          <a:p>
            <a:pPr marL="12700">
              <a:lnSpc>
                <a:spcPct val="100000"/>
              </a:lnSpc>
              <a:spcBef>
                <a:spcPts val="100"/>
              </a:spcBef>
            </a:pPr>
            <a:r>
              <a:rPr sz="1300" b="1" spc="-25" dirty="0">
                <a:solidFill>
                  <a:srgbClr val="5A6B80"/>
                </a:solidFill>
                <a:latin typeface="Calibri"/>
                <a:cs typeface="Calibri"/>
              </a:rPr>
              <a:t>WHAT IT IS</a:t>
            </a:r>
            <a:endParaRPr sz="1300">
              <a:latin typeface="Calibri"/>
              <a:cs typeface="Calibri"/>
            </a:endParaRPr>
          </a:p>
        </p:txBody>
      </p:sp>
      <p:sp>
        <p:nvSpPr>
          <p:cNvPr id="15" name="object 15"/>
          <p:cNvSpPr txBox="1"/>
          <p:nvPr/>
        </p:nvSpPr>
        <p:spPr>
          <a:xfrm>
            <a:off x="901700" y="6281420"/>
            <a:ext cx="13645515" cy="345440"/>
          </a:xfrm>
          <a:prstGeom prst="rect">
            <a:avLst/>
          </a:prstGeom>
        </p:spPr>
        <p:txBody>
          <a:bodyPr vert="horz" wrap="square" lIns="0" tIns="12700" rIns="0" bIns="0" rtlCol="0">
            <a:spAutoFit/>
          </a:bodyPr>
          <a:lstStyle/>
          <a:p>
            <a:pPr marL="12700">
              <a:lnSpc>
                <a:spcPct val="100000"/>
              </a:lnSpc>
              <a:spcBef>
                <a:spcPts val="100"/>
              </a:spcBef>
            </a:pPr>
            <a:r>
              <a:rPr sz="2100" spc="-10" dirty="0">
                <a:solidFill>
                  <a:srgbClr val="36404F"/>
                </a:solidFill>
                <a:latin typeface="Calibri"/>
                <a:cs typeface="Calibri"/>
              </a:rPr>
              <a:t>Congressionally directed medical money across annually set topic areas, with a standing orthopaedic and regenerative medicine portfolio.</a:t>
            </a:r>
            <a:endParaRPr sz="2100">
              <a:latin typeface="Calibri"/>
              <a:cs typeface="Calibri"/>
            </a:endParaRPr>
          </a:p>
        </p:txBody>
      </p:sp>
      <p:sp>
        <p:nvSpPr>
          <p:cNvPr id="16" name="object 16"/>
          <p:cNvSpPr txBox="1"/>
          <p:nvPr/>
        </p:nvSpPr>
        <p:spPr>
          <a:xfrm>
            <a:off x="901700" y="7151116"/>
            <a:ext cx="1638935" cy="223520"/>
          </a:xfrm>
          <a:prstGeom prst="rect">
            <a:avLst/>
          </a:prstGeom>
        </p:spPr>
        <p:txBody>
          <a:bodyPr vert="horz" wrap="square" lIns="0" tIns="12700" rIns="0" bIns="0" rtlCol="0">
            <a:spAutoFit/>
          </a:bodyPr>
          <a:lstStyle/>
          <a:p>
            <a:pPr marL="12700">
              <a:lnSpc>
                <a:spcPct val="100000"/>
              </a:lnSpc>
              <a:spcBef>
                <a:spcPts val="100"/>
              </a:spcBef>
            </a:pPr>
            <a:r>
              <a:rPr sz="1300" b="1" spc="-10" dirty="0">
                <a:solidFill>
                  <a:srgbClr val="5A6B80"/>
                </a:solidFill>
                <a:latin typeface="Calibri"/>
                <a:cs typeface="Calibri"/>
              </a:rPr>
              <a:t>WHY IT FITS CELL X</a:t>
            </a:r>
            <a:endParaRPr sz="1300">
              <a:latin typeface="Calibri"/>
              <a:cs typeface="Calibri"/>
            </a:endParaRPr>
          </a:p>
        </p:txBody>
      </p:sp>
      <p:sp>
        <p:nvSpPr>
          <p:cNvPr id="17" name="object 17"/>
          <p:cNvSpPr txBox="1"/>
          <p:nvPr/>
        </p:nvSpPr>
        <p:spPr>
          <a:xfrm>
            <a:off x="901700" y="7707883"/>
            <a:ext cx="15399385" cy="345440"/>
          </a:xfrm>
          <a:prstGeom prst="rect">
            <a:avLst/>
          </a:prstGeom>
        </p:spPr>
        <p:txBody>
          <a:bodyPr vert="horz" wrap="square" lIns="0" tIns="12700" rIns="0" bIns="0" rtlCol="0">
            <a:spAutoFit/>
          </a:bodyPr>
          <a:lstStyle/>
          <a:p>
            <a:pPr marL="12700">
              <a:lnSpc>
                <a:spcPct val="100000"/>
              </a:lnSpc>
              <a:spcBef>
                <a:spcPts val="100"/>
              </a:spcBef>
            </a:pPr>
            <a:r>
              <a:rPr sz="2100" spc="-25" dirty="0">
                <a:solidFill>
                  <a:srgbClr val="36404F"/>
                </a:solidFill>
                <a:latin typeface="Calibri"/>
                <a:cs typeface="Calibri"/>
              </a:rPr>
              <a:t>The CTP potency assay serves military musculoskeletal repair, the founders’ own field, and CDMRP sits outside the NIH application ceiling.</a:t>
            </a:r>
            <a:endParaRPr sz="2100">
              <a:latin typeface="Calibri"/>
              <a:cs typeface="Calibri"/>
            </a:endParaRPr>
          </a:p>
        </p:txBody>
      </p:sp>
      <p:grpSp>
        <p:nvGrpSpPr>
          <p:cNvPr id="18" name="object 18"/>
          <p:cNvGrpSpPr/>
          <p:nvPr/>
        </p:nvGrpSpPr>
        <p:grpSpPr>
          <a:xfrm>
            <a:off x="908050" y="8534145"/>
            <a:ext cx="16471900" cy="26034"/>
            <a:chOff x="908050" y="8534145"/>
            <a:chExt cx="16471900" cy="26034"/>
          </a:xfrm>
        </p:grpSpPr>
        <p:sp>
          <p:nvSpPr>
            <p:cNvPr id="19" name="object 19"/>
            <p:cNvSpPr/>
            <p:nvPr/>
          </p:nvSpPr>
          <p:spPr>
            <a:xfrm>
              <a:off x="914400" y="8540495"/>
              <a:ext cx="16459200" cy="13335"/>
            </a:xfrm>
            <a:custGeom>
              <a:avLst/>
              <a:gdLst/>
              <a:ahLst/>
              <a:cxnLst/>
              <a:rect l="l" t="t" r="r" b="b"/>
              <a:pathLst>
                <a:path w="16459200" h="13334">
                  <a:moveTo>
                    <a:pt x="16459199" y="12801"/>
                  </a:moveTo>
                  <a:lnTo>
                    <a:pt x="0" y="12801"/>
                  </a:lnTo>
                  <a:lnTo>
                    <a:pt x="0" y="0"/>
                  </a:lnTo>
                  <a:lnTo>
                    <a:pt x="16459199" y="0"/>
                  </a:lnTo>
                  <a:lnTo>
                    <a:pt x="16459199" y="12801"/>
                  </a:lnTo>
                  <a:close/>
                </a:path>
              </a:pathLst>
            </a:custGeom>
            <a:solidFill>
              <a:srgbClr val="E4E9F0"/>
            </a:solidFill>
          </p:spPr>
          <p:txBody>
            <a:bodyPr wrap="square" lIns="0" tIns="0" rIns="0" bIns="0" rtlCol="0"/>
            <a:lstStyle/>
            <a:p>
              <a:endParaRPr/>
            </a:p>
          </p:txBody>
        </p:sp>
        <p:sp>
          <p:nvSpPr>
            <p:cNvPr id="20" name="object 20"/>
            <p:cNvSpPr/>
            <p:nvPr/>
          </p:nvSpPr>
          <p:spPr>
            <a:xfrm>
              <a:off x="914400" y="8540495"/>
              <a:ext cx="16459200" cy="13335"/>
            </a:xfrm>
            <a:custGeom>
              <a:avLst/>
              <a:gdLst/>
              <a:ahLst/>
              <a:cxnLst/>
              <a:rect l="l" t="t" r="r" b="b"/>
              <a:pathLst>
                <a:path w="16459200" h="13334">
                  <a:moveTo>
                    <a:pt x="0" y="0"/>
                  </a:moveTo>
                  <a:lnTo>
                    <a:pt x="16459199" y="0"/>
                  </a:lnTo>
                  <a:lnTo>
                    <a:pt x="16459199" y="12801"/>
                  </a:lnTo>
                  <a:lnTo>
                    <a:pt x="0" y="12801"/>
                  </a:lnTo>
                  <a:lnTo>
                    <a:pt x="0" y="0"/>
                  </a:lnTo>
                  <a:close/>
                </a:path>
              </a:pathLst>
            </a:custGeom>
            <a:ln w="12699">
              <a:solidFill>
                <a:srgbClr val="333333"/>
              </a:solidFill>
            </a:ln>
          </p:spPr>
          <p:txBody>
            <a:bodyPr wrap="square" lIns="0" tIns="0" rIns="0" bIns="0" rtlCol="0"/>
            <a:lstStyle/>
            <a:p>
              <a:endParaRPr/>
            </a:p>
          </p:txBody>
        </p:sp>
      </p:grpSp>
      <p:sp>
        <p:nvSpPr>
          <p:cNvPr id="21" name="object 21"/>
          <p:cNvSpPr txBox="1"/>
          <p:nvPr/>
        </p:nvSpPr>
        <p:spPr>
          <a:xfrm>
            <a:off x="901700" y="8644064"/>
            <a:ext cx="1229995" cy="727075"/>
          </a:xfrm>
          <a:prstGeom prst="rect">
            <a:avLst/>
          </a:prstGeom>
        </p:spPr>
        <p:txBody>
          <a:bodyPr vert="horz" wrap="square" lIns="0" tIns="128905" rIns="0" bIns="0" rtlCol="0">
            <a:spAutoFit/>
          </a:bodyPr>
          <a:lstStyle/>
          <a:p>
            <a:pPr marL="12700">
              <a:lnSpc>
                <a:spcPct val="100000"/>
              </a:lnSpc>
              <a:spcBef>
                <a:spcPts val="1015"/>
              </a:spcBef>
            </a:pPr>
            <a:r>
              <a:rPr sz="1300" b="1" spc="-10" dirty="0">
                <a:solidFill>
                  <a:srgbClr val="5A6B80"/>
                </a:solidFill>
                <a:latin typeface="Calibri"/>
                <a:cs typeface="Calibri"/>
              </a:rPr>
              <a:t>LEARN MORE</a:t>
            </a:r>
            <a:endParaRPr sz="1300">
              <a:latin typeface="Calibri"/>
              <a:cs typeface="Calibri"/>
            </a:endParaRPr>
          </a:p>
          <a:p>
            <a:pPr marL="12700">
              <a:lnSpc>
                <a:spcPct val="100000"/>
              </a:lnSpc>
              <a:spcBef>
                <a:spcPts val="1130"/>
              </a:spcBef>
            </a:pPr>
            <a:r>
              <a:rPr sz="1600" u="heavy" spc="-40" dirty="0">
                <a:solidFill>
                  <a:srgbClr val="0563C1"/>
                </a:solidFill>
                <a:uFill>
                  <a:solidFill>
                    <a:srgbClr val="0563C1"/>
                  </a:solidFill>
                </a:uFill>
                <a:latin typeface="Calibri"/>
                <a:cs typeface="Calibri"/>
                <a:hlinkClick r:id="rId2"/>
              </a:rPr>
              <a:t>PRMRP</a:t>
            </a:r>
            <a:endParaRPr sz="1600">
              <a:latin typeface="Calibri"/>
              <a:cs typeface="Calibri"/>
            </a:endParaRPr>
          </a:p>
        </p:txBody>
      </p:sp>
      <p:sp>
        <p:nvSpPr>
          <p:cNvPr id="22" name="object 22"/>
          <p:cNvSpPr txBox="1"/>
          <p:nvPr/>
        </p:nvSpPr>
        <p:spPr>
          <a:xfrm>
            <a:off x="15733985" y="9730232"/>
            <a:ext cx="1650364" cy="177800"/>
          </a:xfrm>
          <a:prstGeom prst="rect">
            <a:avLst/>
          </a:prstGeom>
        </p:spPr>
        <p:txBody>
          <a:bodyPr vert="horz" wrap="square" lIns="0" tIns="0" rIns="0" bIns="0" rtlCol="0">
            <a:spAutoFit/>
          </a:bodyPr>
          <a:lstStyle/>
          <a:p>
            <a:pPr marL="12700">
              <a:lnSpc>
                <a:spcPts val="1240"/>
              </a:lnSpc>
            </a:pPr>
            <a:r>
              <a:rPr sz="1200" u="heavy" spc="-10" dirty="0">
                <a:solidFill>
                  <a:srgbClr val="0563C1"/>
                </a:solidFill>
                <a:uFill>
                  <a:solidFill>
                    <a:srgbClr val="0563C1"/>
                  </a:solidFill>
                </a:uFill>
                <a:latin typeface="Calibri"/>
                <a:cs typeface="Calibri"/>
                <a:hlinkClick r:id="rId3"/>
              </a:rPr>
              <a:t>www.bwcoconsulting.com</a:t>
            </a:r>
            <a:endParaRPr sz="12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2897</Words>
  <Application>Microsoft Office PowerPoint</Application>
  <PresentationFormat>Custom</PresentationFormat>
  <Paragraphs>546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Black</vt:lpstr>
      <vt:lpstr>Calibri</vt:lpstr>
      <vt:lpstr>Lucida Sans Unicode</vt:lpstr>
      <vt:lpstr>Times New Roman</vt:lpstr>
      <vt:lpstr>Office Theme</vt:lpstr>
      <vt:lpstr>Non-Dilutive Funding</vt:lpstr>
      <vt:lpstr>Why Now for Cell Automation</vt:lpstr>
      <vt:lpstr>Four Programs From One Platform</vt:lpstr>
      <vt:lpstr>The Filing Sequence</vt:lpstr>
      <vt:lpstr>NIH SBIR at NCATS: Clone Selection Standard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NSF SBIR/STTR: America’s Seed Fund</vt:lpstr>
      <vt:lpstr>ARMI BioFabUSA Member Project Call</vt:lpstr>
      <vt:lpstr>CDMRP Peer Reviewed Medical Research Program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Cell_X_Technologies_Funding_Executive_Summary</dc:title>
  <cp:lastModifiedBy>Abi Bhattacharyya</cp:lastModifiedBy>
  <cp:revision>5</cp:revision>
  <dcterms:created xsi:type="dcterms:W3CDTF">2026-09-12T23:08:43Z</dcterms:created>
  <dcterms:modified xsi:type="dcterms:W3CDTF">2026-09-28T17:53:45Z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v10.0.20070.1</vt:lpwstr>
  </property>
  <property fmtid="{D5CDD505-2E9C-101B-9397-08002B2CF9AE}" pid="3" name="Created">
    <vt:filetime>2026-09-12T00:00:00Z</vt:filetime>
  </property>
  <property fmtid="{D5CDD505-2E9C-101B-9397-08002B2CF9AE}" pid="4" name="Creator">
    <vt:lpwstr>Google</vt:lpwstr>
  </property>
  <property fmtid="{D5CDD505-2E9C-101B-9397-08002B2CF9AE}" pid="5" name="LastSaved">
    <vt:filetime>2026-09-12T00:00:00Z</vt:filetime>
  </property>
</Properties>
</file>