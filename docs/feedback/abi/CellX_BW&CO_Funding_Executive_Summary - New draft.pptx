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BW&amp;CO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04A"/>
                </a:solidFill>
                <a:latin typeface="Calibri"/>
              </a:rPr>
              <a:t>CONSULTING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28600"/>
            <a:ext cx="27432" cy="6217920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8229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CELL X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A4CF"/>
                </a:solidFill>
                <a:latin typeface="Calibri"/>
              </a:rPr>
              <a:t>Federal Funding 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148840"/>
            <a:ext cx="713232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317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BA"/>
                </a:solidFill>
                <a:latin typeface="Calibri"/>
              </a:rPr>
              <a:t>Assessment Date:  September 10,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974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BA"/>
                </a:solidFill>
                <a:latin typeface="Calibri"/>
              </a:rPr>
              <a:t>Planning Period:   September 10, 2026 – September 10,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63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BA"/>
                </a:solidFill>
                <a:latin typeface="Calibri"/>
              </a:rPr>
              <a:t>Prepared by:        BW&amp;CO Consulting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38251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EBA"/>
                </a:solidFill>
                <a:latin typeface="Calibri"/>
              </a:rPr>
              <a:t>PRIVILEGED AND CONFIDENTIAL — FOR INTERNAL STRATEGY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Five Reasons This Is the Right Moment for Cell 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877824"/>
            <a:ext cx="347472" cy="34747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85953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04A"/>
                </a:solidFill>
                <a:latin typeface="Calibri"/>
              </a:rPr>
              <a:t>NSF launches $40M instrumentation pilot —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15214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NSF restarted SBIR/STTR with $250M (May 26, 2026) and debuted NSF 26-511, the first-ever dedicated $40M pool for next-generation scientific instrumentation and AI-driven discovery platforms. Project Pitches opened June 2,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0AEBA"/>
                </a:solidFill>
                <a:latin typeface="Calibri"/>
              </a:rPr>
              <a:t>Supports Brief #4 | Source: NSF 26-511 solicitation; ExecutiveGov May 27,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700784"/>
            <a:ext cx="11887200" cy="18288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" y="1938528"/>
            <a:ext cx="347472" cy="34747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192024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01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04A"/>
                </a:solidFill>
                <a:latin typeface="Calibri"/>
              </a:rPr>
              <a:t>FDA finalizes CGT CMC flexibility guidance — 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128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FDA CBER finalized Level 2 guidance (May 5-8, 2026) codifying phase-appropriate cGMP and risk-based comparability for cell and gene therapy BLAs — lowering the barrier for customers to reach clinical manufacturing while keeping 21 CFR Part 11 electronic batch record requirements intact.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7860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0AEBA"/>
                </a:solidFill>
                <a:latin typeface="Calibri"/>
              </a:rPr>
              <a:t>Supports Briefs #1, #2, #3, #5 | Source: AABB / CBER May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2761488"/>
            <a:ext cx="11887200" cy="18288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" y="2999232"/>
            <a:ext cx="347472" cy="34747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29809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96265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04A"/>
                </a:solidFill>
                <a:latin typeface="Calibri"/>
              </a:rPr>
              <a:t>FDA and EMA align on Good AI Practice — January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27355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On January 14, 2026, FDA and EMA jointly published Guiding Principles of Good AI Practice in Drug Development — the first harmonized international framework validating AI use in medicines manufacturing and process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63931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0AEBA"/>
                </a:solidFill>
                <a:latin typeface="Calibri"/>
              </a:rPr>
              <a:t>Supports Briefs #1, #2, #4, #8 | Source: Jones Day / FDA-EMA January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3822192"/>
            <a:ext cx="11887200" cy="18288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" y="4059936"/>
            <a:ext cx="347472" cy="34747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" y="404164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04A"/>
                </a:solidFill>
                <a:latin typeface="Calibri"/>
              </a:rPr>
              <a:t>iPSC patent cliff begins 2026 — expanding the addressable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33425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Core iPSC patents begin expiring in the 2026-2038 window. Annual manufacturing licensing fees exceeding $600,000 have suppressed adoption; patent expiration structurally expands the pool of organizations able to afford GMP iPSC manufacturing — directly growing demand for Celligent™.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70001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0AEBA"/>
                </a:solidFill>
                <a:latin typeface="Calibri"/>
              </a:rPr>
              <a:t>Supports Briefs #1, #2, #3, #5, #6 | Source: ScienceDirect landscape analysis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4882896"/>
            <a:ext cx="11887200" cy="18288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4592" y="5120640"/>
            <a:ext cx="347472" cy="34747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5102351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840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04A"/>
                </a:solidFill>
                <a:latin typeface="Calibri"/>
              </a:rPr>
              <a:t>NCATS formally identifies scalable iPSC organoid manufacturing as SBIR priority — May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39495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At its May 2024 Advisory Council, NCATS presented a new SBIR concept citing 'labor-intensive production and lack of scalability and batch-to-batch reproducibility' as the central organoid manufacturing bottleneck — the exact problem Celligent™ solves.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760720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0AEBA"/>
                </a:solidFill>
                <a:latin typeface="Calibri"/>
              </a:rPr>
              <a:t>Supports Brief #7 | Source: NCATS Advisory Council Minutes May 23,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FUNDING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12-Month Application Plan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41248"/>
            <a:ext cx="2743200" cy="1417320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41248"/>
            <a:ext cx="2743200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96012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B04A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0020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Applications
Targeted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9339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AEBA"/>
                </a:solidFill>
                <a:latin typeface="Calibri"/>
              </a:rPr>
              <a:t>up to 9 if all conditionals resolve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841248"/>
            <a:ext cx="2743200" cy="1417320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841248"/>
            <a:ext cx="2743200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96012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B04A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60020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Unique
Programs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99339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AEBA"/>
                </a:solidFill>
                <a:latin typeface="Calibri"/>
              </a:rPr>
              <a:t>NIBIB, NCI CRP, NSF, NCI, NCATS, DARPA, NIIMBL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841248"/>
            <a:ext cx="2743200" cy="1417320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841248"/>
            <a:ext cx="2743200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96012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B04A"/>
                </a:solidFill>
                <a:latin typeface="Calibri"/>
              </a:rPr>
              <a:t>$8.7M+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160020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12-Month
Funding Targeted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99339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AEBA"/>
                </a:solidFill>
                <a:latin typeface="Calibri"/>
              </a:rPr>
              <a:t>confirmed + conditional; excl. NIIMBL + Army Biofab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841248"/>
            <a:ext cx="2743200" cy="1417320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841248"/>
            <a:ext cx="2743200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96012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B04A"/>
                </a:solidFill>
                <a:latin typeface="Calibri"/>
              </a:rPr>
              <a:t>$4.9M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160020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Phase II
Follow-On Potential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199339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AEBA"/>
                </a:solidFill>
                <a:latin typeface="Calibri"/>
              </a:rPr>
              <a:t>contingent on Phase I awards; 2028-2030 horizon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423160"/>
            <a:ext cx="11704320" cy="29260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68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04A"/>
                </a:solidFill>
                <a:latin typeface="Calibri"/>
              </a:rPr>
              <a:t>FUNDING BREAKDOWN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788920"/>
            <a:ext cx="11704320" cy="32918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2788920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843784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Confirmed eligible, unconditional (Briefs #1, #4 — NIBIB Phase I + NSF Phase 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4378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CAF7D"/>
                </a:solidFill>
                <a:latin typeface="Calibri"/>
              </a:rPr>
              <a:t>$610,000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154680"/>
            <a:ext cx="11704320" cy="329184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3154680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209544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Conditional Phase I (Briefs #2, #5, #6 — NIBIB-C, NCI Omnibus, NCATS)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20954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0A500"/>
                </a:solidFill>
                <a:latin typeface="Calibri"/>
              </a:rPr>
              <a:t>$915,000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520440"/>
            <a:ext cx="11704320" cy="32918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3520440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575304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NCI CRP (Brief #3) — conditional on cancer partner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5753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0A500"/>
                </a:solidFill>
                <a:latin typeface="Calibri"/>
              </a:rPr>
              <a:t>up to $4,191,495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886200"/>
            <a:ext cx="11704320" cy="329184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3886200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941063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DARPA BTO (Brief #7) — conditional on PM contact; planning estimate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94106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0A500"/>
                </a:solidFill>
                <a:latin typeface="Calibri"/>
              </a:rPr>
              <a:t>~$3,000,000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251960"/>
            <a:ext cx="11704320" cy="32918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4251960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306824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NIIMBL PC 10.1 (Brief #8) — conditional; amount unquantified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3068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0A500"/>
                </a:solidFill>
                <a:latin typeface="Calibri"/>
              </a:rPr>
              <a:t>unquantified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617720"/>
            <a:ext cx="11704320" cy="329184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8600" y="4617720"/>
            <a:ext cx="54864" cy="329184"/>
          </a:xfrm>
          <a:prstGeom prst="rect">
            <a:avLst/>
          </a:prstGeom>
          <a:solidFill>
            <a:srgbClr val="C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672583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Army Biofab USA (Brief #9) — status unconfirmed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467258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04F4F"/>
                </a:solidFill>
                <a:latin typeface="Calibri"/>
              </a:rPr>
              <a:t>unconfirmed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5029200"/>
            <a:ext cx="11704320" cy="502920"/>
          </a:xfrm>
          <a:prstGeom prst="rect">
            <a:avLst/>
          </a:prstGeom>
          <a:solidFill>
            <a:srgbClr val="0A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08406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BA"/>
                </a:solidFill>
                <a:latin typeface="Calibri"/>
              </a:rPr>
              <a:t>Phase II Follow-On Potential (contingent; beyond 12-month window): ~$4,900,000 across 5 Phase I enabling awards (NIBIB-B, NIBIB-C, NSF 26-511, NCI Omnibus, NCATS). Not automatic; requires successful Phase I completion. Timing: 2028-2030.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" y="559612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0AEBA"/>
                </a:solidFill>
                <a:latin typeface="Calibri"/>
              </a:rPr>
              <a:t>Funding targeted ≠ awarded funding or cash expected within 12 months. DARPA amount is a planning estimate with no published ceiling. Federal funding only; cost-share excluded from totals.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NIBIB SBIR — Bioengineering &amp; Robotics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NIBIB / NIH / HHS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Broadly applicable biomedical robotic systems that directly interface with and regulate biological processes. Explicitly includes medical devices and robotics. Core innovation must be broadly applicable without significant reengineering.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Develop and validate a closed-loop adaptive AI control architecture for Celligent™ that autonomously adjusts culture parameters in real time across diverse adherent cell types — without manual intervention or cell-type-specific reprogramming.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SBIR R43 (Phase I) → R44 (Phase II)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Phase I: 12 months | Phase II: 24 months   |   TRL 5-6 →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Draft Phase I application; confirm PI resume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0D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7D"/>
                </a:solidFill>
                <a:latin typeface="Calibri"/>
              </a:rPr>
              <a:t>90%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$305,000 Phase 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≤1 yr; Phase II ≤2 yrs (NIBIB limits)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Jan 5, 2027 (recommended); Sep 5, 2026 (possible)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award ~Oct 2027 – Jan 2028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$875,000 (est.)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https://www.bwcoconsulting.com/fod/nihsbir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NIBIB SBIR — Biological &amp; Materials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NIBIB / NIH / HHS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Broadly applicable biomanufacturing tools, cellular technologies, and screening/high-throughput systems. Core innovation must apply without significant reengineering across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Develop and validate an automated upstream process development tool combining nanoliter liquid handling, AI-guided DOE, and image-based CQA identification to characterize any adherent cell manufacturing workflow without manual programming expertise.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SBIR R43 (Phase I) → R44 (Phase II)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Phase I: 12 months | Phase II: 24 months   |   TRL 3-4 → 7-8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4992"/>
            <a:ext cx="7132320" cy="329184"/>
          </a:xfrm>
          <a:prstGeom prst="rect">
            <a:avLst/>
          </a:prstGeom>
          <a:solidFill>
            <a:srgbClr val="3A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64992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A500"/>
                </a:solidFill>
                <a:latin typeface="Calibri"/>
              </a:rPr>
              <a:t>CONDITIONAL: Scope differentiation from active Fast-Track SBIR 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Confirm scope differentiation from active Fast-Track SBIR with NIH PO before submission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0D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7D"/>
                </a:solidFill>
                <a:latin typeface="Calibri"/>
              </a:rPr>
              <a:t>88%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$305,000 Phase 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≤1 yr; Phase II ≤2 yrs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Jan 5, 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award ~Oct 2027 – Jan 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$875,000 (est.)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https://www.bwcoconsulting.com/fod/nihsbir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NCI Commercialization Readiness Pilot (CRP)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NCI / NIH / HHS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Later-stage R&amp;D and commercialization activities for NIH-funded Phase II SBIR/STTR technologies, including first-in-human testing, regulatory pathway work, and manufacturing validation. Cancer-relevant technologies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Partner with a clinical-stage cancer cell therapy developer to complete GMP manufacturing validation of Celligent™ for a specific oncology cell therapy modality (e.g., iPSC-derived NK cells), execute FDA pre-submission meetings, and develop the commercial scale-up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SBIR SB1 (single award, 2-3 years)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2-3 years   |   TRL 7-8 → Commercial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4992"/>
            <a:ext cx="7132320" cy="329184"/>
          </a:xfrm>
          <a:prstGeom prst="rect">
            <a:avLst/>
          </a:prstGeom>
          <a:solidFill>
            <a:srgbClr val="3A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64992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A500"/>
                </a:solidFill>
                <a:latin typeface="Calibri"/>
              </a:rPr>
              <a:t>CONDITIONAL: Named cancer cell therapy partner; confirm R42GM133291 not previously CRP-awarded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URGENT: Identify cancer cell therapy partner this week; call NCI Dr. Jonathan Franca-Koh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2A1E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72%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Up to $4,191,495 total costs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$4,191,495 total; $500K non-R&amp;D 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Sep 8, 2026 (HARD — 5:00 PM local time)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~Apr – Jun 2027 (if submitted Sep 8)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N/A (single award)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https://sbir.cancer.gov/small-business-funding/grants/commercialization-readiness-pilot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NSF 26-511 Pilot — Scientific Instrumentation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NSF / TIP Directorate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Startups developing enabling next-gen instruments, novel experimental platforms, and scientific equipment for the AI-driven discovery era. Funds across enabling technology areas; does not solicit specific technologies for procurement.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Develop a closed-loop autonomous cell biology workstation that integrates AI-driven hypothesis generation, experimental execution, and real-time data interpretation into a single instrument — enabling self-directing optimization of cell culture conditions and detection of rare biological events.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SBIR Phase I → Phase II (or Fast-Track)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Phase I: 6 months | Phase II: up to 24 months   |   TRL 5-6 →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4992"/>
            <a:ext cx="7132320" cy="329184"/>
          </a:xfrm>
          <a:prstGeom prst="rect">
            <a:avLst/>
          </a:prstGeom>
          <a:solidFill>
            <a:srgbClr val="3A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64992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A500"/>
                </a:solidFill>
                <a:latin typeface="Calibri"/>
              </a:rPr>
              <a:t>Confirm PI primary employment ≥20 hrs/wk; ≥50% U.S. citizen/PR equity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Submit Project Pitch to Research.gov this week — mandatory gate before full proposal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0D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7D"/>
                </a:solidFill>
                <a:latin typeface="Calibri"/>
              </a:rPr>
              <a:t>87%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$305,000 Phase 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~$305K; Phase II ~$1.25M; max $2M/company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Project Pitch: IMMEDIATE | Full proposal: Nov 4,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award ~May – Aug 2027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~$1,250,000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https://www.nsf.gov/funding/opportunities/small-business-innovation-research-small-business-technology-0/nsf26-511/solicitation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NCI SBIR Omnibus — Cancer Cell Therapy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NCI / NIH / HHS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Innovative technologies to reduce or eliminate cancer burden, including cell-based therapies, cancer research tools, and enabling manufacturing platforms with clear commercial focus and unmet need.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Adapt and validate Celligent™ image analysis and passaging protocols for GMP-compatible manufacturing of a specific cancer cell therapy modality (iPSC-derived NK cells or T cell expansion), generating head-to-head comparability data versus manual culture.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SBIR R43/R44 or Fast-Track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Phase I: 12-24 months | Phase II: 24-36 months   |   TRL 3-4 → 7-8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4992"/>
            <a:ext cx="7132320" cy="329184"/>
          </a:xfrm>
          <a:prstGeom prst="rect">
            <a:avLst/>
          </a:prstGeom>
          <a:solidFill>
            <a:srgbClr val="3A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64992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A500"/>
                </a:solidFill>
                <a:latin typeface="Calibri"/>
              </a:rPr>
              <a:t>CONDITIONAL: Named cancer cell therapy partner or collaborator; confirm scope distinct from Brief #3 CRP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Identify cancer cell therapy collaborator; contact NCI SBIR PO to confirm ICO assignment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0D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7D"/>
                </a:solidFill>
                <a:latin typeface="Calibri"/>
              </a:rPr>
              <a:t>78%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$305,000 Phase I (Fast-Track option recommended)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1-2 yrs; Phase II 2-3 yrs; CRP up to $4.19M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Jan 5, 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award ~Oct 2027 – Jan 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~$1,000,000 (est.)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https://sbir.cancer.gov/small-business-funding/grants/omnibus-solicitation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NCATS SBIR — Preclinical Drug Discovery / Organoid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NCATS / NIH / HHS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Tools and technologies accelerating translational science, including stem cell platform automation, scalable organoid production, phenotypic drug screening, and technologies increasing the predictivity of drug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Adapt Celligent™ hardware and CxSuite imaging algorithms for automated 3D organoid production (liver or brain), delivering reproducible batches for preclinical drug screening and demonstrating superior batch-to-batch consistency versus manual culture.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SBIR R43 (Phase I) → R44 (Phase II)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Phase I: 12 months | Phase II: 24 months   |   TRL 4-5 → 7-8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4992"/>
            <a:ext cx="7132320" cy="329184"/>
          </a:xfrm>
          <a:prstGeom prst="rect">
            <a:avLst/>
          </a:prstGeom>
          <a:solidFill>
            <a:srgbClr val="3A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64992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A500"/>
                </a:solidFill>
                <a:latin typeface="Calibri"/>
              </a:rPr>
              <a:t>CONDITIONAL: Named organoid disease biology collaborator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Identify organoid disease biology collaborator; contact NCATS SBIR 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0D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7D"/>
                </a:solidFill>
                <a:latin typeface="Calibri"/>
              </a:rPr>
              <a:t>80%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$305,000 Phase 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Standard NIH SBIR caps; NCATS does not accept budget cap waiver requests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Jan 5, 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Phase I award ~Oct 2027 – Jan 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~$900,000 (est.)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https://ncats.nih.gov/funding/small-business-programs/priorities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DARPA BTO BAA — Cellular Therapeutic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DARPA / DoD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High-risk, high-reward R&amp;D in automated biomanufacturing, cellular therapeutics, and biodefense countermeasures. Proposals must describe DARPA-hard technical challenge not addressable by existing programs.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Develop a rapidly deployable autonomous cell therapy manufacturing module capable of producing clinical-grade cellular therapeutics at point-of-need without specialized biomanufacturing staff, incorporating adaptive AI control for variable input cell quality and ruggedized hardware for non-laboratory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BAA contract or OTA (milestone-gated)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18-36 months (typical BTO program)   |   TRL 5-6 →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4992"/>
            <a:ext cx="7132320" cy="329184"/>
          </a:xfrm>
          <a:prstGeom prst="rect">
            <a:avLst/>
          </a:prstGeom>
          <a:solidFill>
            <a:srgbClr val="3A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64992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A500"/>
                </a:solidFill>
                <a:latin typeface="Calibri"/>
              </a:rPr>
              <a:t>CONDITIONAL: DARPA PM receptivity confirmed; ITAR/facility security status 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URGENT: Contact DARPA BTO PM within 48 hours; confirm ITAR/facility security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2A1E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68%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~$2M – $5M (planning estimate; no published ceiling)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Not specified — negotiated by scope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White paper: submit by Sep 17 | Full BAA close: Sep 30,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Contract execution ~Mar – Sep 2027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N/A (milestone-gated contract)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https://sam.gov/opp/8d403582edfd409795560247e8d229b7/view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NIIMBL Project Call 10.1 — Intelligent Biomanufacturing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NIIMBL / Manufacturing USA / NIST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Collaborative projects addressing U.S. biopharmaceutical manufacturing competitiveness including intelligent biomanufacturing through AI and digitalization, advanced process analytics, and platform technologies for emerging biotherapeutics.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 collaboration with a NIIMBL Tier 1 industry partner (large biopharma or CDMO), develop and validate an AI-driven real-time process control system for adherent cell therapy manufacturing, demonstrating reduction in out-of-specification events and improved batch success 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Consortium award (18-24 months)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18-24 months   |   TRL 5-6 → 7-8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4992"/>
            <a:ext cx="7132320" cy="329184"/>
          </a:xfrm>
          <a:prstGeom prst="rect">
            <a:avLst/>
          </a:prstGeom>
          <a:solidFill>
            <a:srgbClr val="3A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64992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A500"/>
                </a:solidFill>
                <a:latin typeface="Calibri"/>
              </a:rPr>
              <a:t>CONDITIONAL: Concept submission confirmed; NIIMBL membership or Tier 1 sponsor 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URGENT: Verify if Cell X or partner submitted a concept by Sep 9; confirm NIIMBL membership or Tier 1 sponsor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2A1E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72%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~$500K – $2M (planning estimate; no per-project ceiling published)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$8M combined pool; individual awards unspecified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Concept: CLOSED Sep 9 | Full proposal: Jan 7, 2027 (if invited)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Award announced Feb 9, 2027; project start Mar – Apr 2027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N/A (single consortium award)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https://www.niimbl.org/projects-programs/project-call-10-1/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OPPORTUNITY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Army Biofab USA (Active Pursuit)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402336"/>
            <a:ext cx="283464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A4CF"/>
                </a:solidFill>
                <a:latin typeface="Calibri"/>
              </a:rPr>
              <a:t>DoD / U.S. Army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WHAT IT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Army-affiliated biofabrication program supporting scalable, reproducible biological manufacturing capabilities. Cell X is actively pursuing this submission per the capability profile.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Automated GMP-compatible cell manufacturing platform enabling scalable, reproducible production of cell-based therapies relevant to Army biofabrication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788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Grant or contract (unconfirmed)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DURATION &amp; 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90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Unknown   |   TBD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4992"/>
            <a:ext cx="7132320" cy="329184"/>
          </a:xfrm>
          <a:prstGeom prst="rect">
            <a:avLst/>
          </a:prstGeom>
          <a:solidFill>
            <a:srgbClr val="3A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64992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A500"/>
                </a:solidFill>
                <a:latin typeface="Calibri"/>
              </a:rPr>
              <a:t>Status unconfirmed — verify with client immediately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85615"/>
            <a:ext cx="7132320" cy="329184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85615"/>
            <a:ext cx="54864" cy="32918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8404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CAF7D"/>
                </a:solidFill>
                <a:latin typeface="Calibri"/>
              </a:rPr>
              <a:t>NEXT ACTION:  URGENT: Confirm submission status, award amount, and mechanism with client immediately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4434840" cy="566928"/>
          </a:xfrm>
          <a:prstGeom prst="rect">
            <a:avLst/>
          </a:prstGeom>
          <a:solidFill>
            <a:srgbClr val="2A1E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914400"/>
            <a:ext cx="443484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B04A"/>
                </a:solidFill>
                <a:latin typeface="Calibri"/>
              </a:rPr>
              <a:t>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170432"/>
            <a:ext cx="4251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TBD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72768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572768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27632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RECOMMENDED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1792224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Amount unconfirmed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139696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139696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2194560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AWARD CEILING /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59152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Unknown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706624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706624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2761488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DEADLINE / NEXT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926080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B04A"/>
                </a:solidFill>
                <a:latin typeface="Calibri"/>
              </a:rPr>
              <a:t>~Sep 9, 2026 (per capability profile — confirm immediately)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273552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273552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32841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ESTIMATED AWARD / FIRST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493008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Unknown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840480"/>
            <a:ext cx="4434840" cy="475488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40480"/>
            <a:ext cx="4434840" cy="36576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895344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PHASE II FOLLOW-ON POTENTIAL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059936"/>
            <a:ext cx="4251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A4CF"/>
                </a:solidFill>
                <a:latin typeface="Calibri"/>
              </a:rPr>
              <a:t>Unknown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407408"/>
            <a:ext cx="443484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4425696"/>
            <a:ext cx="42519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04A"/>
                </a:solidFill>
                <a:latin typeface="Calibri"/>
              </a:rPr>
              <a:t>OFFICIAL PROGRAM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590288"/>
            <a:ext cx="425195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A4CF"/>
                </a:solidFill>
                <a:latin typeface="Calibri"/>
              </a:rPr>
              <a:t>Confirm with client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92040"/>
            <a:ext cx="12188952" cy="36576"/>
          </a:xfrm>
          <a:prstGeom prst="rect">
            <a:avLst/>
          </a:prstGeom>
          <a:solidFill>
            <a:srgbClr val="2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APPLICATION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12-Month Application Schedule and R&amp;D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22960"/>
            <a:ext cx="11704320" cy="411480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841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B04A"/>
                </a:solidFill>
                <a:latin typeface="Calibri"/>
              </a:rPr>
              <a:t>SEP
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841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B04A"/>
                </a:solidFill>
                <a:latin typeface="Calibri"/>
              </a:rPr>
              <a:t>OCT
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841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B04A"/>
                </a:solidFill>
                <a:latin typeface="Calibri"/>
              </a:rPr>
              <a:t>NOV
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841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B04A"/>
                </a:solidFill>
                <a:latin typeface="Calibri"/>
              </a:rPr>
              <a:t>DEC
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841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B04A"/>
                </a:solidFill>
                <a:latin typeface="Calibri"/>
              </a:rPr>
              <a:t>JAN
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841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B04A"/>
                </a:solidFill>
                <a:latin typeface="Calibri"/>
              </a:rPr>
              <a:t>FEB
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841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B04A"/>
                </a:solidFill>
                <a:latin typeface="Calibri"/>
              </a:rPr>
              <a:t>MAR
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841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B04A"/>
                </a:solidFill>
                <a:latin typeface="Calibri"/>
              </a:rPr>
              <a:t>APR-SEP
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298448"/>
            <a:ext cx="11704320" cy="457200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1371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#3 NCI CRP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" y="15727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A0AEBA"/>
                </a:solidFill>
                <a:latin typeface="Calibri"/>
              </a:rPr>
              <a:t>CONDITIONAL: Cancer partner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1389888"/>
            <a:ext cx="777240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1417319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Sep 8 submit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792224"/>
            <a:ext cx="117043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" y="18653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#7 DARPA BTO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" y="2066543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A0AEBA"/>
                </a:solidFill>
                <a:latin typeface="Calibri"/>
              </a:rPr>
              <a:t>CONDITIONAL: PM contact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1883664"/>
            <a:ext cx="493776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1911095"/>
            <a:ext cx="402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WP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1883664"/>
            <a:ext cx="777240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1488" y="1911095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Full prop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286000"/>
            <a:ext cx="11704320" cy="457200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2359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#9 Army Biofab USA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" y="2560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A0AEBA"/>
                </a:solidFill>
                <a:latin typeface="Calibri"/>
              </a:rPr>
              <a:t>Status unconfirmed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2377440"/>
            <a:ext cx="564642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2404872"/>
            <a:ext cx="47320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~Sep 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779776"/>
            <a:ext cx="117043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#4 NSF 26-511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" y="30540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A0AEBA"/>
                </a:solidFill>
                <a:latin typeface="Calibri"/>
              </a:rPr>
              <a:t>Pitch immediately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2871216"/>
            <a:ext cx="564642" cy="292608"/>
          </a:xfrm>
          <a:prstGeom prst="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2898648"/>
            <a:ext cx="47320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Pitch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2871216"/>
            <a:ext cx="1344168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2898648"/>
            <a:ext cx="1252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Full prop Nov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273552"/>
            <a:ext cx="11704320" cy="457200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" y="33467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#8 NIIMBL PC 10.1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" y="35478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A0AEBA"/>
                </a:solidFill>
                <a:latin typeface="Calibri"/>
              </a:rPr>
              <a:t>CONDITIONAL: Concept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3364992"/>
            <a:ext cx="777240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339242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Full prop Jan 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767328"/>
            <a:ext cx="117043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2" y="38404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#1 NIBIB-B + #2 NIBIB-C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4041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A0AEBA"/>
                </a:solidFill>
                <a:latin typeface="Calibri"/>
              </a:rPr>
              <a:t>Jan 5, 2027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09460" y="3858768"/>
            <a:ext cx="1344168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55180" y="3886200"/>
            <a:ext cx="1252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Jan 5 — 2 NIH apps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261104"/>
            <a:ext cx="11704320" cy="457200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" y="43342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#5 NCI Omnibus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" y="45354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A0AEBA"/>
                </a:solidFill>
                <a:latin typeface="Calibri"/>
              </a:rPr>
              <a:t>CONDITIONAL: Cancer partner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9460" y="4352544"/>
            <a:ext cx="1344168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55180" y="4379976"/>
            <a:ext cx="1252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Jan 5 — Fast-Track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754880"/>
            <a:ext cx="117043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1752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#6 NCATS Organoids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A0AEBA"/>
                </a:solidFill>
                <a:latin typeface="Calibri"/>
              </a:rPr>
              <a:t>CONDITIONAL: Collab.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09460" y="4846320"/>
            <a:ext cx="1344168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55180" y="4873752"/>
            <a:ext cx="1252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Jan 5 — Phase 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5248656"/>
            <a:ext cx="11704320" cy="457200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5321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Awards / Notifications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26780" y="5340096"/>
            <a:ext cx="4887468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72500" y="5367528"/>
            <a:ext cx="47960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NIIMBL Feb 9 | NSF/NIH ~Q3 2027 | DARPA ~Q2 2027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5870448"/>
            <a:ext cx="11704320" cy="475488"/>
          </a:xfrm>
          <a:prstGeom prst="rect">
            <a:avLst/>
          </a:prstGeom>
          <a:solidFill>
            <a:srgbClr val="0A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9253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EBA"/>
                </a:solidFill>
                <a:latin typeface="Calibri"/>
              </a:rPr>
              <a:t>KEY DEPENDENCIES:  NCI CRP + NCI Omnibus both require cancer partner (secure first) │  NIBIB-C conditional on Fast-Track scope differentiation │  DARPA BTO conditional on PM contact this week │  NIIMBL conditional on concept submission status + membership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Essential Client Inputs and Immediate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41248"/>
            <a:ext cx="379476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41248"/>
            <a:ext cx="3794760" cy="5486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9052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B04A"/>
                </a:solidFill>
                <a:latin typeface="Calibri"/>
              </a:rPr>
              <a:t>THIS WEEK — URGENT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98448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98448"/>
            <a:ext cx="45720" cy="69494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98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Identify cancer cell therapy partner for NCI CRP (Brief #3) — Sep 8 hard deadline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066543"/>
            <a:ext cx="3794760" cy="6949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066543"/>
            <a:ext cx="45720" cy="69494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579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Contact DARPA BTO program manager re: white paper receptivity — Sep 30 BAA closes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834639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834639"/>
            <a:ext cx="45720" cy="69494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260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Submit NSF 26-511 Project Pitch via Research.gov — gates Nov 4 full proposal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02736"/>
            <a:ext cx="3794760" cy="6949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602736"/>
            <a:ext cx="45720" cy="69494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94176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Confirm Army Biofab USA submission status, mechanism, and amount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370831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370831"/>
            <a:ext cx="45720" cy="694944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462271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Verify NIIMBL concept submission status and NIIMBL membership or Tier 1 sponsor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841248"/>
            <a:ext cx="379476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841248"/>
            <a:ext cx="3794760" cy="54864"/>
          </a:xfrm>
          <a:prstGeom prst="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9052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BA4CF"/>
                </a:solidFill>
                <a:latin typeface="Calibri"/>
              </a:rPr>
              <a:t>BEFORE JAN 5, 2027 NIH SUBMISSIONS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298448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1298448"/>
            <a:ext cx="45720" cy="694944"/>
          </a:xfrm>
          <a:prstGeom prst="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13898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Provide PI resume for all NIH applications (primary employment ≥20 hrs/wk required)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2066543"/>
            <a:ext cx="3794760" cy="6949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2066543"/>
            <a:ext cx="45720" cy="694944"/>
          </a:xfrm>
          <a:prstGeom prst="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21579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Confirm Fast-Track SBIR scope differentiation from Brief #2 with NIBIB 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834639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2834639"/>
            <a:ext cx="45720" cy="694944"/>
          </a:xfrm>
          <a:prstGeom prst="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29260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Confirm CRP (Brief #3) and NCI Omnibus (Brief #6) are scope-distinct with NCI PO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3602736"/>
            <a:ext cx="3794760" cy="6949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60" y="3602736"/>
            <a:ext cx="45720" cy="694944"/>
          </a:xfrm>
          <a:prstGeom prst="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3694176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Identify organoid disease biology collaborator for NCATS application (Brief #7)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4370831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4370831"/>
            <a:ext cx="45720" cy="694944"/>
          </a:xfrm>
          <a:prstGeom prst="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462271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Confirm NSF PI eligibility: ≥20 hrs/wk employment; ≥50% U.S. citizen/PR equity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841248"/>
            <a:ext cx="3794760" cy="347472"/>
          </a:xfrm>
          <a:prstGeom prst="rect">
            <a:avLst/>
          </a:prstGeom>
          <a:solidFill>
            <a:srgbClr val="1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841248"/>
            <a:ext cx="3794760" cy="54864"/>
          </a:xfrm>
          <a:prstGeom prst="rect">
            <a:avLst/>
          </a:prstGeom>
          <a:solidFill>
            <a:srgbClr val="A0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5048" y="9052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EBA"/>
                </a:solidFill>
                <a:latin typeface="Calibri"/>
              </a:rPr>
              <a:t>STRATEGIC INPUTS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1298448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20" y="1298448"/>
            <a:ext cx="45720" cy="694944"/>
          </a:xfrm>
          <a:prstGeom prst="rect">
            <a:avLst/>
          </a:prstGeom>
          <a:solidFill>
            <a:srgbClr val="A0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13898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PI resume and leadership team biographies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20" y="2066543"/>
            <a:ext cx="3794760" cy="6949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75320" y="2066543"/>
            <a:ext cx="45720" cy="694944"/>
          </a:xfrm>
          <a:prstGeom prst="rect">
            <a:avLst/>
          </a:prstGeom>
          <a:solidFill>
            <a:srgbClr val="A0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21579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Investor or strategic partner relationships (relevant to NCI CRP matching requirement)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20" y="2834639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5320" y="2834639"/>
            <a:ext cx="45720" cy="694944"/>
          </a:xfrm>
          <a:prstGeom prst="rect">
            <a:avLst/>
          </a:prstGeom>
          <a:solidFill>
            <a:srgbClr val="A0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9260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Any non-model organism cell line data (would change DARPA UC-RAPID eligibility)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3602736"/>
            <a:ext cx="3794760" cy="6949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75320" y="3602736"/>
            <a:ext cx="45720" cy="694944"/>
          </a:xfrm>
          <a:prstGeom prst="rect">
            <a:avLst/>
          </a:prstGeom>
          <a:solidFill>
            <a:srgbClr val="A0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3694176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ITAR registration status and facility security clearance level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4370831"/>
            <a:ext cx="3794760" cy="694944"/>
          </a:xfrm>
          <a:prstGeom prst="rect">
            <a:avLst/>
          </a:prstGeom>
          <a:solidFill>
            <a:srgbClr val="11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75320" y="4370831"/>
            <a:ext cx="45720" cy="694944"/>
          </a:xfrm>
          <a:prstGeom prst="rect">
            <a:avLst/>
          </a:prstGeom>
          <a:solidFill>
            <a:srgbClr val="A0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4462271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NIIMBL membership status; existing Tier 1 industry partner relationships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5257800"/>
            <a:ext cx="11704320" cy="594360"/>
          </a:xfrm>
          <a:prstGeom prst="rect">
            <a:avLst/>
          </a:prstGeom>
          <a:solidFill>
            <a:srgbClr val="0A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303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04A"/>
                </a:solidFill>
                <a:latin typeface="Calibri"/>
              </a:rPr>
              <a:t>WATCHLIST (monitor, do not action now):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50468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EBA"/>
                </a:solidFill>
                <a:latin typeface="Calibri"/>
              </a:rPr>
              <a:t>NIH Highlighted Topic: Auditory/Vestibular Organoids (Hold — bioprinting partner needed; Dec 2, 2026 expiry)  │  NCI Phase IIB Bridge FOR-CA-25-086 (Hold — FOA not published; monitor NIH Guide for RFA-CA-26-XXX)  │  DARPA UC-RAPID DP2 (Excluded — Component 1 cross-species feasibility not demonstrated; revisit if data exists)  │  BARDA AOI 5.7 / AOI 10 (2028 horizon)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